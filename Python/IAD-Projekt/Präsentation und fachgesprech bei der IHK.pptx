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4" r:id="rId1"/>
  </p:sldMasterIdLst>
  <p:notesMasterIdLst>
    <p:notesMasterId r:id="rId24"/>
  </p:notesMasterIdLst>
  <p:sldIdLst>
    <p:sldId id="296" r:id="rId2"/>
    <p:sldId id="274" r:id="rId3"/>
    <p:sldId id="314" r:id="rId4"/>
    <p:sldId id="297" r:id="rId5"/>
    <p:sldId id="280" r:id="rId6"/>
    <p:sldId id="299" r:id="rId7"/>
    <p:sldId id="302" r:id="rId8"/>
    <p:sldId id="300" r:id="rId9"/>
    <p:sldId id="266" r:id="rId10"/>
    <p:sldId id="306" r:id="rId11"/>
    <p:sldId id="305" r:id="rId12"/>
    <p:sldId id="256" r:id="rId13"/>
    <p:sldId id="258" r:id="rId14"/>
    <p:sldId id="310" r:id="rId15"/>
    <p:sldId id="311" r:id="rId16"/>
    <p:sldId id="268" r:id="rId17"/>
    <p:sldId id="303" r:id="rId18"/>
    <p:sldId id="270" r:id="rId19"/>
    <p:sldId id="284" r:id="rId20"/>
    <p:sldId id="309" r:id="rId21"/>
    <p:sldId id="312" r:id="rId22"/>
    <p:sldId id="313" r:id="rId23"/>
  </p:sldIdLst>
  <p:sldSz cx="12192000" cy="6858000"/>
  <p:notesSz cx="6797675" cy="98599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252D9A6A-31DA-4999-AA7A-AA11B6BE0568}">
          <p14:sldIdLst>
            <p14:sldId id="296"/>
            <p14:sldId id="274"/>
            <p14:sldId id="314"/>
            <p14:sldId id="297"/>
            <p14:sldId id="280"/>
            <p14:sldId id="299"/>
            <p14:sldId id="302"/>
            <p14:sldId id="300"/>
            <p14:sldId id="266"/>
            <p14:sldId id="306"/>
            <p14:sldId id="305"/>
            <p14:sldId id="256"/>
            <p14:sldId id="258"/>
            <p14:sldId id="310"/>
            <p14:sldId id="311"/>
          </p14:sldIdLst>
        </p14:section>
        <p14:section name="Abschnitt ohne Titel" id="{131A6921-D661-4EB9-84B6-3B1B9C7A1858}">
          <p14:sldIdLst>
            <p14:sldId id="268"/>
            <p14:sldId id="303"/>
            <p14:sldId id="270"/>
            <p14:sldId id="284"/>
            <p14:sldId id="309"/>
            <p14:sldId id="312"/>
            <p14:sldId id="3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8320" autoAdjust="0"/>
  </p:normalViewPr>
  <p:slideViewPr>
    <p:cSldViewPr snapToGrid="0">
      <p:cViewPr varScale="1">
        <p:scale>
          <a:sx n="89" d="100"/>
          <a:sy n="89" d="100"/>
        </p:scale>
        <p:origin x="330" y="8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2834236753014567"/>
          <c:y val="1.7511854974263087E-2"/>
        </c:manualLayout>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tx>
            <c:strRef>
              <c:f>Tabelle1!$B$1</c:f>
              <c:strCache>
                <c:ptCount val="1"/>
                <c:pt idx="0">
                  <c:v>Ablaufzeitplan</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A93B-425F-B3E6-1F45CB0862CF}"/>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A93B-425F-B3E6-1F45CB0862CF}"/>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A93B-425F-B3E6-1F45CB0862CF}"/>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A93B-425F-B3E6-1F45CB0862CF}"/>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A93B-425F-B3E6-1F45CB0862CF}"/>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Tabelle1!$A$2:$A$6</c:f>
              <c:strCache>
                <c:ptCount val="5"/>
                <c:pt idx="0">
                  <c:v>1. Analysephase</c:v>
                </c:pt>
                <c:pt idx="1">
                  <c:v>2. Planungsphase</c:v>
                </c:pt>
                <c:pt idx="2">
                  <c:v>3. implementierungsphase</c:v>
                </c:pt>
                <c:pt idx="3">
                  <c:v>4. Testphase</c:v>
                </c:pt>
                <c:pt idx="4">
                  <c:v>5.Dokumentation</c:v>
                </c:pt>
              </c:strCache>
            </c:strRef>
          </c:cat>
          <c:val>
            <c:numRef>
              <c:f>Tabelle1!$B$2:$B$6</c:f>
              <c:numCache>
                <c:formatCode>General</c:formatCode>
                <c:ptCount val="5"/>
                <c:pt idx="0">
                  <c:v>8</c:v>
                </c:pt>
                <c:pt idx="1">
                  <c:v>10</c:v>
                </c:pt>
                <c:pt idx="2">
                  <c:v>32</c:v>
                </c:pt>
                <c:pt idx="3">
                  <c:v>12</c:v>
                </c:pt>
                <c:pt idx="4">
                  <c:v>18</c:v>
                </c:pt>
              </c:numCache>
            </c:numRef>
          </c:val>
          <c:extLst>
            <c:ext xmlns:c16="http://schemas.microsoft.com/office/drawing/2014/chart" uri="{C3380CC4-5D6E-409C-BE32-E72D297353CC}">
              <c16:uniqueId val="{00000000-F397-4F85-9C94-902BBECE74B4}"/>
            </c:ext>
          </c:extLst>
        </c:ser>
        <c:ser>
          <c:idx val="1"/>
          <c:order val="1"/>
          <c:tx>
            <c:strRef>
              <c:f>Tabelle1!$C$1</c:f>
              <c:strCache>
                <c:ptCount val="1"/>
                <c:pt idx="0">
                  <c:v>Spalte1</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B-A93B-425F-B3E6-1F45CB0862CF}"/>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D-A93B-425F-B3E6-1F45CB0862CF}"/>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F-A93B-425F-B3E6-1F45CB0862CF}"/>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1-A93B-425F-B3E6-1F45CB0862CF}"/>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13-A93B-425F-B3E6-1F45CB0862CF}"/>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Tabelle1!$A$2:$A$6</c:f>
              <c:strCache>
                <c:ptCount val="5"/>
                <c:pt idx="0">
                  <c:v>1. Analysephase</c:v>
                </c:pt>
                <c:pt idx="1">
                  <c:v>2. Planungsphase</c:v>
                </c:pt>
                <c:pt idx="2">
                  <c:v>3. implementierungsphase</c:v>
                </c:pt>
                <c:pt idx="3">
                  <c:v>4. Testphase</c:v>
                </c:pt>
                <c:pt idx="4">
                  <c:v>5.Dokumentation</c:v>
                </c:pt>
              </c:strCache>
            </c:strRef>
          </c:cat>
          <c:val>
            <c:numRef>
              <c:f>Tabelle1!$C$2:$C$6</c:f>
              <c:numCache>
                <c:formatCode>General</c:formatCode>
                <c:ptCount val="5"/>
              </c:numCache>
            </c:numRef>
          </c:val>
          <c:extLst>
            <c:ext xmlns:c16="http://schemas.microsoft.com/office/drawing/2014/chart" uri="{C3380CC4-5D6E-409C-BE32-E72D297353CC}">
              <c16:uniqueId val="{00000002-F397-4F85-9C94-902BBECE74B4}"/>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80341844497698678"/>
          <c:y val="0.40300661543644739"/>
          <c:w val="0.18933517821141924"/>
          <c:h val="0.29863458090362088"/>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drawings/drawing1.xml><?xml version="1.0" encoding="utf-8"?>
<c:userShapes xmlns:c="http://schemas.openxmlformats.org/drawingml/2006/chart">
  <cdr:relSizeAnchor xmlns:cdr="http://schemas.openxmlformats.org/drawingml/2006/chartDrawing">
    <cdr:from>
      <cdr:x>0.18359</cdr:x>
      <cdr:y>0.6623</cdr:y>
    </cdr:from>
    <cdr:to>
      <cdr:x>0.24499</cdr:x>
      <cdr:y>0.74718</cdr:y>
    </cdr:to>
    <cdr:sp macro="" textlink="">
      <cdr:nvSpPr>
        <cdr:cNvPr id="2" name="Textfeld 3">
          <a:extLst xmlns:a="http://schemas.openxmlformats.org/drawingml/2006/main">
            <a:ext uri="{FF2B5EF4-FFF2-40B4-BE49-F238E27FC236}">
              <a16:creationId xmlns:a16="http://schemas.microsoft.com/office/drawing/2014/main" id="{8537E5B8-A93E-4382-A401-A7B9DF30E43E}"/>
            </a:ext>
          </a:extLst>
        </cdr:cNvPr>
        <cdr:cNvSpPr txBox="1"/>
      </cdr:nvSpPr>
      <cdr:spPr>
        <a:xfrm xmlns:a="http://schemas.openxmlformats.org/drawingml/2006/main">
          <a:off x="1930558" y="2881886"/>
          <a:ext cx="645690" cy="369332"/>
        </a:xfrm>
        <a:prstGeom xmlns:a="http://schemas.openxmlformats.org/drawingml/2006/main" prst="rect">
          <a:avLst/>
        </a:prstGeom>
        <a:noFill xmlns:a="http://schemas.openxmlformats.org/drawingml/2006/main"/>
      </cdr:spPr>
      <cdr:txBody>
        <a:bodyPr xmlns:a="http://schemas.openxmlformats.org/drawingml/2006/main" wrap="none" rtlCol="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r>
            <a:rPr lang="de-DE"/>
            <a:t>Tests</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6400" cy="493713"/>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49688" y="0"/>
            <a:ext cx="2946400" cy="493713"/>
          </a:xfrm>
          <a:prstGeom prst="rect">
            <a:avLst/>
          </a:prstGeom>
        </p:spPr>
        <p:txBody>
          <a:bodyPr vert="horz" lIns="91440" tIns="45720" rIns="91440" bIns="45720" rtlCol="0"/>
          <a:lstStyle>
            <a:lvl1pPr algn="r">
              <a:defRPr sz="1200"/>
            </a:lvl1pPr>
          </a:lstStyle>
          <a:p>
            <a:fld id="{A0AD1053-E718-4B3E-A38C-0C45A98395D9}" type="datetimeFigureOut">
              <a:rPr lang="de-DE" smtClean="0"/>
              <a:t>27.06.2024</a:t>
            </a:fld>
            <a:endParaRPr lang="de-DE"/>
          </a:p>
        </p:txBody>
      </p:sp>
      <p:sp>
        <p:nvSpPr>
          <p:cNvPr id="4" name="Folienbildplatzhalter 3"/>
          <p:cNvSpPr>
            <a:spLocks noGrp="1" noRot="1" noChangeAspect="1"/>
          </p:cNvSpPr>
          <p:nvPr>
            <p:ph type="sldImg" idx="2"/>
          </p:nvPr>
        </p:nvSpPr>
        <p:spPr>
          <a:xfrm>
            <a:off x="439738" y="1231900"/>
            <a:ext cx="5918200" cy="3328988"/>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79450" y="4745038"/>
            <a:ext cx="5438775" cy="3883025"/>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366250"/>
            <a:ext cx="2946400" cy="493713"/>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49688" y="9366250"/>
            <a:ext cx="2946400" cy="493713"/>
          </a:xfrm>
          <a:prstGeom prst="rect">
            <a:avLst/>
          </a:prstGeom>
        </p:spPr>
        <p:txBody>
          <a:bodyPr vert="horz" lIns="91440" tIns="45720" rIns="91440" bIns="45720" rtlCol="0" anchor="b"/>
          <a:lstStyle>
            <a:lvl1pPr algn="r">
              <a:defRPr sz="1200"/>
            </a:lvl1pPr>
          </a:lstStyle>
          <a:p>
            <a:fld id="{8AB30BAC-43C9-471C-9497-685289E969F7}" type="slidenum">
              <a:rPr lang="de-DE" smtClean="0"/>
              <a:t>‹#›</a:t>
            </a:fld>
            <a:endParaRPr lang="de-DE"/>
          </a:p>
        </p:txBody>
      </p:sp>
    </p:spTree>
    <p:extLst>
      <p:ext uri="{BB962C8B-B14F-4D97-AF65-F5344CB8AC3E}">
        <p14:creationId xmlns:p14="http://schemas.microsoft.com/office/powerpoint/2010/main" val="4212382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0" i="0">
                <a:solidFill>
                  <a:srgbClr val="FFFFFF"/>
                </a:solidFill>
                <a:effectLst/>
                <a:latin typeface="ui-monospace"/>
              </a:rPr>
              <a:t>Guten Tag, ich freue mich sehr, heute hier zu sein und Ihnen </a:t>
            </a:r>
            <a:r>
              <a:rPr lang="en-DE" b="0" i="0">
                <a:solidFill>
                  <a:srgbClr val="FFFFFF"/>
                </a:solidFill>
                <a:effectLst/>
                <a:latin typeface="ui-monospace"/>
              </a:rPr>
              <a:t>Mein </a:t>
            </a:r>
            <a:r>
              <a:rPr lang="de-DE" b="0" i="0">
                <a:solidFill>
                  <a:srgbClr val="FFFFFF"/>
                </a:solidFill>
                <a:effectLst/>
                <a:latin typeface="ui-monospace"/>
              </a:rPr>
              <a:t>Projekt vorzustellen. Vielen Dank, dass Sie sich </a:t>
            </a:r>
            <a:r>
              <a:rPr lang="de-DE" b="0" i="0">
                <a:solidFill>
                  <a:srgbClr val="2E95D3"/>
                </a:solidFill>
                <a:effectLst/>
                <a:latin typeface="ui-monospace"/>
              </a:rPr>
              <a:t>die</a:t>
            </a:r>
            <a:r>
              <a:rPr lang="de-DE" b="0" i="0">
                <a:solidFill>
                  <a:srgbClr val="FFFFFF"/>
                </a:solidFill>
                <a:effectLst/>
                <a:latin typeface="ui-monospace"/>
              </a:rPr>
              <a:t> Zeit genommen haben, um dabei zu sein.</a:t>
            </a:r>
            <a:endParaRPr lang="en-CA"/>
          </a:p>
        </p:txBody>
      </p:sp>
      <p:sp>
        <p:nvSpPr>
          <p:cNvPr id="4" name="Slide Number Placeholder 3"/>
          <p:cNvSpPr>
            <a:spLocks noGrp="1"/>
          </p:cNvSpPr>
          <p:nvPr>
            <p:ph type="sldNum" sz="quarter" idx="5"/>
          </p:nvPr>
        </p:nvSpPr>
        <p:spPr/>
        <p:txBody>
          <a:bodyPr/>
          <a:lstStyle/>
          <a:p>
            <a:fld id="{8AB30BAC-43C9-471C-9497-685289E969F7}" type="slidenum">
              <a:rPr lang="de-DE" smtClean="0"/>
              <a:t>1</a:t>
            </a:fld>
            <a:endParaRPr lang="de-DE"/>
          </a:p>
        </p:txBody>
      </p:sp>
    </p:spTree>
    <p:extLst>
      <p:ext uri="{BB962C8B-B14F-4D97-AF65-F5344CB8AC3E}">
        <p14:creationId xmlns:p14="http://schemas.microsoft.com/office/powerpoint/2010/main" val="20498001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a:t>Ich bin xxxxxx xxxxxxx, seite 2016 bin in </a:t>
            </a:r>
            <a:r>
              <a:rPr lang="en-CA"/>
              <a:t>D</a:t>
            </a:r>
            <a:r>
              <a:rPr lang="en-DE"/>
              <a:t>eutschland angekommen, seit 04.07.2022 habe ich Meiner umschulung bei der IAD richtung Fachinfor...anwendungsenticklung angefangen</a:t>
            </a:r>
            <a:endParaRPr lang="en-CA"/>
          </a:p>
        </p:txBody>
      </p:sp>
      <p:sp>
        <p:nvSpPr>
          <p:cNvPr id="4" name="Slide Number Placeholder 3"/>
          <p:cNvSpPr>
            <a:spLocks noGrp="1"/>
          </p:cNvSpPr>
          <p:nvPr>
            <p:ph type="sldNum" sz="quarter" idx="5"/>
          </p:nvPr>
        </p:nvSpPr>
        <p:spPr/>
        <p:txBody>
          <a:bodyPr/>
          <a:lstStyle/>
          <a:p>
            <a:fld id="{8AB30BAC-43C9-471C-9497-685289E969F7}" type="slidenum">
              <a:rPr lang="de-DE" smtClean="0"/>
              <a:t>2</a:t>
            </a:fld>
            <a:endParaRPr lang="de-DE"/>
          </a:p>
        </p:txBody>
      </p:sp>
    </p:spTree>
    <p:extLst>
      <p:ext uri="{BB962C8B-B14F-4D97-AF65-F5344CB8AC3E}">
        <p14:creationId xmlns:p14="http://schemas.microsoft.com/office/powerpoint/2010/main" val="184609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0" i="0">
                <a:solidFill>
                  <a:srgbClr val="ECECEC"/>
                </a:solidFill>
                <a:effectLst/>
                <a:latin typeface="ui-sans-serif"/>
              </a:rPr>
              <a:t>I</a:t>
            </a:r>
            <a:r>
              <a:rPr lang="en-DE" b="0" i="0">
                <a:solidFill>
                  <a:srgbClr val="ECECEC"/>
                </a:solidFill>
                <a:effectLst/>
                <a:latin typeface="ui-sans-serif"/>
              </a:rPr>
              <a:t>ch möschte Ihnen über entwicklung einer gesicherte API fungiert als middleware für ERP-System erläutern.</a:t>
            </a:r>
            <a:endParaRPr lang="en-CA"/>
          </a:p>
        </p:txBody>
      </p:sp>
      <p:sp>
        <p:nvSpPr>
          <p:cNvPr id="4" name="Slide Number Placeholder 3"/>
          <p:cNvSpPr>
            <a:spLocks noGrp="1"/>
          </p:cNvSpPr>
          <p:nvPr>
            <p:ph type="sldNum" sz="quarter" idx="5"/>
          </p:nvPr>
        </p:nvSpPr>
        <p:spPr/>
        <p:txBody>
          <a:bodyPr/>
          <a:lstStyle/>
          <a:p>
            <a:fld id="{8AB30BAC-43C9-471C-9497-685289E969F7}" type="slidenum">
              <a:rPr lang="de-DE" smtClean="0"/>
              <a:t>3</a:t>
            </a:fld>
            <a:endParaRPr lang="de-DE"/>
          </a:p>
        </p:txBody>
      </p:sp>
    </p:spTree>
    <p:extLst>
      <p:ext uri="{BB962C8B-B14F-4D97-AF65-F5344CB8AC3E}">
        <p14:creationId xmlns:p14="http://schemas.microsoft.com/office/powerpoint/2010/main" val="3818442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E" sz="800"/>
              <a:t>ERP-Stand für </a:t>
            </a:r>
            <a:r>
              <a:rPr lang="en-DE" sz="800">
                <a:sym typeface="Wingdings" panose="05000000000000000000" pitchFamily="2" charset="2"/>
              </a:rPr>
              <a:t>...</a:t>
            </a:r>
            <a:endParaRPr lang="en-DE" sz="800"/>
          </a:p>
          <a:p>
            <a:pPr marL="0" marR="0" lvl="0" indent="0" algn="l" defTabSz="914400" rtl="0" eaLnBrk="1" fontAlgn="auto" latinLnBrk="0" hangingPunct="1">
              <a:lnSpc>
                <a:spcPct val="100000"/>
              </a:lnSpc>
              <a:spcBef>
                <a:spcPts val="0"/>
              </a:spcBef>
              <a:spcAft>
                <a:spcPts val="0"/>
              </a:spcAft>
              <a:buClrTx/>
              <a:buSzTx/>
              <a:buFontTx/>
              <a:buNone/>
              <a:tabLst/>
              <a:defRPr/>
            </a:pPr>
            <a:r>
              <a:rPr lang="de-DE" sz="800"/>
              <a:t>ERP</a:t>
            </a:r>
            <a:r>
              <a:rPr lang="en-DE" sz="800"/>
              <a:t> Bezieht sich auf </a:t>
            </a:r>
            <a:r>
              <a:rPr lang="de-DE" sz="800"/>
              <a:t> integrier</a:t>
            </a:r>
            <a:r>
              <a:rPr lang="en-DE" sz="800"/>
              <a:t>ung</a:t>
            </a:r>
            <a:r>
              <a:rPr lang="de-DE" sz="800"/>
              <a:t> und automatisier</a:t>
            </a:r>
            <a:r>
              <a:rPr lang="en-DE" sz="800"/>
              <a:t>ung</a:t>
            </a:r>
            <a:r>
              <a:rPr lang="de-DE" sz="800"/>
              <a:t> wesentliche Geschäftsprozesse wie Finanzen, HR und Logistik in einer einheitlichen Plattform, um Effizienz und Datengenauigkeit zu verbessern und unterstützt so Unternehmen dabei, schneller und fundierter Entscheidungen zu treffen.</a:t>
            </a:r>
          </a:p>
          <a:p>
            <a:endParaRPr lang="de-DE"/>
          </a:p>
        </p:txBody>
      </p:sp>
      <p:sp>
        <p:nvSpPr>
          <p:cNvPr id="4" name="Foliennummernplatzhalter 3"/>
          <p:cNvSpPr>
            <a:spLocks noGrp="1"/>
          </p:cNvSpPr>
          <p:nvPr>
            <p:ph type="sldNum" sz="quarter" idx="5"/>
          </p:nvPr>
        </p:nvSpPr>
        <p:spPr/>
        <p:txBody>
          <a:bodyPr/>
          <a:lstStyle/>
          <a:p>
            <a:fld id="{8AB30BAC-43C9-471C-9497-685289E969F7}" type="slidenum">
              <a:rPr lang="de-DE" smtClean="0"/>
              <a:t>4</a:t>
            </a:fld>
            <a:endParaRPr lang="de-DE"/>
          </a:p>
        </p:txBody>
      </p:sp>
    </p:spTree>
    <p:extLst>
      <p:ext uri="{BB962C8B-B14F-4D97-AF65-F5344CB8AC3E}">
        <p14:creationId xmlns:p14="http://schemas.microsoft.com/office/powerpoint/2010/main" val="1425311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0" i="0">
                <a:solidFill>
                  <a:srgbClr val="ECECEC"/>
                </a:solidFill>
                <a:effectLst/>
                <a:latin typeface="ui-sans-serif"/>
              </a:rPr>
              <a:t>Die Gliederung des Gesprächs erfolgt gemäß dem Wasserfallmodell.</a:t>
            </a:r>
            <a:endParaRPr lang="en-CA"/>
          </a:p>
        </p:txBody>
      </p:sp>
      <p:sp>
        <p:nvSpPr>
          <p:cNvPr id="4" name="Slide Number Placeholder 3"/>
          <p:cNvSpPr>
            <a:spLocks noGrp="1"/>
          </p:cNvSpPr>
          <p:nvPr>
            <p:ph type="sldNum" sz="quarter" idx="5"/>
          </p:nvPr>
        </p:nvSpPr>
        <p:spPr/>
        <p:txBody>
          <a:bodyPr/>
          <a:lstStyle/>
          <a:p>
            <a:fld id="{8AB30BAC-43C9-471C-9497-685289E969F7}" type="slidenum">
              <a:rPr lang="de-DE" smtClean="0"/>
              <a:t>5</a:t>
            </a:fld>
            <a:endParaRPr lang="de-DE"/>
          </a:p>
        </p:txBody>
      </p:sp>
    </p:spTree>
    <p:extLst>
      <p:ext uri="{BB962C8B-B14F-4D97-AF65-F5344CB8AC3E}">
        <p14:creationId xmlns:p14="http://schemas.microsoft.com/office/powerpoint/2010/main" val="2849939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0" i="0">
                <a:solidFill>
                  <a:srgbClr val="ECECEC"/>
                </a:solidFill>
                <a:effectLst/>
                <a:latin typeface="ui-sans-serif"/>
              </a:rPr>
              <a:t>In der Projekt planung wurde ich drauf geachtet, dass das project entsprechend des Magiches dreieck durch</a:t>
            </a:r>
            <a:r>
              <a:rPr lang="en-DE" b="0" i="0">
                <a:solidFill>
                  <a:srgbClr val="ECECEC"/>
                </a:solidFill>
                <a:effectLst/>
                <a:latin typeface="ui-sans-serif"/>
              </a:rPr>
              <a:t>geführt werden,</a:t>
            </a:r>
            <a:r>
              <a:rPr lang="en-CA" b="0" i="0">
                <a:solidFill>
                  <a:srgbClr val="ECECEC"/>
                </a:solidFill>
                <a:effectLst/>
                <a:latin typeface="ui-sans-serif"/>
              </a:rPr>
              <a:t> um risiko zu minimieren, und vorausschauend planung gewährleisten.</a:t>
            </a:r>
          </a:p>
          <a:p>
            <a:r>
              <a:rPr lang="de-DE" b="0" i="0">
                <a:solidFill>
                  <a:srgbClr val="ECECEC"/>
                </a:solidFill>
                <a:effectLst/>
                <a:latin typeface="ui-sans-serif"/>
              </a:rPr>
              <a:t>potenzielle Probleme zu identifizieren und zu steuern,</a:t>
            </a:r>
            <a:endParaRPr lang="en-DE" b="0" i="0">
              <a:solidFill>
                <a:srgbClr val="ECECEC"/>
              </a:solidFill>
              <a:effectLst/>
              <a:latin typeface="ui-sans-serif"/>
            </a:endParaRPr>
          </a:p>
          <a:p>
            <a:r>
              <a:rPr lang="en-DE" b="0" i="0">
                <a:solidFill>
                  <a:srgbClr val="ECECEC"/>
                </a:solidFill>
                <a:effectLst/>
                <a:latin typeface="ui-sans-serif"/>
              </a:rPr>
              <a:t>zeit und kosten sind erkannt,  </a:t>
            </a:r>
            <a:r>
              <a:rPr lang="en-CA" b="0" i="0">
                <a:solidFill>
                  <a:srgbClr val="ECECEC"/>
                </a:solidFill>
                <a:effectLst/>
                <a:latin typeface="ui-sans-serif"/>
              </a:rPr>
              <a:t>I</a:t>
            </a:r>
            <a:r>
              <a:rPr lang="en-DE" b="0" i="0">
                <a:solidFill>
                  <a:srgbClr val="ECECEC"/>
                </a:solidFill>
                <a:effectLst/>
                <a:latin typeface="ui-sans-serif"/>
              </a:rPr>
              <a:t>nformation die im lasten und pflichten heft sind, in diesem fall sie bezeichnen die umfang. </a:t>
            </a:r>
            <a:endParaRPr lang="de-DE" b="0" i="0">
              <a:solidFill>
                <a:srgbClr val="ECECEC"/>
              </a:solidFill>
              <a:effectLst/>
              <a:latin typeface="ui-sans-serif"/>
            </a:endParaRPr>
          </a:p>
          <a:p>
            <a:r>
              <a:rPr lang="en-CA" b="0" i="0">
                <a:solidFill>
                  <a:srgbClr val="ECECEC"/>
                </a:solidFill>
                <a:effectLst/>
                <a:latin typeface="ui-sans-serif"/>
              </a:rPr>
              <a:t>Magische Dreieck</a:t>
            </a:r>
            <a:r>
              <a:rPr lang="en-DE" b="0" i="0">
                <a:solidFill>
                  <a:srgbClr val="ECECEC"/>
                </a:solidFill>
                <a:effectLst/>
                <a:latin typeface="ui-sans-serif"/>
              </a:rPr>
              <a:t>, </a:t>
            </a:r>
            <a:r>
              <a:rPr lang="de-DE" b="0" i="0">
                <a:solidFill>
                  <a:srgbClr val="ECECEC"/>
                </a:solidFill>
                <a:effectLst/>
                <a:latin typeface="ui-sans-serif"/>
              </a:rPr>
              <a:t>Definiert die Anforderungen und den Arbeitsumfang des Projekts</a:t>
            </a:r>
            <a:r>
              <a:rPr lang="en-DE" b="0" i="0">
                <a:solidFill>
                  <a:srgbClr val="ECECEC"/>
                </a:solidFill>
                <a:effectLst/>
                <a:latin typeface="ui-sans-serif"/>
              </a:rPr>
              <a:t>. </a:t>
            </a:r>
          </a:p>
        </p:txBody>
      </p:sp>
      <p:sp>
        <p:nvSpPr>
          <p:cNvPr id="4" name="Slide Number Placeholder 3"/>
          <p:cNvSpPr>
            <a:spLocks noGrp="1"/>
          </p:cNvSpPr>
          <p:nvPr>
            <p:ph type="sldNum" sz="quarter" idx="5"/>
          </p:nvPr>
        </p:nvSpPr>
        <p:spPr/>
        <p:txBody>
          <a:bodyPr/>
          <a:lstStyle/>
          <a:p>
            <a:fld id="{8AB30BAC-43C9-471C-9497-685289E969F7}" type="slidenum">
              <a:rPr lang="de-DE" smtClean="0"/>
              <a:t>6</a:t>
            </a:fld>
            <a:endParaRPr lang="de-DE"/>
          </a:p>
        </p:txBody>
      </p:sp>
    </p:spTree>
    <p:extLst>
      <p:ext uri="{BB962C8B-B14F-4D97-AF65-F5344CB8AC3E}">
        <p14:creationId xmlns:p14="http://schemas.microsoft.com/office/powerpoint/2010/main" val="1328704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0" i="0">
                <a:solidFill>
                  <a:srgbClr val="ECECEC"/>
                </a:solidFill>
                <a:effectLst/>
                <a:latin typeface="ui-sans-serif"/>
              </a:rPr>
              <a:t>Der Umfang bezieht sich normalerweise auf das Lastenheft und das Pflichtenheft, die gemeinsam vom Auftragnehmer und Auftraggeber erstellt werden.</a:t>
            </a:r>
            <a:endParaRPr lang="en-DE" b="0" i="0">
              <a:solidFill>
                <a:srgbClr val="ECECEC"/>
              </a:solidFill>
              <a:effectLst/>
              <a:latin typeface="ui-sans-serif"/>
            </a:endParaRPr>
          </a:p>
          <a:p>
            <a:endParaRPr lang="en-DE" b="0" i="0">
              <a:solidFill>
                <a:srgbClr val="ECECEC"/>
              </a:solidFill>
              <a:effectLst/>
              <a:latin typeface="ui-sans-serif"/>
            </a:endParaRPr>
          </a:p>
          <a:p>
            <a:endParaRPr lang="en-DE" b="0" i="0">
              <a:solidFill>
                <a:srgbClr val="ECECEC"/>
              </a:solidFill>
              <a:effectLst/>
              <a:latin typeface="ui-sans-serif"/>
            </a:endParaRPr>
          </a:p>
          <a:p>
            <a:r>
              <a:rPr lang="de-DE"/>
              <a:t>die informationen die im lastenheft</a:t>
            </a:r>
            <a:r>
              <a:rPr lang="en-DE"/>
              <a:t> und pflichtenheft</a:t>
            </a:r>
            <a:r>
              <a:rPr lang="de-DE"/>
              <a:t> umgefasst sind, wurde die umfang bezeichnen</a:t>
            </a:r>
          </a:p>
        </p:txBody>
      </p:sp>
      <p:sp>
        <p:nvSpPr>
          <p:cNvPr id="4" name="Foliennummernplatzhalter 3"/>
          <p:cNvSpPr>
            <a:spLocks noGrp="1"/>
          </p:cNvSpPr>
          <p:nvPr>
            <p:ph type="sldNum" sz="quarter" idx="5"/>
          </p:nvPr>
        </p:nvSpPr>
        <p:spPr/>
        <p:txBody>
          <a:bodyPr/>
          <a:lstStyle/>
          <a:p>
            <a:fld id="{8AB30BAC-43C9-471C-9497-685289E969F7}" type="slidenum">
              <a:rPr lang="de-DE" smtClean="0"/>
              <a:t>7</a:t>
            </a:fld>
            <a:endParaRPr lang="de-DE"/>
          </a:p>
        </p:txBody>
      </p:sp>
    </p:spTree>
    <p:extLst>
      <p:ext uri="{BB962C8B-B14F-4D97-AF65-F5344CB8AC3E}">
        <p14:creationId xmlns:p14="http://schemas.microsoft.com/office/powerpoint/2010/main" val="14772002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a:p>
          <a:p>
            <a:r>
              <a:rPr lang="en-CA"/>
              <a:t>F</a:t>
            </a:r>
            <a:r>
              <a:rPr lang="en-DE"/>
              <a:t>ür die Durchführung des Projekt wurde, V-Modell als Vorgehensmodel ausgewählt.</a:t>
            </a:r>
          </a:p>
          <a:p>
            <a:r>
              <a:rPr lang="de-DE" b="0" i="0">
                <a:solidFill>
                  <a:srgbClr val="ECECEC"/>
                </a:solidFill>
                <a:effectLst/>
                <a:latin typeface="ui-sans-serif"/>
              </a:rPr>
              <a:t>Das V-Modell strukturiert den Entwicklungsprozess systematisch und ermöglicht eine klare Zuordnung von Testphasen zu den entsprechenden Entwicklungsphasen</a:t>
            </a:r>
            <a:endParaRPr lang="en-DE"/>
          </a:p>
          <a:p>
            <a:r>
              <a:rPr lang="en-DE"/>
              <a:t>-----</a:t>
            </a:r>
          </a:p>
          <a:p>
            <a:r>
              <a:rPr lang="de-DE" b="0" i="0">
                <a:solidFill>
                  <a:srgbClr val="ECECEC"/>
                </a:solidFill>
                <a:effectLst/>
                <a:latin typeface="ui-sans-serif"/>
              </a:rPr>
              <a:t>Dieses Modell stellt sicher, dass jeder Entwicklungsschritt durch spezifische Tests abgesichert wird, was die Qualität und Zuverlässigkeit des Endprodukts erheblich verbessert.</a:t>
            </a:r>
            <a:endParaRPr lang="en-CA"/>
          </a:p>
        </p:txBody>
      </p:sp>
      <p:sp>
        <p:nvSpPr>
          <p:cNvPr id="4" name="Slide Number Placeholder 3"/>
          <p:cNvSpPr>
            <a:spLocks noGrp="1"/>
          </p:cNvSpPr>
          <p:nvPr>
            <p:ph type="sldNum" sz="quarter" idx="5"/>
          </p:nvPr>
        </p:nvSpPr>
        <p:spPr/>
        <p:txBody>
          <a:bodyPr/>
          <a:lstStyle/>
          <a:p>
            <a:fld id="{8AB30BAC-43C9-471C-9497-685289E969F7}" type="slidenum">
              <a:rPr lang="de-DE" smtClean="0"/>
              <a:t>8</a:t>
            </a:fld>
            <a:endParaRPr lang="de-DE"/>
          </a:p>
        </p:txBody>
      </p:sp>
    </p:spTree>
    <p:extLst>
      <p:ext uri="{BB962C8B-B14F-4D97-AF65-F5344CB8AC3E}">
        <p14:creationId xmlns:p14="http://schemas.microsoft.com/office/powerpoint/2010/main" val="31374363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DE" b="0" i="0">
                <a:solidFill>
                  <a:srgbClr val="0D0D0D"/>
                </a:solidFill>
                <a:effectLst/>
                <a:latin typeface="ui-sans-serif"/>
              </a:rPr>
              <a:t>Momentan läuft alles physich und steigten sich die Kosten erheblich</a:t>
            </a:r>
            <a:r>
              <a:rPr lang="de-DE" b="0" i="0">
                <a:solidFill>
                  <a:srgbClr val="0D0D0D"/>
                </a:solidFill>
                <a:effectLst/>
                <a:latin typeface="ui-sans-serif"/>
              </a:rPr>
              <a:t>. Das Projekt zielt darauf ab, die Kosten zu senken, den Gewinn zu steigern, die Digitalisierung voranzutreiben und damit auch die Wettbewerbsfähigkeit zu erhöhen.</a:t>
            </a:r>
            <a:endParaRPr lang="de-DE"/>
          </a:p>
        </p:txBody>
      </p:sp>
      <p:sp>
        <p:nvSpPr>
          <p:cNvPr id="4" name="Foliennummernplatzhalter 3"/>
          <p:cNvSpPr>
            <a:spLocks noGrp="1"/>
          </p:cNvSpPr>
          <p:nvPr>
            <p:ph type="sldNum" sz="quarter" idx="5"/>
          </p:nvPr>
        </p:nvSpPr>
        <p:spPr/>
        <p:txBody>
          <a:bodyPr/>
          <a:lstStyle/>
          <a:p>
            <a:fld id="{8AB30BAC-43C9-471C-9497-685289E969F7}" type="slidenum">
              <a:rPr lang="de-DE" smtClean="0"/>
              <a:t>9</a:t>
            </a:fld>
            <a:endParaRPr lang="de-DE"/>
          </a:p>
        </p:txBody>
      </p:sp>
    </p:spTree>
    <p:extLst>
      <p:ext uri="{BB962C8B-B14F-4D97-AF65-F5344CB8AC3E}">
        <p14:creationId xmlns:p14="http://schemas.microsoft.com/office/powerpoint/2010/main" val="12340787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0" i="0">
                <a:solidFill>
                  <a:srgbClr val="0D0D0D"/>
                </a:solidFill>
                <a:effectLst/>
                <a:latin typeface="ui-sans-serif"/>
              </a:rPr>
              <a:t>In der aktuellen Konfiguration gibt es zwar Zugriff auf die Odoo-Datenbank, jedoch haben die Nutzer Zugriff auf alle Daten, was nicht den Anforderungen entspricht. Es ist erforderlich, dass Dozenten, Administratoren und bestimmte Mitarbeiter von verschiedenen Standorten nur auf spezifische, eingeschränkte Daten zugreifen können. Dies soll sicherstellen, dass jeder Nutzer nur die Informationen erhält, die für seine spezifischen Aufgaben und Verantwortlichkeiten notwendig sind.</a:t>
            </a:r>
            <a:endParaRPr lang="en-CA"/>
          </a:p>
        </p:txBody>
      </p:sp>
      <p:sp>
        <p:nvSpPr>
          <p:cNvPr id="4" name="Slide Number Placeholder 3"/>
          <p:cNvSpPr>
            <a:spLocks noGrp="1"/>
          </p:cNvSpPr>
          <p:nvPr>
            <p:ph type="sldNum" sz="quarter" idx="5"/>
          </p:nvPr>
        </p:nvSpPr>
        <p:spPr/>
        <p:txBody>
          <a:bodyPr/>
          <a:lstStyle/>
          <a:p>
            <a:fld id="{8AB30BAC-43C9-471C-9497-685289E969F7}" type="slidenum">
              <a:rPr lang="de-DE" smtClean="0"/>
              <a:t>10</a:t>
            </a:fld>
            <a:endParaRPr lang="de-DE"/>
          </a:p>
        </p:txBody>
      </p:sp>
    </p:spTree>
    <p:extLst>
      <p:ext uri="{BB962C8B-B14F-4D97-AF65-F5344CB8AC3E}">
        <p14:creationId xmlns:p14="http://schemas.microsoft.com/office/powerpoint/2010/main" val="10244099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0" i="0">
                <a:solidFill>
                  <a:srgbClr val="ECECEC"/>
                </a:solidFill>
                <a:effectLst/>
                <a:latin typeface="ui-sans-serif"/>
              </a:rPr>
              <a:t>Nach dem Einsatz des Projekts wird die bestehende Struktur des ERP-Systems durch eine sichere API-Middleware verbessert, die in einem Docker-Container läuft. Diese Middleware ermöglicht es, den Zugriff auf die Odoo-Datenbank präzise zu steuern, sodass Dozenten, Administratoren und ausgewählte Mitarbeiter von verschiedenen Standorten gezielt </a:t>
            </a:r>
            <a:r>
              <a:rPr lang="de-DE" b="1" i="0">
                <a:solidFill>
                  <a:srgbClr val="ECECEC"/>
                </a:solidFill>
                <a:effectLst/>
                <a:latin typeface="ui-sans-serif"/>
              </a:rPr>
              <a:t>Zugriff</a:t>
            </a:r>
            <a:r>
              <a:rPr lang="de-DE" b="0" i="0">
                <a:solidFill>
                  <a:srgbClr val="ECECEC"/>
                </a:solidFill>
                <a:effectLst/>
                <a:latin typeface="ui-sans-serif"/>
              </a:rPr>
              <a:t> auf notwendige Daten erhalten, ohne das Gesamtdatensystem zu kompromittieren.</a:t>
            </a:r>
            <a:r>
              <a:rPr lang="de-DE" b="0" i="0">
                <a:solidFill>
                  <a:srgbClr val="0D0D0D"/>
                </a:solidFill>
                <a:effectLst/>
                <a:latin typeface="ui-sans-serif"/>
              </a:rPr>
              <a:t> Dies wird durch den Einsatz modernster Sicherheitsmechanismen wie JWT (JSON Web Tokens) sichergestellt, die eine robuste, flexible und sichere Verwaltung der Zugriffsrechte ermöglichen</a:t>
            </a:r>
            <a:endParaRPr lang="de-DE"/>
          </a:p>
        </p:txBody>
      </p:sp>
      <p:sp>
        <p:nvSpPr>
          <p:cNvPr id="4" name="Foliennummernplatzhalter 3"/>
          <p:cNvSpPr>
            <a:spLocks noGrp="1"/>
          </p:cNvSpPr>
          <p:nvPr>
            <p:ph type="sldNum" sz="quarter" idx="5"/>
          </p:nvPr>
        </p:nvSpPr>
        <p:spPr/>
        <p:txBody>
          <a:bodyPr/>
          <a:lstStyle/>
          <a:p>
            <a:fld id="{8AB30BAC-43C9-471C-9497-685289E969F7}" type="slidenum">
              <a:rPr lang="de-DE" smtClean="0"/>
              <a:t>11</a:t>
            </a:fld>
            <a:endParaRPr lang="de-DE"/>
          </a:p>
        </p:txBody>
      </p:sp>
    </p:spTree>
    <p:extLst>
      <p:ext uri="{BB962C8B-B14F-4D97-AF65-F5344CB8AC3E}">
        <p14:creationId xmlns:p14="http://schemas.microsoft.com/office/powerpoint/2010/main" val="5963488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0" i="0">
                <a:solidFill>
                  <a:srgbClr val="0D0D0D"/>
                </a:solidFill>
                <a:effectLst/>
                <a:latin typeface="ui-sans-serif"/>
              </a:rPr>
              <a:t>Für mein Projekt habe ich Python und das Flask-Framework gewählt, da sie effiziente Entwicklung ermöglichen und gut für die Erstellung von Webanwendungen geeignet sind. Als Datenbank habe ich SQLite ausgewählt, weil es den Anforderungen des Projekts entspricht und gut in die Systemarchitektur integrierbar ist</a:t>
            </a:r>
            <a:endParaRPr lang="en-DE" b="0" i="0">
              <a:solidFill>
                <a:srgbClr val="0D0D0D"/>
              </a:solidFill>
              <a:effectLst/>
              <a:latin typeface="ui-sans-serif"/>
            </a:endParaRPr>
          </a:p>
          <a:p>
            <a:r>
              <a:rPr lang="en-DE" b="0" i="0">
                <a:solidFill>
                  <a:srgbClr val="0D0D0D"/>
                </a:solidFill>
                <a:effectLst/>
                <a:latin typeface="ui-sans-serif"/>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CA">
                <a:solidFill>
                  <a:srgbClr val="CFD2D5"/>
                </a:solidFill>
                <a:effectLst/>
                <a:latin typeface="JetBrains Mono"/>
              </a:rPr>
              <a:t>token_generated </a:t>
            </a:r>
            <a:r>
              <a:rPr lang="en-CA">
                <a:solidFill>
                  <a:srgbClr val="218CF3"/>
                </a:solidFill>
                <a:effectLst/>
                <a:latin typeface="JetBrains Mono"/>
              </a:rPr>
              <a:t>= </a:t>
            </a:r>
            <a:r>
              <a:rPr lang="en-CA">
                <a:solidFill>
                  <a:srgbClr val="CFD2D5"/>
                </a:solidFill>
                <a:effectLst/>
                <a:latin typeface="JetBrains Mono"/>
              </a:rPr>
              <a:t>jwt.</a:t>
            </a:r>
            <a:r>
              <a:rPr lang="en-CA">
                <a:solidFill>
                  <a:srgbClr val="7A33F6"/>
                </a:solidFill>
                <a:effectLst/>
                <a:latin typeface="JetBrains Mono"/>
              </a:rPr>
              <a:t>encode</a:t>
            </a:r>
            <a:r>
              <a:rPr lang="en-CA">
                <a:solidFill>
                  <a:srgbClr val="CFD2D5"/>
                </a:solidFill>
                <a:effectLst/>
                <a:latin typeface="JetBrains Mono"/>
              </a:rPr>
              <a:t>(payload</a:t>
            </a:r>
            <a:r>
              <a:rPr lang="en-CA">
                <a:solidFill>
                  <a:srgbClr val="CC7832"/>
                </a:solidFill>
                <a:effectLst/>
                <a:latin typeface="JetBrains Mono"/>
              </a:rPr>
              <a:t>, </a:t>
            </a:r>
            <a:r>
              <a:rPr lang="en-CA">
                <a:solidFill>
                  <a:srgbClr val="CFD2D5"/>
                </a:solidFill>
                <a:effectLst/>
                <a:latin typeface="JetBrains Mono"/>
              </a:rPr>
              <a:t>secret_key</a:t>
            </a:r>
            <a:r>
              <a:rPr lang="en-CA">
                <a:solidFill>
                  <a:srgbClr val="CC7832"/>
                </a:solidFill>
                <a:effectLst/>
                <a:latin typeface="JetBrains Mono"/>
              </a:rPr>
              <a:t>, </a:t>
            </a:r>
            <a:r>
              <a:rPr lang="en-CA">
                <a:solidFill>
                  <a:srgbClr val="AA4926"/>
                </a:solidFill>
                <a:effectLst/>
                <a:latin typeface="JetBrains Mono"/>
              </a:rPr>
              <a:t>algorithm</a:t>
            </a:r>
            <a:r>
              <a:rPr lang="en-CA">
                <a:solidFill>
                  <a:srgbClr val="218CF3"/>
                </a:solidFill>
                <a:effectLst/>
                <a:latin typeface="JetBrains Mono"/>
              </a:rPr>
              <a:t>=</a:t>
            </a:r>
            <a:r>
              <a:rPr lang="en-CA">
                <a:solidFill>
                  <a:srgbClr val="6CE76C"/>
                </a:solidFill>
                <a:effectLst/>
                <a:latin typeface="JetBrains Mono"/>
              </a:rPr>
              <a:t>'HS256’</a:t>
            </a:r>
            <a:r>
              <a:rPr lang="en-CA">
                <a:solidFill>
                  <a:srgbClr val="CFD2D5"/>
                </a:solidFill>
                <a:effectLst/>
                <a:latin typeface="JetBrains Mono"/>
              </a:rPr>
              <a:t>)</a:t>
            </a:r>
            <a:br>
              <a:rPr lang="en-DE">
                <a:solidFill>
                  <a:srgbClr val="CFD2D5"/>
                </a:solidFill>
                <a:effectLst/>
                <a:latin typeface="JetBrains Mono"/>
              </a:rPr>
            </a:br>
            <a:r>
              <a:rPr lang="en-DE">
                <a:solidFill>
                  <a:srgbClr val="CFD2D5"/>
                </a:solidFill>
                <a:effectLst/>
                <a:latin typeface="JetBrains Mono"/>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CA">
                <a:solidFill>
                  <a:srgbClr val="F84972"/>
                </a:solidFill>
                <a:effectLst/>
                <a:latin typeface="JetBrains Mono"/>
              </a:rPr>
              <a:t>def </a:t>
            </a:r>
            <a:r>
              <a:rPr lang="en-CA">
                <a:solidFill>
                  <a:srgbClr val="ECBE05"/>
                </a:solidFill>
                <a:effectLst/>
                <a:latin typeface="JetBrains Mono"/>
              </a:rPr>
              <a:t>check_password</a:t>
            </a:r>
            <a:r>
              <a:rPr lang="en-CA">
                <a:solidFill>
                  <a:srgbClr val="CFD2D5"/>
                </a:solidFill>
                <a:effectLst/>
                <a:latin typeface="JetBrains Mono"/>
              </a:rPr>
              <a:t>(</a:t>
            </a:r>
            <a:r>
              <a:rPr lang="en-CA">
                <a:solidFill>
                  <a:srgbClr val="94558D"/>
                </a:solidFill>
                <a:effectLst/>
                <a:latin typeface="JetBrains Mono"/>
              </a:rPr>
              <a:t>self</a:t>
            </a:r>
            <a:r>
              <a:rPr lang="en-CA">
                <a:solidFill>
                  <a:srgbClr val="CC7832"/>
                </a:solidFill>
                <a:effectLst/>
                <a:latin typeface="JetBrains Mono"/>
              </a:rPr>
              <a:t>, </a:t>
            </a:r>
            <a:r>
              <a:rPr lang="en-CA">
                <a:solidFill>
                  <a:srgbClr val="525EF3"/>
                </a:solidFill>
                <a:effectLst/>
                <a:latin typeface="JetBrains Mono"/>
              </a:rPr>
              <a:t>password</a:t>
            </a:r>
            <a:r>
              <a:rPr lang="en-CA">
                <a:solidFill>
                  <a:srgbClr val="CFD2D5"/>
                </a:solidFill>
                <a:effectLst/>
                <a:latin typeface="JetBrains Mono"/>
              </a:rPr>
              <a:t>)</a:t>
            </a:r>
            <a:r>
              <a:rPr lang="en-CA">
                <a:solidFill>
                  <a:srgbClr val="218CF3"/>
                </a:solidFill>
                <a:effectLst/>
                <a:latin typeface="JetBrains Mono"/>
              </a:rPr>
              <a:t>:</a:t>
            </a:r>
            <a:br>
              <a:rPr lang="en-CA">
                <a:solidFill>
                  <a:srgbClr val="218CF3"/>
                </a:solidFill>
                <a:effectLst/>
                <a:latin typeface="JetBrains Mono"/>
              </a:rPr>
            </a:br>
            <a:r>
              <a:rPr lang="en-CA">
                <a:solidFill>
                  <a:srgbClr val="218CF3"/>
                </a:solidFill>
                <a:effectLst/>
                <a:latin typeface="JetBrains Mono"/>
              </a:rPr>
              <a:t>    </a:t>
            </a:r>
            <a:r>
              <a:rPr lang="en-CA">
                <a:solidFill>
                  <a:srgbClr val="CFD2D5"/>
                </a:solidFill>
                <a:effectLst/>
                <a:latin typeface="JetBrains Mono"/>
              </a:rPr>
              <a:t>hashed_password </a:t>
            </a:r>
            <a:r>
              <a:rPr lang="en-CA">
                <a:solidFill>
                  <a:srgbClr val="218CF3"/>
                </a:solidFill>
                <a:effectLst/>
                <a:latin typeface="JetBrains Mono"/>
              </a:rPr>
              <a:t>= </a:t>
            </a:r>
            <a:r>
              <a:rPr lang="en-CA">
                <a:solidFill>
                  <a:srgbClr val="7A33F6"/>
                </a:solidFill>
                <a:effectLst/>
                <a:latin typeface="JetBrains Mono"/>
              </a:rPr>
              <a:t>hashpw</a:t>
            </a:r>
            <a:r>
              <a:rPr lang="en-CA">
                <a:solidFill>
                  <a:srgbClr val="CFD2D5"/>
                </a:solidFill>
                <a:effectLst/>
                <a:latin typeface="JetBrains Mono"/>
              </a:rPr>
              <a:t>(</a:t>
            </a:r>
            <a:r>
              <a:rPr lang="en-CA">
                <a:solidFill>
                  <a:srgbClr val="525EF3"/>
                </a:solidFill>
                <a:effectLst/>
                <a:latin typeface="JetBrains Mono"/>
              </a:rPr>
              <a:t>password</a:t>
            </a:r>
            <a:r>
              <a:rPr lang="en-CA">
                <a:solidFill>
                  <a:srgbClr val="CFD2D5"/>
                </a:solidFill>
                <a:effectLst/>
                <a:latin typeface="JetBrains Mono"/>
              </a:rPr>
              <a:t>.</a:t>
            </a:r>
            <a:r>
              <a:rPr lang="en-CA">
                <a:solidFill>
                  <a:srgbClr val="7A33F6"/>
                </a:solidFill>
                <a:effectLst/>
                <a:latin typeface="JetBrains Mono"/>
              </a:rPr>
              <a:t>encode</a:t>
            </a:r>
            <a:r>
              <a:rPr lang="en-CA">
                <a:solidFill>
                  <a:srgbClr val="CFD2D5"/>
                </a:solidFill>
                <a:effectLst/>
                <a:latin typeface="JetBrains Mono"/>
              </a:rPr>
              <a:t>(</a:t>
            </a:r>
            <a:r>
              <a:rPr lang="en-CA">
                <a:solidFill>
                  <a:srgbClr val="6CE76C"/>
                </a:solidFill>
                <a:effectLst/>
                <a:latin typeface="JetBrains Mono"/>
              </a:rPr>
              <a:t>'utf-8'</a:t>
            </a:r>
            <a:r>
              <a:rPr lang="en-CA">
                <a:solidFill>
                  <a:srgbClr val="CFD2D5"/>
                </a:solidFill>
                <a:effectLst/>
                <a:latin typeface="JetBrains Mono"/>
              </a:rPr>
              <a:t>)</a:t>
            </a:r>
            <a:r>
              <a:rPr lang="en-CA">
                <a:solidFill>
                  <a:srgbClr val="CC7832"/>
                </a:solidFill>
                <a:effectLst/>
                <a:latin typeface="JetBrains Mono"/>
              </a:rPr>
              <a:t>, </a:t>
            </a:r>
            <a:r>
              <a:rPr lang="en-CA">
                <a:solidFill>
                  <a:srgbClr val="94558D"/>
                </a:solidFill>
                <a:effectLst/>
                <a:latin typeface="JetBrains Mono"/>
              </a:rPr>
              <a:t>self</a:t>
            </a:r>
            <a:r>
              <a:rPr lang="en-CA">
                <a:solidFill>
                  <a:srgbClr val="CFD2D5"/>
                </a:solidFill>
                <a:effectLst/>
                <a:latin typeface="JetBrains Mono"/>
              </a:rPr>
              <a:t>.salt.</a:t>
            </a:r>
            <a:r>
              <a:rPr lang="en-CA">
                <a:solidFill>
                  <a:srgbClr val="7A33F6"/>
                </a:solidFill>
                <a:effectLst/>
                <a:latin typeface="JetBrains Mono"/>
              </a:rPr>
              <a:t>encode</a:t>
            </a:r>
            <a:r>
              <a:rPr lang="en-CA">
                <a:solidFill>
                  <a:srgbClr val="CFD2D5"/>
                </a:solidFill>
                <a:effectLst/>
                <a:latin typeface="JetBrains Mono"/>
              </a:rPr>
              <a:t>(</a:t>
            </a:r>
            <a:r>
              <a:rPr lang="en-CA">
                <a:solidFill>
                  <a:srgbClr val="6CE76C"/>
                </a:solidFill>
                <a:effectLst/>
                <a:latin typeface="JetBrains Mono"/>
              </a:rPr>
              <a:t>'utf-8'</a:t>
            </a:r>
            <a:r>
              <a:rPr lang="en-CA">
                <a:solidFill>
                  <a:srgbClr val="CFD2D5"/>
                </a:solidFill>
                <a:effectLst/>
                <a:latin typeface="JetBrains Mono"/>
              </a:rPr>
              <a:t>)).</a:t>
            </a:r>
            <a:r>
              <a:rPr lang="en-CA">
                <a:solidFill>
                  <a:srgbClr val="7A33F6"/>
                </a:solidFill>
                <a:effectLst/>
                <a:latin typeface="JetBrains Mono"/>
              </a:rPr>
              <a:t>decode</a:t>
            </a:r>
            <a:r>
              <a:rPr lang="en-CA">
                <a:solidFill>
                  <a:srgbClr val="CFD2D5"/>
                </a:solidFill>
                <a:effectLst/>
                <a:latin typeface="JetBrains Mono"/>
              </a:rPr>
              <a:t>(</a:t>
            </a:r>
            <a:r>
              <a:rPr lang="en-CA">
                <a:solidFill>
                  <a:srgbClr val="6CE76C"/>
                </a:solidFill>
                <a:effectLst/>
                <a:latin typeface="JetBrains Mono"/>
              </a:rPr>
              <a:t>'utf-8'</a:t>
            </a:r>
            <a:r>
              <a:rPr lang="en-CA">
                <a:solidFill>
                  <a:srgbClr val="CFD2D5"/>
                </a:solidFill>
                <a:effectLst/>
                <a:latin typeface="JetBrains Mono"/>
              </a:rPr>
              <a:t>)</a:t>
            </a:r>
            <a:br>
              <a:rPr lang="en-CA">
                <a:solidFill>
                  <a:srgbClr val="CFD2D5"/>
                </a:solidFill>
                <a:effectLst/>
                <a:latin typeface="JetBrains Mono"/>
              </a:rPr>
            </a:br>
            <a:r>
              <a:rPr lang="en-CA">
                <a:solidFill>
                  <a:srgbClr val="CFD2D5"/>
                </a:solidFill>
                <a:effectLst/>
                <a:latin typeface="JetBrains Mono"/>
              </a:rPr>
              <a:t>    </a:t>
            </a:r>
            <a:r>
              <a:rPr lang="en-CA">
                <a:solidFill>
                  <a:srgbClr val="F84972"/>
                </a:solidFill>
                <a:effectLst/>
                <a:latin typeface="JetBrains Mono"/>
              </a:rPr>
              <a:t>return </a:t>
            </a:r>
            <a:r>
              <a:rPr lang="en-CA">
                <a:solidFill>
                  <a:srgbClr val="94558D"/>
                </a:solidFill>
                <a:effectLst/>
                <a:latin typeface="JetBrains Mono"/>
              </a:rPr>
              <a:t>self</a:t>
            </a:r>
            <a:r>
              <a:rPr lang="en-CA">
                <a:solidFill>
                  <a:srgbClr val="CFD2D5"/>
                </a:solidFill>
                <a:effectLst/>
                <a:latin typeface="JetBrains Mono"/>
              </a:rPr>
              <a:t>.password </a:t>
            </a:r>
            <a:r>
              <a:rPr lang="en-CA">
                <a:solidFill>
                  <a:srgbClr val="218CF3"/>
                </a:solidFill>
                <a:effectLst/>
                <a:latin typeface="JetBrains Mono"/>
              </a:rPr>
              <a:t>== </a:t>
            </a:r>
            <a:r>
              <a:rPr lang="en-CA">
                <a:solidFill>
                  <a:srgbClr val="CFD2D5"/>
                </a:solidFill>
                <a:effectLst/>
                <a:latin typeface="JetBrains Mono"/>
              </a:rPr>
              <a:t>hashed_password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a:solidFill>
                <a:srgbClr val="CFD2D5"/>
              </a:solidFill>
              <a:effectLst/>
              <a:latin typeface="JetBrains Mono"/>
            </a:endParaRPr>
          </a:p>
          <a:p>
            <a:endParaRPr lang="de-DE"/>
          </a:p>
        </p:txBody>
      </p:sp>
      <p:sp>
        <p:nvSpPr>
          <p:cNvPr id="4" name="Foliennummernplatzhalter 3"/>
          <p:cNvSpPr>
            <a:spLocks noGrp="1"/>
          </p:cNvSpPr>
          <p:nvPr>
            <p:ph type="sldNum" sz="quarter" idx="5"/>
          </p:nvPr>
        </p:nvSpPr>
        <p:spPr/>
        <p:txBody>
          <a:bodyPr/>
          <a:lstStyle/>
          <a:p>
            <a:fld id="{8AB30BAC-43C9-471C-9497-685289E969F7}" type="slidenum">
              <a:rPr lang="de-DE" smtClean="0"/>
              <a:t>12</a:t>
            </a:fld>
            <a:endParaRPr lang="de-DE"/>
          </a:p>
        </p:txBody>
      </p:sp>
    </p:spTree>
    <p:extLst>
      <p:ext uri="{BB962C8B-B14F-4D97-AF65-F5344CB8AC3E}">
        <p14:creationId xmlns:p14="http://schemas.microsoft.com/office/powerpoint/2010/main" val="811877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0" i="0">
                <a:solidFill>
                  <a:srgbClr val="0D0D0D"/>
                </a:solidFill>
                <a:effectLst/>
                <a:latin typeface="ui-sans-serif"/>
              </a:rPr>
              <a:t>Ich habe SQLite verwendet, um differenzierte Nutzerrechte zu verwalten. Dies erfolgt über einen Boolean-Datentyp, der Nutzer als Superuser oder Normaluser klassifiziert. Passwörter werden als VARCHAR gespeichert und mit SHA-256 zusammen mit einem Salt gehasht, um die Sicherheit zu erhöhen. Zusätzlich werden JWTs genutzt, die Nutzer-ID, Benutzername und das gehashte Passwort enthalten, wobei die ID als numerischer Datentyp gespeichert wird, um eine sichere und effiziente Authentifizierung und Autorisierung zu gewährleisten.</a:t>
            </a:r>
            <a:endParaRPr lang="de-DE"/>
          </a:p>
        </p:txBody>
      </p:sp>
      <p:sp>
        <p:nvSpPr>
          <p:cNvPr id="4" name="Foliennummernplatzhalter 3"/>
          <p:cNvSpPr>
            <a:spLocks noGrp="1"/>
          </p:cNvSpPr>
          <p:nvPr>
            <p:ph type="sldNum" sz="quarter" idx="5"/>
          </p:nvPr>
        </p:nvSpPr>
        <p:spPr/>
        <p:txBody>
          <a:bodyPr/>
          <a:lstStyle/>
          <a:p>
            <a:fld id="{8AB30BAC-43C9-471C-9497-685289E969F7}" type="slidenum">
              <a:rPr lang="de-DE" smtClean="0"/>
              <a:t>13</a:t>
            </a:fld>
            <a:endParaRPr lang="de-DE"/>
          </a:p>
        </p:txBody>
      </p:sp>
    </p:spTree>
    <p:extLst>
      <p:ext uri="{BB962C8B-B14F-4D97-AF65-F5344CB8AC3E}">
        <p14:creationId xmlns:p14="http://schemas.microsoft.com/office/powerpoint/2010/main" val="27228585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0" i="0">
                <a:solidFill>
                  <a:srgbClr val="0D0D0D"/>
                </a:solidFill>
                <a:effectLst/>
                <a:latin typeface="ui-sans-serif"/>
              </a:rPr>
              <a:t>Die Projektkosten von insgesamt 2.165 Euro setzen sich wie folgt zusammen: ich berechne 10 Euro pro Stunde für den Ausbildenden, zuzüglich einer Pauschale von 15 Euro für Nebenkosten. Für das Code-Review veranschlagte ich 2 Stunden und für die Abnahme 1 Stunde. Diese Aufstellung gewährleistet eine transparente und zielgerichtete Ressourcenverwendung im Projekt</a:t>
            </a:r>
            <a:endParaRPr lang="de-DE"/>
          </a:p>
        </p:txBody>
      </p:sp>
      <p:sp>
        <p:nvSpPr>
          <p:cNvPr id="4" name="Foliennummernplatzhalter 3"/>
          <p:cNvSpPr>
            <a:spLocks noGrp="1"/>
          </p:cNvSpPr>
          <p:nvPr>
            <p:ph type="sldNum" sz="quarter" idx="5"/>
          </p:nvPr>
        </p:nvSpPr>
        <p:spPr/>
        <p:txBody>
          <a:bodyPr/>
          <a:lstStyle/>
          <a:p>
            <a:fld id="{8AB30BAC-43C9-471C-9497-685289E969F7}" type="slidenum">
              <a:rPr lang="de-DE" smtClean="0"/>
              <a:t>14</a:t>
            </a:fld>
            <a:endParaRPr lang="de-DE"/>
          </a:p>
        </p:txBody>
      </p:sp>
    </p:spTree>
    <p:extLst>
      <p:ext uri="{BB962C8B-B14F-4D97-AF65-F5344CB8AC3E}">
        <p14:creationId xmlns:p14="http://schemas.microsoft.com/office/powerpoint/2010/main" val="38900987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0" i="0">
                <a:solidFill>
                  <a:srgbClr val="0D0D0D"/>
                </a:solidFill>
                <a:effectLst/>
                <a:latin typeface="ui-sans-serif"/>
              </a:rPr>
              <a:t>Die Wirtschaftlichkeitsanalyse zeigt, dass sich die Projektkosten von 2.165 Euro durch monatliche Zeitersparnisse von 370 Minuten bereits nach etwa 6 Monaten amortisieren. Mit einem angenommenen Stundensatz von 40 Euro plus 15 Euro Nebenkosten erreiche ich den Break-even-Punkt nach nur 40 Stunden.</a:t>
            </a:r>
            <a:endParaRPr lang="de-DE"/>
          </a:p>
        </p:txBody>
      </p:sp>
      <p:sp>
        <p:nvSpPr>
          <p:cNvPr id="4" name="Foliennummernplatzhalter 3"/>
          <p:cNvSpPr>
            <a:spLocks noGrp="1"/>
          </p:cNvSpPr>
          <p:nvPr>
            <p:ph type="sldNum" sz="quarter" idx="5"/>
          </p:nvPr>
        </p:nvSpPr>
        <p:spPr/>
        <p:txBody>
          <a:bodyPr/>
          <a:lstStyle/>
          <a:p>
            <a:fld id="{8AB30BAC-43C9-471C-9497-685289E969F7}" type="slidenum">
              <a:rPr lang="de-DE" smtClean="0"/>
              <a:t>15</a:t>
            </a:fld>
            <a:endParaRPr lang="de-DE"/>
          </a:p>
        </p:txBody>
      </p:sp>
    </p:spTree>
    <p:extLst>
      <p:ext uri="{BB962C8B-B14F-4D97-AF65-F5344CB8AC3E}">
        <p14:creationId xmlns:p14="http://schemas.microsoft.com/office/powerpoint/2010/main" val="1412777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0" i="0">
                <a:solidFill>
                  <a:srgbClr val="0D0D0D"/>
                </a:solidFill>
                <a:effectLst/>
                <a:latin typeface="ui-sans-serif"/>
              </a:rPr>
              <a:t>Ich habe Swagger UI verwendet, um unsere API zu entwerfen. Dieses Tool bietet eine nutzerfreundliche Oberfläche für das Visualisieren, Entwickeln und Testen der API, was den Entwicklungsprozess beschleunigt und die Dokumentation verbessert</a:t>
            </a:r>
            <a:endParaRPr lang="de-DE"/>
          </a:p>
        </p:txBody>
      </p:sp>
      <p:sp>
        <p:nvSpPr>
          <p:cNvPr id="4" name="Foliennummernplatzhalter 3"/>
          <p:cNvSpPr>
            <a:spLocks noGrp="1"/>
          </p:cNvSpPr>
          <p:nvPr>
            <p:ph type="sldNum" sz="quarter" idx="5"/>
          </p:nvPr>
        </p:nvSpPr>
        <p:spPr/>
        <p:txBody>
          <a:bodyPr/>
          <a:lstStyle/>
          <a:p>
            <a:fld id="{8AB30BAC-43C9-471C-9497-685289E969F7}" type="slidenum">
              <a:rPr lang="de-DE" smtClean="0"/>
              <a:t>16</a:t>
            </a:fld>
            <a:endParaRPr lang="de-DE"/>
          </a:p>
        </p:txBody>
      </p:sp>
    </p:spTree>
    <p:extLst>
      <p:ext uri="{BB962C8B-B14F-4D97-AF65-F5344CB8AC3E}">
        <p14:creationId xmlns:p14="http://schemas.microsoft.com/office/powerpoint/2010/main" val="19144840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0" i="0">
                <a:solidFill>
                  <a:srgbClr val="0D0D0D"/>
                </a:solidFill>
                <a:effectLst/>
                <a:latin typeface="ui-sans-serif"/>
              </a:rPr>
              <a:t>Die Grafik präsentiert die Swagger UI für die IAD Odoo API, die eine klare Visualisierung und Dokumentation der API-Endpunkte bietet. Links sehen wir allgemeine Abfragen, während rechts spezifische Admin-Funktionen zu sehen sind, um Benutzer zu verwalten. Diese Oberfläche erleichtert das Testen und Managen der API durch direktes Ausführen von Anfragen und Überprüfen der Antworten</a:t>
            </a:r>
            <a:endParaRPr lang="de-DE"/>
          </a:p>
        </p:txBody>
      </p:sp>
      <p:sp>
        <p:nvSpPr>
          <p:cNvPr id="4" name="Foliennummernplatzhalter 3"/>
          <p:cNvSpPr>
            <a:spLocks noGrp="1"/>
          </p:cNvSpPr>
          <p:nvPr>
            <p:ph type="sldNum" sz="quarter" idx="5"/>
          </p:nvPr>
        </p:nvSpPr>
        <p:spPr/>
        <p:txBody>
          <a:bodyPr/>
          <a:lstStyle/>
          <a:p>
            <a:fld id="{8AB30BAC-43C9-471C-9497-685289E969F7}" type="slidenum">
              <a:rPr lang="de-DE" smtClean="0"/>
              <a:t>17</a:t>
            </a:fld>
            <a:endParaRPr lang="de-DE"/>
          </a:p>
        </p:txBody>
      </p:sp>
    </p:spTree>
    <p:extLst>
      <p:ext uri="{BB962C8B-B14F-4D97-AF65-F5344CB8AC3E}">
        <p14:creationId xmlns:p14="http://schemas.microsoft.com/office/powerpoint/2010/main" val="29633646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0" i="0">
                <a:solidFill>
                  <a:srgbClr val="0D0D0D"/>
                </a:solidFill>
                <a:effectLst/>
                <a:latin typeface="ui-sans-serif"/>
              </a:rPr>
              <a:t>Um das Projekt erweiterbar zu gestalten und Fehler einfacher identifizieren zu können, habe ich objektorientierte Programmierung (OOP) eingesetzt. Dies ermöglichte auch eine modulare Implementierung, wodurch die Software in verschiedenen Projekten und auf unterschiedlichen Plattformen integriert werden kann.</a:t>
            </a:r>
            <a:endParaRPr lang="de-DE"/>
          </a:p>
        </p:txBody>
      </p:sp>
      <p:sp>
        <p:nvSpPr>
          <p:cNvPr id="4" name="Foliennummernplatzhalter 3"/>
          <p:cNvSpPr>
            <a:spLocks noGrp="1"/>
          </p:cNvSpPr>
          <p:nvPr>
            <p:ph type="sldNum" sz="quarter" idx="5"/>
          </p:nvPr>
        </p:nvSpPr>
        <p:spPr/>
        <p:txBody>
          <a:bodyPr/>
          <a:lstStyle/>
          <a:p>
            <a:fld id="{8AB30BAC-43C9-471C-9497-685289E969F7}" type="slidenum">
              <a:rPr lang="de-DE" smtClean="0"/>
              <a:t>18</a:t>
            </a:fld>
            <a:endParaRPr lang="de-DE"/>
          </a:p>
        </p:txBody>
      </p:sp>
    </p:spTree>
    <p:extLst>
      <p:ext uri="{BB962C8B-B14F-4D97-AF65-F5344CB8AC3E}">
        <p14:creationId xmlns:p14="http://schemas.microsoft.com/office/powerpoint/2010/main" val="181099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lgn="l"/>
            <a:r>
              <a:rPr lang="de-DE" b="0" i="0">
                <a:solidFill>
                  <a:srgbClr val="0D0D0D"/>
                </a:solidFill>
                <a:effectLst/>
                <a:latin typeface="ui-sans-serif"/>
              </a:rPr>
              <a:t>Der Startpunkt des Projekts wurde mit einer benutzerfreundlichen Implementierung in einem Modul realisiert, um einen einfachen und problemlosen Start zu ermöglichen.</a:t>
            </a:r>
          </a:p>
          <a:p>
            <a:pPr algn="l"/>
            <a:r>
              <a:rPr lang="de-DE" b="0" i="0">
                <a:solidFill>
                  <a:srgbClr val="0D0D0D"/>
                </a:solidFill>
                <a:effectLst/>
                <a:latin typeface="ui-sans-serif"/>
              </a:rPr>
              <a:t>Das Projekt wurde in mehrere verschiedene Module aufgeteilt. Zunächst wurden die ersten API-Endpunkte implementiert und die SQLite-Datenbank eingerichtet. Zur Fehlerbehandlung wurden spezifische Fehler protokolliert, um diese leichter identifizieren und beheben zu können.</a:t>
            </a:r>
          </a:p>
          <a:p>
            <a:pPr algn="l"/>
            <a:r>
              <a:rPr lang="de-DE" b="0" i="0">
                <a:solidFill>
                  <a:srgbClr val="0D0D0D"/>
                </a:solidFill>
                <a:effectLst/>
                <a:latin typeface="ui-sans-serif"/>
              </a:rPr>
              <a:t>In jedem Schritt des Projekts wurden entsprechend der V-Modell-Vorgehensweise verschiedene Testarten durchgeführt, um die Qualität und Sicherheit der Implementierung zu gewährleisten</a:t>
            </a:r>
          </a:p>
          <a:p>
            <a:endParaRPr lang="de-DE"/>
          </a:p>
        </p:txBody>
      </p:sp>
      <p:sp>
        <p:nvSpPr>
          <p:cNvPr id="4" name="Foliennummernplatzhalter 3"/>
          <p:cNvSpPr>
            <a:spLocks noGrp="1"/>
          </p:cNvSpPr>
          <p:nvPr>
            <p:ph type="sldNum" sz="quarter" idx="5"/>
          </p:nvPr>
        </p:nvSpPr>
        <p:spPr/>
        <p:txBody>
          <a:bodyPr/>
          <a:lstStyle/>
          <a:p>
            <a:fld id="{8AB30BAC-43C9-471C-9497-685289E969F7}" type="slidenum">
              <a:rPr lang="de-DE" smtClean="0"/>
              <a:t>19</a:t>
            </a:fld>
            <a:endParaRPr lang="de-DE"/>
          </a:p>
        </p:txBody>
      </p:sp>
    </p:spTree>
    <p:extLst>
      <p:ext uri="{BB962C8B-B14F-4D97-AF65-F5344CB8AC3E}">
        <p14:creationId xmlns:p14="http://schemas.microsoft.com/office/powerpoint/2010/main" val="10951759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0" i="0">
                <a:solidFill>
                  <a:srgbClr val="0D0D0D"/>
                </a:solidFill>
                <a:effectLst/>
                <a:latin typeface="ui-sans-serif"/>
              </a:rPr>
              <a:t>Das Projekt wurde in fünf Phasen unterteilt: Analysephase mit 10 %, Planungsphase mit 12 %, Durchführungsphase mit 40 %, Testphase mit 15 % und Dokumentationsphase mit 23 % des Gesamtaufwands. Diese Gewichtung stellt sicher, dass jede Phase angemessen berücksichtigt und ressourcenoptimiert durchgeführt wird</a:t>
            </a:r>
            <a:endParaRPr lang="de-DE"/>
          </a:p>
        </p:txBody>
      </p:sp>
      <p:sp>
        <p:nvSpPr>
          <p:cNvPr id="4" name="Foliennummernplatzhalter 3"/>
          <p:cNvSpPr>
            <a:spLocks noGrp="1"/>
          </p:cNvSpPr>
          <p:nvPr>
            <p:ph type="sldNum" sz="quarter" idx="5"/>
          </p:nvPr>
        </p:nvSpPr>
        <p:spPr/>
        <p:txBody>
          <a:bodyPr/>
          <a:lstStyle/>
          <a:p>
            <a:fld id="{8AB30BAC-43C9-471C-9497-685289E969F7}" type="slidenum">
              <a:rPr lang="de-DE" smtClean="0"/>
              <a:t>20</a:t>
            </a:fld>
            <a:endParaRPr lang="de-DE"/>
          </a:p>
        </p:txBody>
      </p:sp>
    </p:spTree>
    <p:extLst>
      <p:ext uri="{BB962C8B-B14F-4D97-AF65-F5344CB8AC3E}">
        <p14:creationId xmlns:p14="http://schemas.microsoft.com/office/powerpoint/2010/main" val="42486878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0" i="0">
                <a:solidFill>
                  <a:srgbClr val="0D0D0D"/>
                </a:solidFill>
                <a:effectLst/>
                <a:latin typeface="ui-sans-serif"/>
              </a:rPr>
              <a:t>Zusammenfassend hat dieses Projekt mehrere entscheidende Vorteile gebracht: Es verbessert Wettbewerbsfähigkeit durch effiziente Prozesse und sorgt für hohe Sicherheit des IAD Systeme. Zudem ist die Lösung zukunftssicher gestaltet und bietet durch ihre Erweiterbarkeit die Möglichkeit, auf künftige Anforderungen flexibel zu reagieren. Die Integration mit verschiedenen Plattformen wurde ebenfalls erfolgreich umgesetzt, was unsere technische Reichweite vergrößert. All diese Aspekte tragen dazu bei, dass das Projekt einen nachhaltigen Wert für Unternehmen schafft.</a:t>
            </a:r>
            <a:endParaRPr lang="de-DE"/>
          </a:p>
        </p:txBody>
      </p:sp>
      <p:sp>
        <p:nvSpPr>
          <p:cNvPr id="4" name="Foliennummernplatzhalter 3"/>
          <p:cNvSpPr>
            <a:spLocks noGrp="1"/>
          </p:cNvSpPr>
          <p:nvPr>
            <p:ph type="sldNum" sz="quarter" idx="5"/>
          </p:nvPr>
        </p:nvSpPr>
        <p:spPr/>
        <p:txBody>
          <a:bodyPr/>
          <a:lstStyle/>
          <a:p>
            <a:fld id="{8AB30BAC-43C9-471C-9497-685289E969F7}" type="slidenum">
              <a:rPr lang="de-DE" smtClean="0"/>
              <a:t>21</a:t>
            </a:fld>
            <a:endParaRPr lang="de-DE"/>
          </a:p>
        </p:txBody>
      </p:sp>
    </p:spTree>
    <p:extLst>
      <p:ext uri="{BB962C8B-B14F-4D97-AF65-F5344CB8AC3E}">
        <p14:creationId xmlns:p14="http://schemas.microsoft.com/office/powerpoint/2010/main" val="3626818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E430C-C1F7-405D-A461-82E32E9842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27ABDF82-D1C3-48D4-B482-787AC9ECD3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06FB263D-DE0C-49AA-AD29-8F4F37B2977D}"/>
              </a:ext>
            </a:extLst>
          </p:cNvPr>
          <p:cNvSpPr>
            <a:spLocks noGrp="1"/>
          </p:cNvSpPr>
          <p:nvPr>
            <p:ph type="dt" sz="half" idx="10"/>
          </p:nvPr>
        </p:nvSpPr>
        <p:spPr/>
        <p:txBody>
          <a:bodyPr/>
          <a:lstStyle/>
          <a:p>
            <a:fld id="{E5A32640-52C2-43A8-B38B-0F2BEE0F81A7}" type="datetimeFigureOut">
              <a:rPr lang="de-DE" smtClean="0"/>
              <a:t>27.06.2024</a:t>
            </a:fld>
            <a:endParaRPr lang="de-DE"/>
          </a:p>
        </p:txBody>
      </p:sp>
      <p:sp>
        <p:nvSpPr>
          <p:cNvPr id="5" name="Footer Placeholder 4">
            <a:extLst>
              <a:ext uri="{FF2B5EF4-FFF2-40B4-BE49-F238E27FC236}">
                <a16:creationId xmlns:a16="http://schemas.microsoft.com/office/drawing/2014/main" id="{316F5C94-09FB-487F-AED3-FCCE76DFF07B}"/>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A74405CC-8F03-4A98-89DC-A23B39C266AA}"/>
              </a:ext>
            </a:extLst>
          </p:cNvPr>
          <p:cNvSpPr>
            <a:spLocks noGrp="1"/>
          </p:cNvSpPr>
          <p:nvPr>
            <p:ph type="sldNum" sz="quarter" idx="12"/>
          </p:nvPr>
        </p:nvSpPr>
        <p:spPr/>
        <p:txBody>
          <a:bodyPr/>
          <a:lstStyle/>
          <a:p>
            <a:fld id="{6C8C83D0-936D-4890-83B2-0A7B47C5FC58}" type="slidenum">
              <a:rPr lang="de-DE" smtClean="0"/>
              <a:t>‹#›</a:t>
            </a:fld>
            <a:endParaRPr lang="de-DE"/>
          </a:p>
        </p:txBody>
      </p:sp>
    </p:spTree>
    <p:extLst>
      <p:ext uri="{BB962C8B-B14F-4D97-AF65-F5344CB8AC3E}">
        <p14:creationId xmlns:p14="http://schemas.microsoft.com/office/powerpoint/2010/main" val="2175508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B4E68-ECFF-4BA8-8470-BD7E8C4B8594}"/>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98C2D11-F357-4E0E-B779-37D24E8C53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766FB27-3C2D-4690-8EF1-98EF62B8FA56}"/>
              </a:ext>
            </a:extLst>
          </p:cNvPr>
          <p:cNvSpPr>
            <a:spLocks noGrp="1"/>
          </p:cNvSpPr>
          <p:nvPr>
            <p:ph type="dt" sz="half" idx="10"/>
          </p:nvPr>
        </p:nvSpPr>
        <p:spPr/>
        <p:txBody>
          <a:bodyPr/>
          <a:lstStyle/>
          <a:p>
            <a:fld id="{E5A32640-52C2-43A8-B38B-0F2BEE0F81A7}" type="datetimeFigureOut">
              <a:rPr lang="de-DE" smtClean="0"/>
              <a:t>27.06.2024</a:t>
            </a:fld>
            <a:endParaRPr lang="de-DE"/>
          </a:p>
        </p:txBody>
      </p:sp>
      <p:sp>
        <p:nvSpPr>
          <p:cNvPr id="5" name="Footer Placeholder 4">
            <a:extLst>
              <a:ext uri="{FF2B5EF4-FFF2-40B4-BE49-F238E27FC236}">
                <a16:creationId xmlns:a16="http://schemas.microsoft.com/office/drawing/2014/main" id="{ADA7295E-F04E-42E0-85D0-E042D74D56C0}"/>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BF4D5431-7458-4245-B049-42AEF55C5406}"/>
              </a:ext>
            </a:extLst>
          </p:cNvPr>
          <p:cNvSpPr>
            <a:spLocks noGrp="1"/>
          </p:cNvSpPr>
          <p:nvPr>
            <p:ph type="sldNum" sz="quarter" idx="12"/>
          </p:nvPr>
        </p:nvSpPr>
        <p:spPr/>
        <p:txBody>
          <a:bodyPr/>
          <a:lstStyle/>
          <a:p>
            <a:fld id="{6C8C83D0-936D-4890-83B2-0A7B47C5FC58}" type="slidenum">
              <a:rPr lang="de-DE" smtClean="0"/>
              <a:t>‹#›</a:t>
            </a:fld>
            <a:endParaRPr lang="de-DE"/>
          </a:p>
        </p:txBody>
      </p:sp>
    </p:spTree>
    <p:extLst>
      <p:ext uri="{BB962C8B-B14F-4D97-AF65-F5344CB8AC3E}">
        <p14:creationId xmlns:p14="http://schemas.microsoft.com/office/powerpoint/2010/main" val="1790021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E52B9-CDA7-4FE5-ABD7-C5C51EB670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A818A928-FB39-4299-A735-2DE8A9AFA3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5A0B50-4C15-4896-85FC-2C43E15EAF85}"/>
              </a:ext>
            </a:extLst>
          </p:cNvPr>
          <p:cNvSpPr>
            <a:spLocks noGrp="1"/>
          </p:cNvSpPr>
          <p:nvPr>
            <p:ph type="dt" sz="half" idx="10"/>
          </p:nvPr>
        </p:nvSpPr>
        <p:spPr/>
        <p:txBody>
          <a:bodyPr/>
          <a:lstStyle/>
          <a:p>
            <a:fld id="{E5A32640-52C2-43A8-B38B-0F2BEE0F81A7}" type="datetimeFigureOut">
              <a:rPr lang="de-DE" smtClean="0"/>
              <a:t>27.06.2024</a:t>
            </a:fld>
            <a:endParaRPr lang="de-DE"/>
          </a:p>
        </p:txBody>
      </p:sp>
      <p:sp>
        <p:nvSpPr>
          <p:cNvPr id="5" name="Footer Placeholder 4">
            <a:extLst>
              <a:ext uri="{FF2B5EF4-FFF2-40B4-BE49-F238E27FC236}">
                <a16:creationId xmlns:a16="http://schemas.microsoft.com/office/drawing/2014/main" id="{88FBCC0C-649F-40FD-98EC-68E41C17D675}"/>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AAD0C7B1-CE01-4D05-A88D-63B106930101}"/>
              </a:ext>
            </a:extLst>
          </p:cNvPr>
          <p:cNvSpPr>
            <a:spLocks noGrp="1"/>
          </p:cNvSpPr>
          <p:nvPr>
            <p:ph type="sldNum" sz="quarter" idx="12"/>
          </p:nvPr>
        </p:nvSpPr>
        <p:spPr/>
        <p:txBody>
          <a:bodyPr/>
          <a:lstStyle/>
          <a:p>
            <a:fld id="{6C8C83D0-936D-4890-83B2-0A7B47C5FC58}" type="slidenum">
              <a:rPr lang="de-DE" smtClean="0"/>
              <a:t>‹#›</a:t>
            </a:fld>
            <a:endParaRPr lang="de-DE"/>
          </a:p>
        </p:txBody>
      </p:sp>
    </p:spTree>
    <p:extLst>
      <p:ext uri="{BB962C8B-B14F-4D97-AF65-F5344CB8AC3E}">
        <p14:creationId xmlns:p14="http://schemas.microsoft.com/office/powerpoint/2010/main" val="1340664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3165F-B561-4D81-B8CD-E4E7AD973EAE}"/>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2913B926-09D8-4F00-8144-D99140EBDF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F3F466B1-B7EE-4DF1-97C9-FAB8D5641C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C93EA5F8-C399-46C0-911B-420FA2808827}"/>
              </a:ext>
            </a:extLst>
          </p:cNvPr>
          <p:cNvSpPr>
            <a:spLocks noGrp="1"/>
          </p:cNvSpPr>
          <p:nvPr>
            <p:ph type="dt" sz="half" idx="10"/>
          </p:nvPr>
        </p:nvSpPr>
        <p:spPr/>
        <p:txBody>
          <a:bodyPr/>
          <a:lstStyle/>
          <a:p>
            <a:fld id="{E5A32640-52C2-43A8-B38B-0F2BEE0F81A7}" type="datetimeFigureOut">
              <a:rPr lang="de-DE" smtClean="0"/>
              <a:t>27.06.2024</a:t>
            </a:fld>
            <a:endParaRPr lang="de-DE"/>
          </a:p>
        </p:txBody>
      </p:sp>
      <p:sp>
        <p:nvSpPr>
          <p:cNvPr id="6" name="Footer Placeholder 5">
            <a:extLst>
              <a:ext uri="{FF2B5EF4-FFF2-40B4-BE49-F238E27FC236}">
                <a16:creationId xmlns:a16="http://schemas.microsoft.com/office/drawing/2014/main" id="{02A41177-8983-4D7B-8FDC-6CECF432F620}"/>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73E19001-216D-4924-B75A-F62CDE5FD20B}"/>
              </a:ext>
            </a:extLst>
          </p:cNvPr>
          <p:cNvSpPr>
            <a:spLocks noGrp="1"/>
          </p:cNvSpPr>
          <p:nvPr>
            <p:ph type="sldNum" sz="quarter" idx="12"/>
          </p:nvPr>
        </p:nvSpPr>
        <p:spPr/>
        <p:txBody>
          <a:bodyPr/>
          <a:lstStyle/>
          <a:p>
            <a:fld id="{6C8C83D0-936D-4890-83B2-0A7B47C5FC58}" type="slidenum">
              <a:rPr lang="de-DE" smtClean="0"/>
              <a:t>‹#›</a:t>
            </a:fld>
            <a:endParaRPr lang="de-DE"/>
          </a:p>
        </p:txBody>
      </p:sp>
    </p:spTree>
    <p:extLst>
      <p:ext uri="{BB962C8B-B14F-4D97-AF65-F5344CB8AC3E}">
        <p14:creationId xmlns:p14="http://schemas.microsoft.com/office/powerpoint/2010/main" val="2359677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B88EE-AFA1-48BA-84B0-D1C40105456A}"/>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631BDD8E-AD9A-491D-B272-288FD5C6A4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5BCDE2-D1D5-4D81-A289-EB67E94CE0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A13F4286-0BB3-495A-82F3-1293745ED5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4C2696-0BAB-4AEC-B220-1094E73AFD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A2E57888-EB58-44A7-9FD2-88AA6AF8A1CC}"/>
              </a:ext>
            </a:extLst>
          </p:cNvPr>
          <p:cNvSpPr>
            <a:spLocks noGrp="1"/>
          </p:cNvSpPr>
          <p:nvPr>
            <p:ph type="dt" sz="half" idx="10"/>
          </p:nvPr>
        </p:nvSpPr>
        <p:spPr/>
        <p:txBody>
          <a:bodyPr/>
          <a:lstStyle/>
          <a:p>
            <a:fld id="{E5A32640-52C2-43A8-B38B-0F2BEE0F81A7}" type="datetimeFigureOut">
              <a:rPr lang="de-DE" smtClean="0"/>
              <a:t>27.06.2024</a:t>
            </a:fld>
            <a:endParaRPr lang="de-DE"/>
          </a:p>
        </p:txBody>
      </p:sp>
      <p:sp>
        <p:nvSpPr>
          <p:cNvPr id="8" name="Footer Placeholder 7">
            <a:extLst>
              <a:ext uri="{FF2B5EF4-FFF2-40B4-BE49-F238E27FC236}">
                <a16:creationId xmlns:a16="http://schemas.microsoft.com/office/drawing/2014/main" id="{016E68FF-6434-4133-9BD0-EAA3842A6179}"/>
              </a:ext>
            </a:extLst>
          </p:cNvPr>
          <p:cNvSpPr>
            <a:spLocks noGrp="1"/>
          </p:cNvSpPr>
          <p:nvPr>
            <p:ph type="ftr" sz="quarter" idx="11"/>
          </p:nvPr>
        </p:nvSpPr>
        <p:spPr/>
        <p:txBody>
          <a:bodyPr/>
          <a:lstStyle/>
          <a:p>
            <a:endParaRPr lang="de-DE"/>
          </a:p>
        </p:txBody>
      </p:sp>
      <p:sp>
        <p:nvSpPr>
          <p:cNvPr id="9" name="Slide Number Placeholder 8">
            <a:extLst>
              <a:ext uri="{FF2B5EF4-FFF2-40B4-BE49-F238E27FC236}">
                <a16:creationId xmlns:a16="http://schemas.microsoft.com/office/drawing/2014/main" id="{BD3CB33C-8E2A-472B-A1EE-8523D861D4BE}"/>
              </a:ext>
            </a:extLst>
          </p:cNvPr>
          <p:cNvSpPr>
            <a:spLocks noGrp="1"/>
          </p:cNvSpPr>
          <p:nvPr>
            <p:ph type="sldNum" sz="quarter" idx="12"/>
          </p:nvPr>
        </p:nvSpPr>
        <p:spPr/>
        <p:txBody>
          <a:bodyPr/>
          <a:lstStyle/>
          <a:p>
            <a:fld id="{6C8C83D0-936D-4890-83B2-0A7B47C5FC58}" type="slidenum">
              <a:rPr lang="de-DE" smtClean="0"/>
              <a:t>‹#›</a:t>
            </a:fld>
            <a:endParaRPr lang="de-DE"/>
          </a:p>
        </p:txBody>
      </p:sp>
    </p:spTree>
    <p:extLst>
      <p:ext uri="{BB962C8B-B14F-4D97-AF65-F5344CB8AC3E}">
        <p14:creationId xmlns:p14="http://schemas.microsoft.com/office/powerpoint/2010/main" val="44521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8C2F4-14F2-48A6-A031-BC1AC59C1DF5}"/>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90075489-1620-4447-88AD-85F6EB5E080B}"/>
              </a:ext>
            </a:extLst>
          </p:cNvPr>
          <p:cNvSpPr>
            <a:spLocks noGrp="1"/>
          </p:cNvSpPr>
          <p:nvPr>
            <p:ph type="dt" sz="half" idx="10"/>
          </p:nvPr>
        </p:nvSpPr>
        <p:spPr/>
        <p:txBody>
          <a:bodyPr/>
          <a:lstStyle/>
          <a:p>
            <a:fld id="{E5A32640-52C2-43A8-B38B-0F2BEE0F81A7}" type="datetimeFigureOut">
              <a:rPr lang="de-DE" smtClean="0"/>
              <a:t>27.06.2024</a:t>
            </a:fld>
            <a:endParaRPr lang="de-DE"/>
          </a:p>
        </p:txBody>
      </p:sp>
      <p:sp>
        <p:nvSpPr>
          <p:cNvPr id="4" name="Footer Placeholder 3">
            <a:extLst>
              <a:ext uri="{FF2B5EF4-FFF2-40B4-BE49-F238E27FC236}">
                <a16:creationId xmlns:a16="http://schemas.microsoft.com/office/drawing/2014/main" id="{D6B6E822-C915-4F0D-AD7A-15194F043FE1}"/>
              </a:ext>
            </a:extLst>
          </p:cNvPr>
          <p:cNvSpPr>
            <a:spLocks noGrp="1"/>
          </p:cNvSpPr>
          <p:nvPr>
            <p:ph type="ftr" sz="quarter" idx="11"/>
          </p:nvPr>
        </p:nvSpPr>
        <p:spPr/>
        <p:txBody>
          <a:bodyPr/>
          <a:lstStyle/>
          <a:p>
            <a:endParaRPr lang="de-DE"/>
          </a:p>
        </p:txBody>
      </p:sp>
      <p:sp>
        <p:nvSpPr>
          <p:cNvPr id="5" name="Slide Number Placeholder 4">
            <a:extLst>
              <a:ext uri="{FF2B5EF4-FFF2-40B4-BE49-F238E27FC236}">
                <a16:creationId xmlns:a16="http://schemas.microsoft.com/office/drawing/2014/main" id="{46B9A2B5-95B6-4809-ACDA-BC33B71E8FB9}"/>
              </a:ext>
            </a:extLst>
          </p:cNvPr>
          <p:cNvSpPr>
            <a:spLocks noGrp="1"/>
          </p:cNvSpPr>
          <p:nvPr>
            <p:ph type="sldNum" sz="quarter" idx="12"/>
          </p:nvPr>
        </p:nvSpPr>
        <p:spPr/>
        <p:txBody>
          <a:bodyPr/>
          <a:lstStyle/>
          <a:p>
            <a:fld id="{6C8C83D0-936D-4890-83B2-0A7B47C5FC58}" type="slidenum">
              <a:rPr lang="de-DE" smtClean="0"/>
              <a:t>‹#›</a:t>
            </a:fld>
            <a:endParaRPr lang="de-DE"/>
          </a:p>
        </p:txBody>
      </p:sp>
    </p:spTree>
    <p:extLst>
      <p:ext uri="{BB962C8B-B14F-4D97-AF65-F5344CB8AC3E}">
        <p14:creationId xmlns:p14="http://schemas.microsoft.com/office/powerpoint/2010/main" val="2673797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5DAD0E-F6FA-4A99-9B0B-175F98538E0E}"/>
              </a:ext>
            </a:extLst>
          </p:cNvPr>
          <p:cNvSpPr>
            <a:spLocks noGrp="1"/>
          </p:cNvSpPr>
          <p:nvPr>
            <p:ph type="dt" sz="half" idx="10"/>
          </p:nvPr>
        </p:nvSpPr>
        <p:spPr/>
        <p:txBody>
          <a:bodyPr/>
          <a:lstStyle/>
          <a:p>
            <a:fld id="{E5A32640-52C2-43A8-B38B-0F2BEE0F81A7}" type="datetimeFigureOut">
              <a:rPr lang="de-DE" smtClean="0"/>
              <a:t>27.06.2024</a:t>
            </a:fld>
            <a:endParaRPr lang="de-DE"/>
          </a:p>
        </p:txBody>
      </p:sp>
      <p:sp>
        <p:nvSpPr>
          <p:cNvPr id="3" name="Footer Placeholder 2">
            <a:extLst>
              <a:ext uri="{FF2B5EF4-FFF2-40B4-BE49-F238E27FC236}">
                <a16:creationId xmlns:a16="http://schemas.microsoft.com/office/drawing/2014/main" id="{46FFD42A-050D-424F-899A-FACFF66F34BB}"/>
              </a:ext>
            </a:extLst>
          </p:cNvPr>
          <p:cNvSpPr>
            <a:spLocks noGrp="1"/>
          </p:cNvSpPr>
          <p:nvPr>
            <p:ph type="ftr" sz="quarter" idx="11"/>
          </p:nvPr>
        </p:nvSpPr>
        <p:spPr/>
        <p:txBody>
          <a:bodyPr/>
          <a:lstStyle/>
          <a:p>
            <a:endParaRPr lang="de-DE"/>
          </a:p>
        </p:txBody>
      </p:sp>
      <p:sp>
        <p:nvSpPr>
          <p:cNvPr id="4" name="Slide Number Placeholder 3">
            <a:extLst>
              <a:ext uri="{FF2B5EF4-FFF2-40B4-BE49-F238E27FC236}">
                <a16:creationId xmlns:a16="http://schemas.microsoft.com/office/drawing/2014/main" id="{13699DA3-4AE9-42A8-8943-E65632437F08}"/>
              </a:ext>
            </a:extLst>
          </p:cNvPr>
          <p:cNvSpPr>
            <a:spLocks noGrp="1"/>
          </p:cNvSpPr>
          <p:nvPr>
            <p:ph type="sldNum" sz="quarter" idx="12"/>
          </p:nvPr>
        </p:nvSpPr>
        <p:spPr/>
        <p:txBody>
          <a:bodyPr/>
          <a:lstStyle/>
          <a:p>
            <a:fld id="{6C8C83D0-936D-4890-83B2-0A7B47C5FC58}" type="slidenum">
              <a:rPr lang="de-DE" smtClean="0"/>
              <a:t>‹#›</a:t>
            </a:fld>
            <a:endParaRPr lang="de-DE"/>
          </a:p>
        </p:txBody>
      </p:sp>
    </p:spTree>
    <p:extLst>
      <p:ext uri="{BB962C8B-B14F-4D97-AF65-F5344CB8AC3E}">
        <p14:creationId xmlns:p14="http://schemas.microsoft.com/office/powerpoint/2010/main" val="2104738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E2247-84E9-47C6-8046-B5859047E6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101570E0-9558-4D6C-A47C-F4628E0A28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76932662-1826-4A14-9151-B454658B1E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ECEA76-ECDC-4E83-AF2D-029F0BCB89D5}"/>
              </a:ext>
            </a:extLst>
          </p:cNvPr>
          <p:cNvSpPr>
            <a:spLocks noGrp="1"/>
          </p:cNvSpPr>
          <p:nvPr>
            <p:ph type="dt" sz="half" idx="10"/>
          </p:nvPr>
        </p:nvSpPr>
        <p:spPr/>
        <p:txBody>
          <a:bodyPr/>
          <a:lstStyle/>
          <a:p>
            <a:fld id="{E5A32640-52C2-43A8-B38B-0F2BEE0F81A7}" type="datetimeFigureOut">
              <a:rPr lang="de-DE" smtClean="0"/>
              <a:t>27.06.2024</a:t>
            </a:fld>
            <a:endParaRPr lang="de-DE"/>
          </a:p>
        </p:txBody>
      </p:sp>
      <p:sp>
        <p:nvSpPr>
          <p:cNvPr id="6" name="Footer Placeholder 5">
            <a:extLst>
              <a:ext uri="{FF2B5EF4-FFF2-40B4-BE49-F238E27FC236}">
                <a16:creationId xmlns:a16="http://schemas.microsoft.com/office/drawing/2014/main" id="{08955250-D175-4FD2-B9ED-89D18C59CBDC}"/>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F988F641-E93C-4199-A466-67590D9F9EAB}"/>
              </a:ext>
            </a:extLst>
          </p:cNvPr>
          <p:cNvSpPr>
            <a:spLocks noGrp="1"/>
          </p:cNvSpPr>
          <p:nvPr>
            <p:ph type="sldNum" sz="quarter" idx="12"/>
          </p:nvPr>
        </p:nvSpPr>
        <p:spPr/>
        <p:txBody>
          <a:bodyPr/>
          <a:lstStyle/>
          <a:p>
            <a:fld id="{6C8C83D0-936D-4890-83B2-0A7B47C5FC58}" type="slidenum">
              <a:rPr lang="de-DE" smtClean="0"/>
              <a:t>‹#›</a:t>
            </a:fld>
            <a:endParaRPr lang="de-DE"/>
          </a:p>
        </p:txBody>
      </p:sp>
    </p:spTree>
    <p:extLst>
      <p:ext uri="{BB962C8B-B14F-4D97-AF65-F5344CB8AC3E}">
        <p14:creationId xmlns:p14="http://schemas.microsoft.com/office/powerpoint/2010/main" val="894938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12013-F618-42ED-B295-E60CB74FE9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DC7A61A3-F1E0-4CE2-A17A-395631DA15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5D3986FA-2706-49C4-A063-3CAF7EC824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A92755-9DEF-4B5C-801D-FE743B41516C}"/>
              </a:ext>
            </a:extLst>
          </p:cNvPr>
          <p:cNvSpPr>
            <a:spLocks noGrp="1"/>
          </p:cNvSpPr>
          <p:nvPr>
            <p:ph type="dt" sz="half" idx="10"/>
          </p:nvPr>
        </p:nvSpPr>
        <p:spPr/>
        <p:txBody>
          <a:bodyPr/>
          <a:lstStyle/>
          <a:p>
            <a:fld id="{E5A32640-52C2-43A8-B38B-0F2BEE0F81A7}" type="datetimeFigureOut">
              <a:rPr lang="de-DE" smtClean="0"/>
              <a:t>27.06.2024</a:t>
            </a:fld>
            <a:endParaRPr lang="de-DE"/>
          </a:p>
        </p:txBody>
      </p:sp>
      <p:sp>
        <p:nvSpPr>
          <p:cNvPr id="6" name="Footer Placeholder 5">
            <a:extLst>
              <a:ext uri="{FF2B5EF4-FFF2-40B4-BE49-F238E27FC236}">
                <a16:creationId xmlns:a16="http://schemas.microsoft.com/office/drawing/2014/main" id="{BEE2784A-2636-4575-B92F-0FD852392C62}"/>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26E88C8F-489C-4DA6-8C8E-D199D461FACF}"/>
              </a:ext>
            </a:extLst>
          </p:cNvPr>
          <p:cNvSpPr>
            <a:spLocks noGrp="1"/>
          </p:cNvSpPr>
          <p:nvPr>
            <p:ph type="sldNum" sz="quarter" idx="12"/>
          </p:nvPr>
        </p:nvSpPr>
        <p:spPr/>
        <p:txBody>
          <a:bodyPr/>
          <a:lstStyle/>
          <a:p>
            <a:fld id="{6C8C83D0-936D-4890-83B2-0A7B47C5FC58}" type="slidenum">
              <a:rPr lang="de-DE" smtClean="0"/>
              <a:t>‹#›</a:t>
            </a:fld>
            <a:endParaRPr lang="de-DE"/>
          </a:p>
        </p:txBody>
      </p:sp>
    </p:spTree>
    <p:extLst>
      <p:ext uri="{BB962C8B-B14F-4D97-AF65-F5344CB8AC3E}">
        <p14:creationId xmlns:p14="http://schemas.microsoft.com/office/powerpoint/2010/main" val="508741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52158-EE43-4563-ACA0-EA3071A7F265}"/>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6D6EAF4-32EE-4D7C-AD5C-2E4F75C372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6D220D5-31A8-4A45-AF41-C984DCB2A825}"/>
              </a:ext>
            </a:extLst>
          </p:cNvPr>
          <p:cNvSpPr>
            <a:spLocks noGrp="1"/>
          </p:cNvSpPr>
          <p:nvPr>
            <p:ph type="dt" sz="half" idx="10"/>
          </p:nvPr>
        </p:nvSpPr>
        <p:spPr/>
        <p:txBody>
          <a:bodyPr/>
          <a:lstStyle/>
          <a:p>
            <a:fld id="{E5A32640-52C2-43A8-B38B-0F2BEE0F81A7}" type="datetimeFigureOut">
              <a:rPr lang="de-DE" smtClean="0"/>
              <a:t>27.06.2024</a:t>
            </a:fld>
            <a:endParaRPr lang="de-DE"/>
          </a:p>
        </p:txBody>
      </p:sp>
      <p:sp>
        <p:nvSpPr>
          <p:cNvPr id="5" name="Footer Placeholder 4">
            <a:extLst>
              <a:ext uri="{FF2B5EF4-FFF2-40B4-BE49-F238E27FC236}">
                <a16:creationId xmlns:a16="http://schemas.microsoft.com/office/drawing/2014/main" id="{2D8D2CBA-A200-4CCE-9758-9503E5B4EC4D}"/>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8E93D6B7-99AD-43AD-B0E6-89D0AF8E3EB8}"/>
              </a:ext>
            </a:extLst>
          </p:cNvPr>
          <p:cNvSpPr>
            <a:spLocks noGrp="1"/>
          </p:cNvSpPr>
          <p:nvPr>
            <p:ph type="sldNum" sz="quarter" idx="12"/>
          </p:nvPr>
        </p:nvSpPr>
        <p:spPr/>
        <p:txBody>
          <a:bodyPr/>
          <a:lstStyle/>
          <a:p>
            <a:fld id="{6C8C83D0-936D-4890-83B2-0A7B47C5FC58}" type="slidenum">
              <a:rPr lang="de-DE" smtClean="0"/>
              <a:t>‹#›</a:t>
            </a:fld>
            <a:endParaRPr lang="de-DE"/>
          </a:p>
        </p:txBody>
      </p:sp>
    </p:spTree>
    <p:extLst>
      <p:ext uri="{BB962C8B-B14F-4D97-AF65-F5344CB8AC3E}">
        <p14:creationId xmlns:p14="http://schemas.microsoft.com/office/powerpoint/2010/main" val="2532893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E3BF19-576D-44C2-9439-A088F2D42B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40C4CA2-F949-4350-8E53-C056192B11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0BB52BC-7814-4C60-BB53-55B92D385366}"/>
              </a:ext>
            </a:extLst>
          </p:cNvPr>
          <p:cNvSpPr>
            <a:spLocks noGrp="1"/>
          </p:cNvSpPr>
          <p:nvPr>
            <p:ph type="dt" sz="half" idx="10"/>
          </p:nvPr>
        </p:nvSpPr>
        <p:spPr/>
        <p:txBody>
          <a:bodyPr/>
          <a:lstStyle/>
          <a:p>
            <a:fld id="{E5A32640-52C2-43A8-B38B-0F2BEE0F81A7}" type="datetimeFigureOut">
              <a:rPr lang="de-DE" smtClean="0"/>
              <a:t>27.06.2024</a:t>
            </a:fld>
            <a:endParaRPr lang="de-DE"/>
          </a:p>
        </p:txBody>
      </p:sp>
      <p:sp>
        <p:nvSpPr>
          <p:cNvPr id="5" name="Footer Placeholder 4">
            <a:extLst>
              <a:ext uri="{FF2B5EF4-FFF2-40B4-BE49-F238E27FC236}">
                <a16:creationId xmlns:a16="http://schemas.microsoft.com/office/drawing/2014/main" id="{225E364B-D376-49B1-825C-F8160981BFE1}"/>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D6A9BAF6-D9D2-4574-9493-911FFD90010B}"/>
              </a:ext>
            </a:extLst>
          </p:cNvPr>
          <p:cNvSpPr>
            <a:spLocks noGrp="1"/>
          </p:cNvSpPr>
          <p:nvPr>
            <p:ph type="sldNum" sz="quarter" idx="12"/>
          </p:nvPr>
        </p:nvSpPr>
        <p:spPr/>
        <p:txBody>
          <a:bodyPr/>
          <a:lstStyle/>
          <a:p>
            <a:fld id="{6C8C83D0-936D-4890-83B2-0A7B47C5FC58}" type="slidenum">
              <a:rPr lang="de-DE" smtClean="0"/>
              <a:t>‹#›</a:t>
            </a:fld>
            <a:endParaRPr lang="de-DE"/>
          </a:p>
        </p:txBody>
      </p:sp>
    </p:spTree>
    <p:extLst>
      <p:ext uri="{BB962C8B-B14F-4D97-AF65-F5344CB8AC3E}">
        <p14:creationId xmlns:p14="http://schemas.microsoft.com/office/powerpoint/2010/main" val="4153944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70BB3C-CE6E-4335-B1A4-9CEA99D774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A23429F-657A-44B7-87BA-75B0C5B549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787F229-0E52-436F-84F0-A6596C0E91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A32640-52C2-43A8-B38B-0F2BEE0F81A7}" type="datetimeFigureOut">
              <a:rPr lang="de-DE" smtClean="0"/>
              <a:t>27.06.2024</a:t>
            </a:fld>
            <a:endParaRPr lang="de-DE"/>
          </a:p>
        </p:txBody>
      </p:sp>
      <p:sp>
        <p:nvSpPr>
          <p:cNvPr id="5" name="Footer Placeholder 4">
            <a:extLst>
              <a:ext uri="{FF2B5EF4-FFF2-40B4-BE49-F238E27FC236}">
                <a16:creationId xmlns:a16="http://schemas.microsoft.com/office/drawing/2014/main" id="{9B968BE3-1890-48A8-9A22-03FF4B1EE6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Slide Number Placeholder 5">
            <a:extLst>
              <a:ext uri="{FF2B5EF4-FFF2-40B4-BE49-F238E27FC236}">
                <a16:creationId xmlns:a16="http://schemas.microsoft.com/office/drawing/2014/main" id="{1F9B0CF7-CC46-495E-A771-D0B1F7A3DD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8C83D0-936D-4890-83B2-0A7B47C5FC58}" type="slidenum">
              <a:rPr lang="de-DE" smtClean="0"/>
              <a:t>‹#›</a:t>
            </a:fld>
            <a:endParaRPr lang="de-DE"/>
          </a:p>
        </p:txBody>
      </p:sp>
    </p:spTree>
    <p:extLst>
      <p:ext uri="{BB962C8B-B14F-4D97-AF65-F5344CB8AC3E}">
        <p14:creationId xmlns:p14="http://schemas.microsoft.com/office/powerpoint/2010/main" val="2697467771"/>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2.jp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B5946662-5238-4F1B-818F-877C5E9E86F4}"/>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208484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mt="0"/>
          </a:blip>
          <a:tile tx="0" ty="0" sx="100000" sy="100000" flip="none" algn="tl"/>
        </a:blipFill>
        <a:effectLst/>
      </p:bgPr>
    </p:bg>
    <p:spTree>
      <p:nvGrpSpPr>
        <p:cNvPr id="1" name=""/>
        <p:cNvGrpSpPr/>
        <p:nvPr/>
      </p:nvGrpSpPr>
      <p:grpSpPr>
        <a:xfrm>
          <a:off x="0" y="0"/>
          <a:ext cx="0" cy="0"/>
          <a:chOff x="0" y="0"/>
          <a:chExt cx="0" cy="0"/>
        </a:xfrm>
      </p:grpSpPr>
      <p:pic>
        <p:nvPicPr>
          <p:cNvPr id="5124" name="Picture 4" descr="Вопросительный Знак 3d Синий Пункт Допроса Мышления Планирования Мужчин  Просят Человека — стоковые фотографии и другие картинки Вопросительный знак  - iStock">
            <a:extLst>
              <a:ext uri="{FF2B5EF4-FFF2-40B4-BE49-F238E27FC236}">
                <a16:creationId xmlns:a16="http://schemas.microsoft.com/office/drawing/2014/main" id="{A84F1239-D619-483D-BB92-3B0111FF36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4160" y="1054980"/>
            <a:ext cx="4848225" cy="3228975"/>
          </a:xfrm>
          <a:prstGeom prst="rect">
            <a:avLst/>
          </a:prstGeom>
          <a:noFill/>
          <a:effectLst>
            <a:outerShdw blurRad="50800" dist="50800" dir="5400000" sx="1000" sy="1000" algn="ctr" rotWithShape="0">
              <a:srgbClr val="000000">
                <a:alpha val="0"/>
              </a:srgbClr>
            </a:outerShdw>
          </a:effectLst>
          <a:extLst>
            <a:ext uri="{909E8E84-426E-40DD-AFC4-6F175D3DCCD1}">
              <a14:hiddenFill xmlns:a14="http://schemas.microsoft.com/office/drawing/2010/main">
                <a:solidFill>
                  <a:srgbClr val="FFFFFF"/>
                </a:solidFill>
              </a14:hiddenFill>
            </a:ext>
          </a:extLst>
        </p:spPr>
      </p:pic>
      <p:sp>
        <p:nvSpPr>
          <p:cNvPr id="3" name="Inhaltsplatzhalter 2">
            <a:extLst>
              <a:ext uri="{FF2B5EF4-FFF2-40B4-BE49-F238E27FC236}">
                <a16:creationId xmlns:a16="http://schemas.microsoft.com/office/drawing/2014/main" id="{B54F57C3-44EB-482B-AB8C-331D7070CD8F}"/>
              </a:ext>
            </a:extLst>
          </p:cNvPr>
          <p:cNvSpPr>
            <a:spLocks noGrp="1"/>
          </p:cNvSpPr>
          <p:nvPr>
            <p:ph idx="1"/>
          </p:nvPr>
        </p:nvSpPr>
        <p:spPr>
          <a:xfrm>
            <a:off x="838200" y="2843718"/>
            <a:ext cx="8852731" cy="2283753"/>
          </a:xfrm>
        </p:spPr>
        <p:txBody>
          <a:bodyPr>
            <a:normAutofit/>
          </a:bodyPr>
          <a:lstStyle/>
          <a:p>
            <a:r>
              <a:rPr lang="de-DE" sz="2400"/>
              <a:t>Vorname: </a:t>
            </a:r>
            <a:r>
              <a:rPr lang="en-DE" sz="2400"/>
              <a:t>xxxxxxx</a:t>
            </a:r>
            <a:r>
              <a:rPr lang="de-DE" sz="2400"/>
              <a:t> </a:t>
            </a:r>
          </a:p>
          <a:p>
            <a:r>
              <a:rPr lang="de-DE" sz="2400"/>
              <a:t>Nachname: </a:t>
            </a:r>
            <a:r>
              <a:rPr lang="en-DE" sz="2400"/>
              <a:t>xxxxxxxxx</a:t>
            </a:r>
            <a:endParaRPr lang="de-DE" sz="2400"/>
          </a:p>
          <a:p>
            <a:r>
              <a:rPr lang="de-DE" sz="2400"/>
              <a:t>seit 2016 bin in Deutschland angekommen</a:t>
            </a:r>
          </a:p>
          <a:p>
            <a:r>
              <a:rPr lang="de-DE" sz="2400"/>
              <a:t>seit 04.07.2022: Ausbildung - bei der  </a:t>
            </a:r>
            <a:r>
              <a:rPr lang="de-DE" sz="2600"/>
              <a:t>IAD GmbH/Erfurt</a:t>
            </a:r>
          </a:p>
          <a:p>
            <a:pPr marL="457200" lvl="1" indent="0">
              <a:buNone/>
            </a:pPr>
            <a:r>
              <a:rPr lang="de-DE" b="1">
                <a:solidFill>
                  <a:srgbClr val="FF0000"/>
                </a:solidFill>
              </a:rPr>
              <a:t>Fachinformatiker für Anwendungsentwicklung </a:t>
            </a:r>
            <a:r>
              <a:rPr lang="de-DE" sz="2000" b="1"/>
              <a:t>mit </a:t>
            </a:r>
            <a:r>
              <a:rPr lang="de-DE" sz="2000" b="1">
                <a:solidFill>
                  <a:srgbClr val="FF0000"/>
                </a:solidFill>
              </a:rPr>
              <a:t>IHK</a:t>
            </a:r>
            <a:r>
              <a:rPr lang="de-DE" sz="2000" b="1"/>
              <a:t>-Abschluss</a:t>
            </a:r>
            <a:endParaRPr lang="de-DE" b="1"/>
          </a:p>
        </p:txBody>
      </p:sp>
      <p:pic>
        <p:nvPicPr>
          <p:cNvPr id="5" name="Grafik 4">
            <a:extLst>
              <a:ext uri="{FF2B5EF4-FFF2-40B4-BE49-F238E27FC236}">
                <a16:creationId xmlns:a16="http://schemas.microsoft.com/office/drawing/2014/main" id="{A6B10D1B-8D07-488B-A5F7-FAF716B7E66A}"/>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
                    </a14:imgEffect>
                  </a14:imgLayer>
                </a14:imgProps>
              </a:ext>
              <a:ext uri="{28A0092B-C50C-407E-A947-70E740481C1C}">
                <a14:useLocalDpi xmlns:a14="http://schemas.microsoft.com/office/drawing/2010/main" val="0"/>
              </a:ext>
            </a:extLst>
          </a:blip>
          <a:stretch>
            <a:fillRect/>
          </a:stretch>
        </p:blipFill>
        <p:spPr>
          <a:xfrm>
            <a:off x="4865221" y="5301721"/>
            <a:ext cx="1571625" cy="952500"/>
          </a:xfrm>
          <a:prstGeom prst="rect">
            <a:avLst/>
          </a:prstGeom>
          <a:effectLst>
            <a:glow>
              <a:schemeClr val="accent1">
                <a:alpha val="40000"/>
              </a:schemeClr>
            </a:glow>
            <a:softEdge rad="0"/>
          </a:effectLst>
        </p:spPr>
      </p:pic>
      <p:sp>
        <p:nvSpPr>
          <p:cNvPr id="24" name="Rechteck 23">
            <a:extLst>
              <a:ext uri="{FF2B5EF4-FFF2-40B4-BE49-F238E27FC236}">
                <a16:creationId xmlns:a16="http://schemas.microsoft.com/office/drawing/2014/main" id="{57918566-6318-4C7F-9040-64A8A38D49A5}"/>
              </a:ext>
            </a:extLst>
          </p:cNvPr>
          <p:cNvSpPr/>
          <p:nvPr/>
        </p:nvSpPr>
        <p:spPr>
          <a:xfrm>
            <a:off x="60304" y="228505"/>
            <a:ext cx="1943427" cy="124402"/>
          </a:xfrm>
          <a:prstGeom prst="rect">
            <a:avLst/>
          </a:prstGeom>
          <a:gradFill>
            <a:gsLst>
              <a:gs pos="46000">
                <a:schemeClr val="accent1">
                  <a:lumMod val="12000"/>
                  <a:lumOff val="88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alpha val="0"/>
              </a:schemeClr>
            </a:solidFill>
            <a:round/>
          </a:ln>
          <a:effectLst>
            <a:glow rad="101600">
              <a:schemeClr val="accent1">
                <a:lumMod val="20000"/>
                <a:lumOff val="80000"/>
                <a:alpha val="99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6" name="Rechteck 25">
            <a:extLst>
              <a:ext uri="{FF2B5EF4-FFF2-40B4-BE49-F238E27FC236}">
                <a16:creationId xmlns:a16="http://schemas.microsoft.com/office/drawing/2014/main" id="{FAD4AC3A-732B-4B30-BEB6-F43A70CEB8C4}"/>
              </a:ext>
            </a:extLst>
          </p:cNvPr>
          <p:cNvSpPr/>
          <p:nvPr/>
        </p:nvSpPr>
        <p:spPr>
          <a:xfrm>
            <a:off x="2078280"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ffectLst>
                <a:glow rad="228600">
                  <a:schemeClr val="accent1">
                    <a:satMod val="175000"/>
                    <a:alpha val="40000"/>
                  </a:schemeClr>
                </a:glow>
              </a:effectLst>
            </a:endParaRPr>
          </a:p>
        </p:txBody>
      </p:sp>
      <p:sp>
        <p:nvSpPr>
          <p:cNvPr id="27" name="Rechteck 26">
            <a:extLst>
              <a:ext uri="{FF2B5EF4-FFF2-40B4-BE49-F238E27FC236}">
                <a16:creationId xmlns:a16="http://schemas.microsoft.com/office/drawing/2014/main" id="{A2D63D3C-24C4-4086-9E82-6F636A46BD61}"/>
              </a:ext>
            </a:extLst>
          </p:cNvPr>
          <p:cNvSpPr/>
          <p:nvPr/>
        </p:nvSpPr>
        <p:spPr>
          <a:xfrm>
            <a:off x="4097347" y="130220"/>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28" name="Rechteck 27">
            <a:extLst>
              <a:ext uri="{FF2B5EF4-FFF2-40B4-BE49-F238E27FC236}">
                <a16:creationId xmlns:a16="http://schemas.microsoft.com/office/drawing/2014/main" id="{EB3378DC-33A9-4993-84B8-98514A680E5C}"/>
              </a:ext>
            </a:extLst>
          </p:cNvPr>
          <p:cNvSpPr/>
          <p:nvPr/>
        </p:nvSpPr>
        <p:spPr>
          <a:xfrm>
            <a:off x="6116414"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9" name="Rechteck 28">
            <a:extLst>
              <a:ext uri="{FF2B5EF4-FFF2-40B4-BE49-F238E27FC236}">
                <a16:creationId xmlns:a16="http://schemas.microsoft.com/office/drawing/2014/main" id="{64516BD0-AEC2-4AB9-9420-048B0B1DCFD6}"/>
              </a:ext>
            </a:extLst>
          </p:cNvPr>
          <p:cNvSpPr/>
          <p:nvPr/>
        </p:nvSpPr>
        <p:spPr>
          <a:xfrm>
            <a:off x="8135481"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0" name="Rechteck 29">
            <a:extLst>
              <a:ext uri="{FF2B5EF4-FFF2-40B4-BE49-F238E27FC236}">
                <a16:creationId xmlns:a16="http://schemas.microsoft.com/office/drawing/2014/main" id="{9EE3401E-9D2D-4C38-8A6D-C9854B7DCE10}"/>
              </a:ext>
            </a:extLst>
          </p:cNvPr>
          <p:cNvSpPr/>
          <p:nvPr/>
        </p:nvSpPr>
        <p:spPr>
          <a:xfrm>
            <a:off x="1014895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2" name="Rechteck 31">
            <a:extLst>
              <a:ext uri="{FF2B5EF4-FFF2-40B4-BE49-F238E27FC236}">
                <a16:creationId xmlns:a16="http://schemas.microsoft.com/office/drawing/2014/main" id="{95A41F86-5BA7-4E07-931D-3B490BE4C09C}"/>
              </a:ext>
            </a:extLst>
          </p:cNvPr>
          <p:cNvSpPr/>
          <p:nvPr/>
        </p:nvSpPr>
        <p:spPr>
          <a:xfrm>
            <a:off x="60304" y="382304"/>
            <a:ext cx="1644731" cy="461665"/>
          </a:xfrm>
          <a:prstGeom prst="rect">
            <a:avLst/>
          </a:prstGeom>
          <a:noFill/>
        </p:spPr>
        <p:txBody>
          <a:bodyPr wrap="square" lIns="91440" tIns="45720" rIns="91440" bIns="45720">
            <a:spAutoFit/>
          </a:bodyPr>
          <a:lstStyle/>
          <a:p>
            <a:pPr algn="ctr"/>
            <a:r>
              <a:rPr lang="de-DE" sz="2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Vorstellung</a:t>
            </a:r>
            <a:endParaRPr lang="de-DE" sz="3200" b="1">
              <a:ln w="9525">
                <a:solidFill>
                  <a:schemeClr val="bg1"/>
                </a:solidFill>
                <a:prstDash val="solid"/>
              </a:ln>
              <a:effectLst>
                <a:outerShdw blurRad="12700" dist="38100" dir="2700000" algn="tl" rotWithShape="0">
                  <a:schemeClr val="bg1">
                    <a:lumMod val="50000"/>
                  </a:schemeClr>
                </a:outerShdw>
              </a:effectLst>
            </a:endParaRPr>
          </a:p>
        </p:txBody>
      </p:sp>
      <p:sp>
        <p:nvSpPr>
          <p:cNvPr id="41" name="Textfeld 40">
            <a:extLst>
              <a:ext uri="{FF2B5EF4-FFF2-40B4-BE49-F238E27FC236}">
                <a16:creationId xmlns:a16="http://schemas.microsoft.com/office/drawing/2014/main" id="{FC72126D-8A93-4A50-8123-CD6889F6BCDA}"/>
              </a:ext>
            </a:extLst>
          </p:cNvPr>
          <p:cNvSpPr txBox="1"/>
          <p:nvPr/>
        </p:nvSpPr>
        <p:spPr>
          <a:xfrm>
            <a:off x="10756544" y="307222"/>
            <a:ext cx="728254" cy="369332"/>
          </a:xfrm>
          <a:prstGeom prst="rect">
            <a:avLst/>
          </a:prstGeom>
          <a:noFill/>
        </p:spPr>
        <p:txBody>
          <a:bodyPr wrap="square" rtlCol="0">
            <a:spAutoFit/>
          </a:bodyPr>
          <a:lstStyle/>
          <a:p>
            <a:r>
              <a:rPr lang="de-DE"/>
              <a:t>Fazit</a:t>
            </a:r>
            <a:endParaRPr lang="de-DE" sz="1600"/>
          </a:p>
        </p:txBody>
      </p:sp>
      <p:sp>
        <p:nvSpPr>
          <p:cNvPr id="42" name="Textfeld 41">
            <a:extLst>
              <a:ext uri="{FF2B5EF4-FFF2-40B4-BE49-F238E27FC236}">
                <a16:creationId xmlns:a16="http://schemas.microsoft.com/office/drawing/2014/main" id="{C32E0310-F1DA-4CE5-8850-6B6D19ACF09B}"/>
              </a:ext>
            </a:extLst>
          </p:cNvPr>
          <p:cNvSpPr txBox="1"/>
          <p:nvPr/>
        </p:nvSpPr>
        <p:spPr>
          <a:xfrm>
            <a:off x="8198303" y="307222"/>
            <a:ext cx="2208670" cy="646331"/>
          </a:xfrm>
          <a:prstGeom prst="rect">
            <a:avLst/>
          </a:prstGeom>
          <a:noFill/>
        </p:spPr>
        <p:txBody>
          <a:bodyPr wrap="square" rtlCol="0">
            <a:spAutoFit/>
          </a:bodyPr>
          <a:lstStyle/>
          <a:p>
            <a:r>
              <a:rPr lang="de-DE"/>
              <a:t>Implementierungs-</a:t>
            </a:r>
          </a:p>
          <a:p>
            <a:r>
              <a:rPr lang="de-DE"/>
              <a:t>phase</a:t>
            </a:r>
            <a:endParaRPr lang="de-DE" sz="1600"/>
          </a:p>
        </p:txBody>
      </p:sp>
      <p:sp>
        <p:nvSpPr>
          <p:cNvPr id="44" name="Textfeld 43">
            <a:extLst>
              <a:ext uri="{FF2B5EF4-FFF2-40B4-BE49-F238E27FC236}">
                <a16:creationId xmlns:a16="http://schemas.microsoft.com/office/drawing/2014/main" id="{20F85CCA-3E15-4D9C-B186-6C68CCE03401}"/>
              </a:ext>
            </a:extLst>
          </p:cNvPr>
          <p:cNvSpPr txBox="1"/>
          <p:nvPr/>
        </p:nvSpPr>
        <p:spPr>
          <a:xfrm>
            <a:off x="4297423" y="307222"/>
            <a:ext cx="1490433" cy="369332"/>
          </a:xfrm>
          <a:prstGeom prst="rect">
            <a:avLst/>
          </a:prstGeom>
          <a:noFill/>
        </p:spPr>
        <p:txBody>
          <a:bodyPr wrap="square" rtlCol="0">
            <a:spAutoFit/>
          </a:bodyPr>
          <a:lstStyle/>
          <a:p>
            <a:r>
              <a:rPr lang="de-DE"/>
              <a:t>Analysephase</a:t>
            </a:r>
          </a:p>
        </p:txBody>
      </p:sp>
      <p:sp>
        <p:nvSpPr>
          <p:cNvPr id="45" name="Textfeld 44">
            <a:extLst>
              <a:ext uri="{FF2B5EF4-FFF2-40B4-BE49-F238E27FC236}">
                <a16:creationId xmlns:a16="http://schemas.microsoft.com/office/drawing/2014/main" id="{BE509B18-2DA2-4142-AE40-F59B8AE25BDF}"/>
              </a:ext>
            </a:extLst>
          </p:cNvPr>
          <p:cNvSpPr txBox="1"/>
          <p:nvPr/>
        </p:nvSpPr>
        <p:spPr>
          <a:xfrm>
            <a:off x="2235510" y="307222"/>
            <a:ext cx="1762801" cy="369332"/>
          </a:xfrm>
          <a:prstGeom prst="rect">
            <a:avLst/>
          </a:prstGeom>
          <a:noFill/>
        </p:spPr>
        <p:txBody>
          <a:bodyPr wrap="square" rtlCol="0">
            <a:spAutoFit/>
          </a:bodyPr>
          <a:lstStyle/>
          <a:p>
            <a:r>
              <a:rPr lang="de-DE"/>
              <a:t>Projekt-Planung</a:t>
            </a:r>
            <a:endParaRPr lang="de-DE" sz="2000"/>
          </a:p>
        </p:txBody>
      </p:sp>
      <p:sp>
        <p:nvSpPr>
          <p:cNvPr id="2" name="TextBox 1">
            <a:extLst>
              <a:ext uri="{FF2B5EF4-FFF2-40B4-BE49-F238E27FC236}">
                <a16:creationId xmlns:a16="http://schemas.microsoft.com/office/drawing/2014/main" id="{AF560A0F-C0F7-474B-A5A6-D39E005E9144}"/>
              </a:ext>
            </a:extLst>
          </p:cNvPr>
          <p:cNvSpPr txBox="1"/>
          <p:nvPr/>
        </p:nvSpPr>
        <p:spPr>
          <a:xfrm>
            <a:off x="421382" y="1244369"/>
            <a:ext cx="2375843" cy="646331"/>
          </a:xfrm>
          <a:prstGeom prst="rect">
            <a:avLst/>
          </a:prstGeom>
          <a:noFill/>
        </p:spPr>
        <p:txBody>
          <a:bodyPr wrap="none" rtlCol="0">
            <a:spAutoFit/>
          </a:bodyPr>
          <a:lstStyle/>
          <a:p>
            <a:pPr marL="457200" indent="-457200">
              <a:buFont typeface="Wingdings" panose="05000000000000000000" pitchFamily="2" charset="2"/>
              <a:buChar char="Ø"/>
            </a:pPr>
            <a:r>
              <a:rPr lang="en-DE" sz="3600" b="1"/>
              <a:t>Auskunft</a:t>
            </a:r>
            <a:endParaRPr lang="en-CA" b="1"/>
          </a:p>
        </p:txBody>
      </p:sp>
      <p:sp>
        <p:nvSpPr>
          <p:cNvPr id="18" name="Textfeld 13">
            <a:extLst>
              <a:ext uri="{FF2B5EF4-FFF2-40B4-BE49-F238E27FC236}">
                <a16:creationId xmlns:a16="http://schemas.microsoft.com/office/drawing/2014/main" id="{2F35C5E0-8968-49C6-B170-0FFE9345AB36}"/>
              </a:ext>
            </a:extLst>
          </p:cNvPr>
          <p:cNvSpPr txBox="1"/>
          <p:nvPr/>
        </p:nvSpPr>
        <p:spPr>
          <a:xfrm>
            <a:off x="6222903" y="313448"/>
            <a:ext cx="1625829" cy="369332"/>
          </a:xfrm>
          <a:prstGeom prst="rect">
            <a:avLst/>
          </a:prstGeom>
          <a:noFill/>
        </p:spPr>
        <p:txBody>
          <a:bodyPr wrap="square" rtlCol="0">
            <a:spAutoFit/>
          </a:bodyPr>
          <a:lstStyle/>
          <a:p>
            <a:r>
              <a:rPr lang="de-DE"/>
              <a:t>Entwurf</a:t>
            </a:r>
            <a:r>
              <a:rPr lang="en-DE"/>
              <a:t>s</a:t>
            </a:r>
            <a:r>
              <a:rPr lang="de-DE"/>
              <a:t>phase</a:t>
            </a:r>
          </a:p>
        </p:txBody>
      </p:sp>
    </p:spTree>
    <p:extLst>
      <p:ext uri="{BB962C8B-B14F-4D97-AF65-F5344CB8AC3E}">
        <p14:creationId xmlns:p14="http://schemas.microsoft.com/office/powerpoint/2010/main" val="642415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157ADA1-3388-4EBC-8FC2-D199C17A9174}"/>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011459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3D Isometric Flat Vector Conceptual Illustration of ERP - Enterprise Resource Planning, Business Automation and Innovation">
            <a:extLst>
              <a:ext uri="{FF2B5EF4-FFF2-40B4-BE49-F238E27FC236}">
                <a16:creationId xmlns:a16="http://schemas.microsoft.com/office/drawing/2014/main" id="{73A84A12-6792-4725-8305-0A03998818E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29" r="-95" b="6404"/>
          <a:stretch/>
        </p:blipFill>
        <p:spPr bwMode="auto">
          <a:xfrm>
            <a:off x="1387962" y="1959064"/>
            <a:ext cx="9021083" cy="4670431"/>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a:extLst>
            <a:ext uri="{909E8E84-426E-40DD-AFC4-6F175D3DCCD1}">
              <a14:hiddenFill xmlns:a14="http://schemas.microsoft.com/office/drawing/2010/main">
                <a:solidFill>
                  <a:srgbClr val="FFFFFF"/>
                </a:solidFill>
              </a14:hiddenFill>
            </a:ext>
          </a:extLst>
        </p:spPr>
      </p:pic>
      <p:sp>
        <p:nvSpPr>
          <p:cNvPr id="5" name="Rechteck 4">
            <a:extLst>
              <a:ext uri="{FF2B5EF4-FFF2-40B4-BE49-F238E27FC236}">
                <a16:creationId xmlns:a16="http://schemas.microsoft.com/office/drawing/2014/main" id="{8396A0E5-7065-40AB-9991-2CFB64BC081C}"/>
              </a:ext>
            </a:extLst>
          </p:cNvPr>
          <p:cNvSpPr/>
          <p:nvPr/>
        </p:nvSpPr>
        <p:spPr>
          <a:xfrm>
            <a:off x="676337" y="1173187"/>
            <a:ext cx="10444334" cy="523220"/>
          </a:xfrm>
          <a:prstGeom prst="rect">
            <a:avLst/>
          </a:prstGeom>
          <a:noFill/>
        </p:spPr>
        <p:txBody>
          <a:bodyPr wrap="none" lIns="91440" tIns="45720" rIns="91440" bIns="45720">
            <a:spAutoFit/>
          </a:bodyPr>
          <a:lstStyle/>
          <a:p>
            <a:pPr algn="ctr"/>
            <a:r>
              <a:rPr lang="de-DE" sz="2800" b="1" cap="none" spc="0">
                <a:ln w="13462">
                  <a:solidFill>
                    <a:schemeClr val="bg1"/>
                  </a:solidFill>
                  <a:prstDash val="solid"/>
                </a:ln>
                <a:solidFill>
                  <a:schemeClr val="tx1">
                    <a:lumMod val="85000"/>
                    <a:lumOff val="15000"/>
                  </a:schemeClr>
                </a:solidFill>
                <a:effectLst>
                  <a:outerShdw dist="38100" dir="2700000" algn="bl" rotWithShape="0">
                    <a:schemeClr val="accent5"/>
                  </a:outerShdw>
                </a:effectLst>
              </a:rPr>
              <a:t>ERP: Unternehmensressourcenplanung (Enterprise Resource Planing)</a:t>
            </a:r>
          </a:p>
        </p:txBody>
      </p:sp>
      <p:sp>
        <p:nvSpPr>
          <p:cNvPr id="4" name="Rechteck 3">
            <a:extLst>
              <a:ext uri="{FF2B5EF4-FFF2-40B4-BE49-F238E27FC236}">
                <a16:creationId xmlns:a16="http://schemas.microsoft.com/office/drawing/2014/main" id="{CBAFBF22-05F0-4516-A83A-6513164B2A37}"/>
              </a:ext>
            </a:extLst>
          </p:cNvPr>
          <p:cNvSpPr/>
          <p:nvPr/>
        </p:nvSpPr>
        <p:spPr>
          <a:xfrm>
            <a:off x="60304" y="228505"/>
            <a:ext cx="1943427" cy="124402"/>
          </a:xfrm>
          <a:prstGeom prst="rect">
            <a:avLst/>
          </a:prstGeom>
          <a:gradFill>
            <a:gsLst>
              <a:gs pos="46000">
                <a:schemeClr val="accent1">
                  <a:lumMod val="12000"/>
                  <a:lumOff val="88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alpha val="0"/>
              </a:schemeClr>
            </a:solidFill>
            <a:round/>
          </a:ln>
          <a:effectLst>
            <a:glow rad="101600">
              <a:schemeClr val="accent1">
                <a:lumMod val="20000"/>
                <a:lumOff val="80000"/>
                <a:alpha val="99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6" name="Rechteck 5">
            <a:extLst>
              <a:ext uri="{FF2B5EF4-FFF2-40B4-BE49-F238E27FC236}">
                <a16:creationId xmlns:a16="http://schemas.microsoft.com/office/drawing/2014/main" id="{4F2C58EC-F953-40B4-9069-66B780FD6661}"/>
              </a:ext>
            </a:extLst>
          </p:cNvPr>
          <p:cNvSpPr/>
          <p:nvPr/>
        </p:nvSpPr>
        <p:spPr>
          <a:xfrm>
            <a:off x="2078280"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ffectLst>
                <a:glow rad="228600">
                  <a:schemeClr val="accent1">
                    <a:satMod val="175000"/>
                    <a:alpha val="40000"/>
                  </a:schemeClr>
                </a:glow>
              </a:effectLst>
            </a:endParaRPr>
          </a:p>
        </p:txBody>
      </p:sp>
      <p:sp>
        <p:nvSpPr>
          <p:cNvPr id="7" name="Rechteck 6">
            <a:extLst>
              <a:ext uri="{FF2B5EF4-FFF2-40B4-BE49-F238E27FC236}">
                <a16:creationId xmlns:a16="http://schemas.microsoft.com/office/drawing/2014/main" id="{9549B8A4-9DB2-4F72-AEBA-50A3A5AB3BEC}"/>
              </a:ext>
            </a:extLst>
          </p:cNvPr>
          <p:cNvSpPr/>
          <p:nvPr/>
        </p:nvSpPr>
        <p:spPr>
          <a:xfrm>
            <a:off x="4097347" y="130220"/>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8" name="Rechteck 7">
            <a:extLst>
              <a:ext uri="{FF2B5EF4-FFF2-40B4-BE49-F238E27FC236}">
                <a16:creationId xmlns:a16="http://schemas.microsoft.com/office/drawing/2014/main" id="{0727ED74-C3E5-4296-85EC-91A9331ECB34}"/>
              </a:ext>
            </a:extLst>
          </p:cNvPr>
          <p:cNvSpPr/>
          <p:nvPr/>
        </p:nvSpPr>
        <p:spPr>
          <a:xfrm>
            <a:off x="6116414"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9" name="Rechteck 8">
            <a:extLst>
              <a:ext uri="{FF2B5EF4-FFF2-40B4-BE49-F238E27FC236}">
                <a16:creationId xmlns:a16="http://schemas.microsoft.com/office/drawing/2014/main" id="{2E00102A-98E5-47D3-8239-B2733D130584}"/>
              </a:ext>
            </a:extLst>
          </p:cNvPr>
          <p:cNvSpPr/>
          <p:nvPr/>
        </p:nvSpPr>
        <p:spPr>
          <a:xfrm>
            <a:off x="8135481"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0" name="Rechteck 9">
            <a:extLst>
              <a:ext uri="{FF2B5EF4-FFF2-40B4-BE49-F238E27FC236}">
                <a16:creationId xmlns:a16="http://schemas.microsoft.com/office/drawing/2014/main" id="{17FDCF8C-3979-4C16-B362-A667BCBEB42F}"/>
              </a:ext>
            </a:extLst>
          </p:cNvPr>
          <p:cNvSpPr/>
          <p:nvPr/>
        </p:nvSpPr>
        <p:spPr>
          <a:xfrm>
            <a:off x="1014895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1" name="Rechteck 10">
            <a:extLst>
              <a:ext uri="{FF2B5EF4-FFF2-40B4-BE49-F238E27FC236}">
                <a16:creationId xmlns:a16="http://schemas.microsoft.com/office/drawing/2014/main" id="{D9F0CE3E-1BD5-43F6-8B24-9F87DAA454C0}"/>
              </a:ext>
            </a:extLst>
          </p:cNvPr>
          <p:cNvSpPr/>
          <p:nvPr/>
        </p:nvSpPr>
        <p:spPr>
          <a:xfrm>
            <a:off x="60304" y="382304"/>
            <a:ext cx="1644731" cy="461665"/>
          </a:xfrm>
          <a:prstGeom prst="rect">
            <a:avLst/>
          </a:prstGeom>
          <a:noFill/>
        </p:spPr>
        <p:txBody>
          <a:bodyPr wrap="square" lIns="91440" tIns="45720" rIns="91440" bIns="45720">
            <a:spAutoFit/>
          </a:bodyPr>
          <a:lstStyle/>
          <a:p>
            <a:pPr algn="ctr"/>
            <a:r>
              <a:rPr lang="de-DE" sz="2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Vorstellung</a:t>
            </a:r>
            <a:endParaRPr lang="de-DE" sz="3200" b="1">
              <a:ln w="9525">
                <a:solidFill>
                  <a:schemeClr val="bg1"/>
                </a:solidFill>
                <a:prstDash val="solid"/>
              </a:ln>
              <a:effectLst>
                <a:outerShdw blurRad="12700" dist="38100" dir="2700000" algn="tl" rotWithShape="0">
                  <a:schemeClr val="bg1">
                    <a:lumMod val="50000"/>
                  </a:schemeClr>
                </a:outerShdw>
              </a:effectLst>
            </a:endParaRPr>
          </a:p>
        </p:txBody>
      </p:sp>
      <p:sp>
        <p:nvSpPr>
          <p:cNvPr id="12" name="Textfeld 11">
            <a:extLst>
              <a:ext uri="{FF2B5EF4-FFF2-40B4-BE49-F238E27FC236}">
                <a16:creationId xmlns:a16="http://schemas.microsoft.com/office/drawing/2014/main" id="{95CBC1A5-B333-434B-AD31-768B45705D60}"/>
              </a:ext>
            </a:extLst>
          </p:cNvPr>
          <p:cNvSpPr txBox="1"/>
          <p:nvPr/>
        </p:nvSpPr>
        <p:spPr>
          <a:xfrm>
            <a:off x="10756544" y="307222"/>
            <a:ext cx="728254" cy="369332"/>
          </a:xfrm>
          <a:prstGeom prst="rect">
            <a:avLst/>
          </a:prstGeom>
          <a:noFill/>
        </p:spPr>
        <p:txBody>
          <a:bodyPr wrap="square" rtlCol="0">
            <a:spAutoFit/>
          </a:bodyPr>
          <a:lstStyle/>
          <a:p>
            <a:r>
              <a:rPr lang="de-DE"/>
              <a:t>Fazit</a:t>
            </a:r>
            <a:endParaRPr lang="de-DE" sz="1600"/>
          </a:p>
        </p:txBody>
      </p:sp>
      <p:sp>
        <p:nvSpPr>
          <p:cNvPr id="13" name="Textfeld 12">
            <a:extLst>
              <a:ext uri="{FF2B5EF4-FFF2-40B4-BE49-F238E27FC236}">
                <a16:creationId xmlns:a16="http://schemas.microsoft.com/office/drawing/2014/main" id="{4C6804F9-F8EC-4979-96C2-B8CD2FA51AF5}"/>
              </a:ext>
            </a:extLst>
          </p:cNvPr>
          <p:cNvSpPr txBox="1"/>
          <p:nvPr/>
        </p:nvSpPr>
        <p:spPr>
          <a:xfrm>
            <a:off x="8198303" y="307222"/>
            <a:ext cx="2208670" cy="646331"/>
          </a:xfrm>
          <a:prstGeom prst="rect">
            <a:avLst/>
          </a:prstGeom>
          <a:noFill/>
        </p:spPr>
        <p:txBody>
          <a:bodyPr wrap="square" rtlCol="0">
            <a:spAutoFit/>
          </a:bodyPr>
          <a:lstStyle/>
          <a:p>
            <a:r>
              <a:rPr lang="de-DE"/>
              <a:t>Implementierungs-</a:t>
            </a:r>
          </a:p>
          <a:p>
            <a:r>
              <a:rPr lang="de-DE"/>
              <a:t>phase</a:t>
            </a:r>
            <a:endParaRPr lang="de-DE" sz="1600"/>
          </a:p>
        </p:txBody>
      </p:sp>
      <p:sp>
        <p:nvSpPr>
          <p:cNvPr id="15" name="Textfeld 14">
            <a:extLst>
              <a:ext uri="{FF2B5EF4-FFF2-40B4-BE49-F238E27FC236}">
                <a16:creationId xmlns:a16="http://schemas.microsoft.com/office/drawing/2014/main" id="{5C790478-0FC9-4807-9C3F-873E223F9DA3}"/>
              </a:ext>
            </a:extLst>
          </p:cNvPr>
          <p:cNvSpPr txBox="1"/>
          <p:nvPr/>
        </p:nvSpPr>
        <p:spPr>
          <a:xfrm>
            <a:off x="4297423" y="307222"/>
            <a:ext cx="1490433" cy="369332"/>
          </a:xfrm>
          <a:prstGeom prst="rect">
            <a:avLst/>
          </a:prstGeom>
          <a:noFill/>
        </p:spPr>
        <p:txBody>
          <a:bodyPr wrap="square" rtlCol="0">
            <a:spAutoFit/>
          </a:bodyPr>
          <a:lstStyle/>
          <a:p>
            <a:r>
              <a:rPr lang="de-DE"/>
              <a:t>Analysephase</a:t>
            </a:r>
          </a:p>
        </p:txBody>
      </p:sp>
      <p:sp>
        <p:nvSpPr>
          <p:cNvPr id="16" name="Textfeld 15">
            <a:extLst>
              <a:ext uri="{FF2B5EF4-FFF2-40B4-BE49-F238E27FC236}">
                <a16:creationId xmlns:a16="http://schemas.microsoft.com/office/drawing/2014/main" id="{CA0226B9-F519-4411-8878-77105479C6D8}"/>
              </a:ext>
            </a:extLst>
          </p:cNvPr>
          <p:cNvSpPr txBox="1"/>
          <p:nvPr/>
        </p:nvSpPr>
        <p:spPr>
          <a:xfrm>
            <a:off x="2235510" y="307222"/>
            <a:ext cx="1762801" cy="369332"/>
          </a:xfrm>
          <a:prstGeom prst="rect">
            <a:avLst/>
          </a:prstGeom>
          <a:noFill/>
        </p:spPr>
        <p:txBody>
          <a:bodyPr wrap="square" rtlCol="0">
            <a:spAutoFit/>
          </a:bodyPr>
          <a:lstStyle/>
          <a:p>
            <a:r>
              <a:rPr lang="de-DE"/>
              <a:t>Projekt-Planung</a:t>
            </a:r>
            <a:endParaRPr lang="de-DE" sz="2000"/>
          </a:p>
        </p:txBody>
      </p:sp>
      <p:sp>
        <p:nvSpPr>
          <p:cNvPr id="17" name="Textfeld 13">
            <a:extLst>
              <a:ext uri="{FF2B5EF4-FFF2-40B4-BE49-F238E27FC236}">
                <a16:creationId xmlns:a16="http://schemas.microsoft.com/office/drawing/2014/main" id="{DA2B817D-B951-43C5-8441-EBB4B8CAE544}"/>
              </a:ext>
            </a:extLst>
          </p:cNvPr>
          <p:cNvSpPr txBox="1"/>
          <p:nvPr/>
        </p:nvSpPr>
        <p:spPr>
          <a:xfrm>
            <a:off x="6222903" y="313448"/>
            <a:ext cx="1625829" cy="369332"/>
          </a:xfrm>
          <a:prstGeom prst="rect">
            <a:avLst/>
          </a:prstGeom>
          <a:noFill/>
        </p:spPr>
        <p:txBody>
          <a:bodyPr wrap="square" rtlCol="0">
            <a:spAutoFit/>
          </a:bodyPr>
          <a:lstStyle/>
          <a:p>
            <a:r>
              <a:rPr lang="de-DE"/>
              <a:t>Entwurf</a:t>
            </a:r>
            <a:r>
              <a:rPr lang="en-DE"/>
              <a:t>s</a:t>
            </a:r>
            <a:r>
              <a:rPr lang="de-DE"/>
              <a:t>phase</a:t>
            </a:r>
          </a:p>
        </p:txBody>
      </p:sp>
    </p:spTree>
    <p:extLst>
      <p:ext uri="{BB962C8B-B14F-4D97-AF65-F5344CB8AC3E}">
        <p14:creationId xmlns:p14="http://schemas.microsoft.com/office/powerpoint/2010/main" val="1872585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2">
            <a:extLst>
              <a:ext uri="{FF2B5EF4-FFF2-40B4-BE49-F238E27FC236}">
                <a16:creationId xmlns:a16="http://schemas.microsoft.com/office/drawing/2014/main" id="{E7D68C65-27EA-4F2A-BEFA-7CD24D565154}"/>
              </a:ext>
            </a:extLst>
          </p:cNvPr>
          <p:cNvSpPr>
            <a:spLocks noGrp="1"/>
          </p:cNvSpPr>
          <p:nvPr>
            <p:ph idx="1"/>
          </p:nvPr>
        </p:nvSpPr>
        <p:spPr>
          <a:xfrm>
            <a:off x="1432466" y="1822938"/>
            <a:ext cx="5605136" cy="4497798"/>
          </a:xfrm>
        </p:spPr>
        <p:txBody>
          <a:bodyPr>
            <a:normAutofit fontScale="92500" lnSpcReduction="10000"/>
          </a:bodyPr>
          <a:lstStyle/>
          <a:p>
            <a:pPr lvl="1">
              <a:lnSpc>
                <a:spcPct val="70000"/>
              </a:lnSpc>
              <a:buClr>
                <a:srgbClr val="0070C0"/>
              </a:buClr>
              <a:buFont typeface="Wingdings" panose="05000000000000000000" pitchFamily="2" charset="2"/>
              <a:buChar char="q"/>
            </a:pPr>
            <a:r>
              <a:rPr lang="de-DE" sz="3200">
                <a:effectLst>
                  <a:outerShdw dist="50800" dir="2640000" sx="1000" sy="1000" algn="ctr" rotWithShape="0">
                    <a:srgbClr val="000000"/>
                  </a:outerShdw>
                </a:effectLst>
              </a:rPr>
              <a:t>Vorstellung</a:t>
            </a:r>
          </a:p>
          <a:p>
            <a:pPr>
              <a:lnSpc>
                <a:spcPct val="70000"/>
              </a:lnSpc>
              <a:buClr>
                <a:srgbClr val="0070C0"/>
              </a:buClr>
              <a:buFont typeface="Wingdings" panose="05000000000000000000" pitchFamily="2" charset="2"/>
              <a:buChar char="q"/>
            </a:pPr>
            <a:endParaRPr lang="de-DE" sz="4000">
              <a:effectLst>
                <a:outerShdw dist="50800" dir="2640000" sx="1000" sy="1000" algn="ctr" rotWithShape="0">
                  <a:srgbClr val="000000"/>
                </a:outerShdw>
              </a:effectLst>
            </a:endParaRPr>
          </a:p>
          <a:p>
            <a:pPr lvl="2">
              <a:lnSpc>
                <a:spcPct val="70000"/>
              </a:lnSpc>
              <a:buClr>
                <a:srgbClr val="0070C0"/>
              </a:buClr>
              <a:buFont typeface="Wingdings" panose="05000000000000000000" pitchFamily="2" charset="2"/>
              <a:buChar char="q"/>
            </a:pPr>
            <a:r>
              <a:rPr lang="de-DE" sz="3200">
                <a:effectLst>
                  <a:outerShdw dist="50800" dir="2640000" sx="1000" sy="1000" algn="ctr" rotWithShape="0">
                    <a:srgbClr val="000000"/>
                  </a:outerShdw>
                </a:effectLst>
              </a:rPr>
              <a:t>Projekt Planung</a:t>
            </a:r>
          </a:p>
          <a:p>
            <a:pPr>
              <a:lnSpc>
                <a:spcPct val="70000"/>
              </a:lnSpc>
              <a:buClr>
                <a:srgbClr val="0070C0"/>
              </a:buClr>
              <a:buFont typeface="Wingdings" panose="05000000000000000000" pitchFamily="2" charset="2"/>
              <a:buChar char="q"/>
            </a:pPr>
            <a:endParaRPr lang="de-DE" sz="4000">
              <a:effectLst>
                <a:outerShdw dist="50800" dir="2640000" sx="1000" sy="1000" algn="ctr" rotWithShape="0">
                  <a:srgbClr val="000000"/>
                </a:outerShdw>
              </a:effectLst>
            </a:endParaRPr>
          </a:p>
          <a:p>
            <a:pPr lvl="3">
              <a:lnSpc>
                <a:spcPct val="70000"/>
              </a:lnSpc>
              <a:buClr>
                <a:srgbClr val="0070C0"/>
              </a:buClr>
              <a:buFont typeface="Wingdings" panose="05000000000000000000" pitchFamily="2" charset="2"/>
              <a:buChar char="q"/>
            </a:pPr>
            <a:r>
              <a:rPr lang="de-DE" sz="3200">
                <a:effectLst>
                  <a:outerShdw dist="50800" dir="2640000" sx="1000" sy="1000" algn="ctr" rotWithShape="0">
                    <a:srgbClr val="000000"/>
                  </a:outerShdw>
                </a:effectLst>
              </a:rPr>
              <a:t>Analysephase</a:t>
            </a:r>
          </a:p>
          <a:p>
            <a:pPr>
              <a:lnSpc>
                <a:spcPct val="70000"/>
              </a:lnSpc>
              <a:buClr>
                <a:srgbClr val="0070C0"/>
              </a:buClr>
              <a:buFont typeface="Wingdings" panose="05000000000000000000" pitchFamily="2" charset="2"/>
              <a:buChar char="q"/>
            </a:pPr>
            <a:endParaRPr lang="de-DE" sz="4000">
              <a:effectLst>
                <a:outerShdw dist="50800" dir="2640000" sx="1000" sy="1000" algn="ctr" rotWithShape="0">
                  <a:srgbClr val="000000"/>
                </a:outerShdw>
              </a:effectLst>
            </a:endParaRPr>
          </a:p>
          <a:p>
            <a:pPr lvl="4">
              <a:lnSpc>
                <a:spcPct val="70000"/>
              </a:lnSpc>
              <a:buClr>
                <a:srgbClr val="0070C0"/>
              </a:buClr>
              <a:buFont typeface="Wingdings" panose="05000000000000000000" pitchFamily="2" charset="2"/>
              <a:buChar char="q"/>
            </a:pPr>
            <a:r>
              <a:rPr lang="de-DE" sz="3200">
                <a:effectLst>
                  <a:outerShdw dist="50800" dir="2640000" sx="1000" sy="1000" algn="ctr" rotWithShape="0">
                    <a:srgbClr val="000000"/>
                  </a:outerShdw>
                </a:effectLst>
              </a:rPr>
              <a:t>Entwurf</a:t>
            </a:r>
            <a:r>
              <a:rPr lang="en-DE" sz="3200">
                <a:effectLst>
                  <a:outerShdw dist="50800" dir="2640000" sx="1000" sy="1000" algn="ctr" rotWithShape="0">
                    <a:srgbClr val="000000"/>
                  </a:outerShdw>
                </a:effectLst>
              </a:rPr>
              <a:t>s</a:t>
            </a:r>
            <a:r>
              <a:rPr lang="de-DE" sz="3200">
                <a:effectLst>
                  <a:outerShdw dist="50800" dir="2640000" sx="1000" sy="1000" algn="ctr" rotWithShape="0">
                    <a:srgbClr val="000000"/>
                  </a:outerShdw>
                </a:effectLst>
              </a:rPr>
              <a:t>phase</a:t>
            </a:r>
          </a:p>
          <a:p>
            <a:pPr>
              <a:lnSpc>
                <a:spcPct val="70000"/>
              </a:lnSpc>
              <a:buClr>
                <a:srgbClr val="0070C0"/>
              </a:buClr>
              <a:buFont typeface="Wingdings" panose="05000000000000000000" pitchFamily="2" charset="2"/>
              <a:buChar char="q"/>
            </a:pPr>
            <a:endParaRPr lang="de-DE" sz="4000">
              <a:effectLst>
                <a:outerShdw dist="50800" dir="2640000" sx="1000" sy="1000" algn="ctr" rotWithShape="0">
                  <a:srgbClr val="000000"/>
                </a:outerShdw>
              </a:effectLst>
            </a:endParaRPr>
          </a:p>
          <a:p>
            <a:pPr lvl="5">
              <a:lnSpc>
                <a:spcPct val="70000"/>
              </a:lnSpc>
              <a:buClr>
                <a:srgbClr val="0070C0"/>
              </a:buClr>
              <a:buFont typeface="Wingdings" panose="05000000000000000000" pitchFamily="2" charset="2"/>
              <a:buChar char="q"/>
            </a:pPr>
            <a:r>
              <a:rPr lang="de-DE" sz="3200">
                <a:effectLst>
                  <a:outerShdw dist="50800" dir="2640000" sx="1000" sy="1000" algn="ctr" rotWithShape="0">
                    <a:srgbClr val="000000"/>
                  </a:outerShdw>
                </a:effectLst>
              </a:rPr>
              <a:t>Implementierung</a:t>
            </a:r>
          </a:p>
          <a:p>
            <a:pPr>
              <a:lnSpc>
                <a:spcPct val="70000"/>
              </a:lnSpc>
              <a:buClr>
                <a:srgbClr val="0070C0"/>
              </a:buClr>
              <a:buFont typeface="Wingdings" panose="05000000000000000000" pitchFamily="2" charset="2"/>
              <a:buChar char="q"/>
            </a:pPr>
            <a:endParaRPr lang="de-DE" sz="4000">
              <a:effectLst>
                <a:outerShdw dist="50800" dir="2640000" sx="1000" sy="1000" algn="ctr" rotWithShape="0">
                  <a:srgbClr val="000000"/>
                </a:outerShdw>
              </a:effectLst>
            </a:endParaRPr>
          </a:p>
          <a:p>
            <a:pPr lvl="6">
              <a:lnSpc>
                <a:spcPct val="70000"/>
              </a:lnSpc>
              <a:buClr>
                <a:srgbClr val="0070C0"/>
              </a:buClr>
              <a:buFont typeface="Wingdings" panose="05000000000000000000" pitchFamily="2" charset="2"/>
              <a:buChar char="q"/>
            </a:pPr>
            <a:r>
              <a:rPr lang="de-DE" sz="3200">
                <a:effectLst>
                  <a:outerShdw dist="50800" dir="2640000" sx="1000" sy="1000" algn="ctr" rotWithShape="0">
                    <a:srgbClr val="000000"/>
                  </a:outerShdw>
                </a:effectLst>
              </a:rPr>
              <a:t>Fazit</a:t>
            </a:r>
          </a:p>
        </p:txBody>
      </p:sp>
      <p:sp>
        <p:nvSpPr>
          <p:cNvPr id="17" name="Textfeld 16">
            <a:extLst>
              <a:ext uri="{FF2B5EF4-FFF2-40B4-BE49-F238E27FC236}">
                <a16:creationId xmlns:a16="http://schemas.microsoft.com/office/drawing/2014/main" id="{830A068F-7262-4BEB-A485-909D058AA660}"/>
              </a:ext>
            </a:extLst>
          </p:cNvPr>
          <p:cNvSpPr txBox="1"/>
          <p:nvPr/>
        </p:nvSpPr>
        <p:spPr>
          <a:xfrm>
            <a:off x="375923" y="492077"/>
            <a:ext cx="3261178" cy="646331"/>
          </a:xfrm>
          <a:prstGeom prst="rect">
            <a:avLst/>
          </a:prstGeom>
          <a:noFill/>
        </p:spPr>
        <p:txBody>
          <a:bodyPr wrap="square" rtlCol="0">
            <a:spAutoFit/>
          </a:bodyPr>
          <a:lstStyle/>
          <a:p>
            <a:pPr marL="571500" indent="-571500">
              <a:buFont typeface="Wingdings" panose="05000000000000000000" pitchFamily="2" charset="2"/>
              <a:buChar char="Ø"/>
            </a:pPr>
            <a:r>
              <a:rPr lang="de-DE" sz="3600" b="1">
                <a:latin typeface="Garamond" panose="02020404030301010803" pitchFamily="18" charset="0"/>
              </a:rPr>
              <a:t>Gliederung</a:t>
            </a:r>
            <a:endParaRPr lang="de-DE" sz="2000" b="1">
              <a:latin typeface="Garamond" panose="02020404030301010803" pitchFamily="18" charset="0"/>
            </a:endParaRPr>
          </a:p>
        </p:txBody>
      </p:sp>
      <p:sp>
        <p:nvSpPr>
          <p:cNvPr id="21" name="Pfeil: nach rechts gekrümmt 20">
            <a:extLst>
              <a:ext uri="{FF2B5EF4-FFF2-40B4-BE49-F238E27FC236}">
                <a16:creationId xmlns:a16="http://schemas.microsoft.com/office/drawing/2014/main" id="{BBF4D674-F16E-4799-B168-EB83803AC706}"/>
              </a:ext>
            </a:extLst>
          </p:cNvPr>
          <p:cNvSpPr/>
          <p:nvPr/>
        </p:nvSpPr>
        <p:spPr>
          <a:xfrm rot="9497738" flipV="1">
            <a:off x="6802435" y="4333347"/>
            <a:ext cx="563325" cy="959437"/>
          </a:xfrm>
          <a:prstGeom prst="curvedRightArrow">
            <a:avLst/>
          </a:prstGeom>
          <a:effectLst>
            <a:outerShdw blurRad="50800" dist="50800" dir="5400000" sx="89000" sy="89000" algn="ctr" rotWithShape="0">
              <a:srgbClr val="000000">
                <a:alpha val="66000"/>
              </a:srgbClr>
            </a:outerShdw>
          </a:effectLst>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2" name="Pfeil: nach rechts gekrümmt 21">
            <a:extLst>
              <a:ext uri="{FF2B5EF4-FFF2-40B4-BE49-F238E27FC236}">
                <a16:creationId xmlns:a16="http://schemas.microsoft.com/office/drawing/2014/main" id="{215B21DC-AA83-4B50-8848-DA5493DD421C}"/>
              </a:ext>
            </a:extLst>
          </p:cNvPr>
          <p:cNvSpPr/>
          <p:nvPr/>
        </p:nvSpPr>
        <p:spPr>
          <a:xfrm rot="9477729" flipV="1">
            <a:off x="7197023" y="5290663"/>
            <a:ext cx="563325" cy="959437"/>
          </a:xfrm>
          <a:prstGeom prst="curvedRightArrow">
            <a:avLst/>
          </a:prstGeom>
          <a:effectLst>
            <a:outerShdw blurRad="50800" dist="50800" dir="5400000" sx="89000" sy="89000" algn="ctr" rotWithShape="0">
              <a:srgbClr val="000000">
                <a:alpha val="66000"/>
              </a:srgbClr>
            </a:outerShdw>
          </a:effectLst>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7" name="Pfeil: nach rechts gekrümmt 26">
            <a:extLst>
              <a:ext uri="{FF2B5EF4-FFF2-40B4-BE49-F238E27FC236}">
                <a16:creationId xmlns:a16="http://schemas.microsoft.com/office/drawing/2014/main" id="{F2B33166-7A58-47AA-83BA-883074A9BE46}"/>
              </a:ext>
            </a:extLst>
          </p:cNvPr>
          <p:cNvSpPr/>
          <p:nvPr/>
        </p:nvSpPr>
        <p:spPr>
          <a:xfrm rot="9497738" flipV="1">
            <a:off x="6382926" y="3314769"/>
            <a:ext cx="563325" cy="959437"/>
          </a:xfrm>
          <a:prstGeom prst="curvedRightArrow">
            <a:avLst/>
          </a:prstGeom>
          <a:effectLst>
            <a:outerShdw blurRad="50800" dist="50800" dir="5400000" sx="89000" sy="89000" algn="ctr" rotWithShape="0">
              <a:srgbClr val="000000">
                <a:alpha val="66000"/>
              </a:srgbClr>
            </a:outerShdw>
          </a:effectLst>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8" name="Pfeil: nach rechts gekrümmt 27">
            <a:extLst>
              <a:ext uri="{FF2B5EF4-FFF2-40B4-BE49-F238E27FC236}">
                <a16:creationId xmlns:a16="http://schemas.microsoft.com/office/drawing/2014/main" id="{1E67DAE2-5BED-45EC-96A9-99BD32E67DDD}"/>
              </a:ext>
            </a:extLst>
          </p:cNvPr>
          <p:cNvSpPr/>
          <p:nvPr/>
        </p:nvSpPr>
        <p:spPr>
          <a:xfrm rot="9497738" flipV="1">
            <a:off x="5979145" y="2335293"/>
            <a:ext cx="563325" cy="959437"/>
          </a:xfrm>
          <a:prstGeom prst="curvedRightArrow">
            <a:avLst/>
          </a:prstGeom>
          <a:effectLst>
            <a:outerShdw blurRad="50800" dist="50800" dir="5400000" sx="89000" sy="89000" algn="ctr" rotWithShape="0">
              <a:srgbClr val="000000">
                <a:alpha val="66000"/>
              </a:srgbClr>
            </a:outerShdw>
          </a:effectLst>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9" name="Pfeil: nach rechts gekrümmt 28">
            <a:extLst>
              <a:ext uri="{FF2B5EF4-FFF2-40B4-BE49-F238E27FC236}">
                <a16:creationId xmlns:a16="http://schemas.microsoft.com/office/drawing/2014/main" id="{2E2E479A-A36A-4111-9992-73A17AF94497}"/>
              </a:ext>
            </a:extLst>
          </p:cNvPr>
          <p:cNvSpPr/>
          <p:nvPr/>
        </p:nvSpPr>
        <p:spPr>
          <a:xfrm rot="9497738" flipV="1">
            <a:off x="5604590" y="1355027"/>
            <a:ext cx="563325" cy="959437"/>
          </a:xfrm>
          <a:prstGeom prst="curvedRightArrow">
            <a:avLst/>
          </a:prstGeom>
          <a:effectLst>
            <a:outerShdw blurRad="50800" dist="50800" dir="5400000" sx="89000" sy="89000" algn="ctr" rotWithShape="0">
              <a:srgbClr val="000000">
                <a:alpha val="66000"/>
              </a:srgbClr>
            </a:outerShdw>
          </a:effectLst>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de-DE">
              <a:solidFill>
                <a:schemeClr val="tx1"/>
              </a:solidFill>
            </a:endParaRPr>
          </a:p>
        </p:txBody>
      </p:sp>
    </p:spTree>
    <p:extLst>
      <p:ext uri="{BB962C8B-B14F-4D97-AF65-F5344CB8AC3E}">
        <p14:creationId xmlns:p14="http://schemas.microsoft.com/office/powerpoint/2010/main" val="901847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4" descr="A digital collage representing a software development environment. The software section includes icons or graphical representations for Windows 10, Chrome, PyCharm, Python, GitHub, MiKTeX (styled as LaTeX), Microsoft Teams, and Microsoft Office. The hardware section features a desktop workspace setting with a desktop computer, monitor, mouse, and keyboard. For the personal section, include figures representing an author/developer, an application developer, and a company leader, each depicted in a professional setting. The overall scene should convey a busy, tech-oriented workspace.">
            <a:extLst>
              <a:ext uri="{FF2B5EF4-FFF2-40B4-BE49-F238E27FC236}">
                <a16:creationId xmlns:a16="http://schemas.microsoft.com/office/drawing/2014/main" id="{0520076E-4A2F-4D3D-9542-5FD41B2A43B2}"/>
              </a:ext>
            </a:extLst>
          </p:cNvPr>
          <p:cNvSpPr>
            <a:spLocks noChangeAspect="1" noChangeArrowheads="1"/>
          </p:cNvSpPr>
          <p:nvPr/>
        </p:nvSpPr>
        <p:spPr bwMode="auto">
          <a:xfrm>
            <a:off x="6143676" y="384516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9" name="AutoShape 6" descr="A digital collage representing a software development environment. The software section includes icons or graphical representations for Windows 10, Chrome, PyCharm, Python, GitHub, MiKTeX (styled as LaTeX), Microsoft Teams, and Microsoft Office. The hardware section features a desktop workspace setting with a desktop computer, monitor, mouse, and keyboard. For the personal section, include figures representing an author/developer, an application developer, and a company leader, each depicted in a professional setting. The overall scene should convey a busy, tech-oriented workspace.">
            <a:extLst>
              <a:ext uri="{FF2B5EF4-FFF2-40B4-BE49-F238E27FC236}">
                <a16:creationId xmlns:a16="http://schemas.microsoft.com/office/drawing/2014/main" id="{0E3E2F58-5F8E-456D-8A18-2501705B7C42}"/>
              </a:ext>
            </a:extLst>
          </p:cNvPr>
          <p:cNvSpPr>
            <a:spLocks noChangeAspect="1" noChangeArrowheads="1"/>
          </p:cNvSpPr>
          <p:nvPr/>
        </p:nvSpPr>
        <p:spPr bwMode="auto">
          <a:xfrm>
            <a:off x="6296076" y="399756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31" name="Gleichschenkliges Dreieck 30">
            <a:extLst>
              <a:ext uri="{FF2B5EF4-FFF2-40B4-BE49-F238E27FC236}">
                <a16:creationId xmlns:a16="http://schemas.microsoft.com/office/drawing/2014/main" id="{FFC86E48-683B-4F55-AE33-F376C06D664A}"/>
              </a:ext>
            </a:extLst>
          </p:cNvPr>
          <p:cNvSpPr/>
          <p:nvPr/>
        </p:nvSpPr>
        <p:spPr>
          <a:xfrm>
            <a:off x="4297423" y="2768841"/>
            <a:ext cx="3113078" cy="2657475"/>
          </a:xfrm>
          <a:prstGeom prst="triangle">
            <a:avLst/>
          </a:prstGeom>
          <a:gradFill>
            <a:gsLst>
              <a:gs pos="60000">
                <a:schemeClr val="lt2">
                  <a:tint val="93000"/>
                  <a:satMod val="150000"/>
                  <a:shade val="98000"/>
                  <a:lumMod val="102000"/>
                </a:schemeClr>
              </a:gs>
              <a:gs pos="43000">
                <a:schemeClr val="lt2">
                  <a:tint val="98000"/>
                  <a:satMod val="130000"/>
                  <a:shade val="90000"/>
                  <a:lumMod val="103000"/>
                </a:schemeClr>
              </a:gs>
              <a:gs pos="80000">
                <a:schemeClr val="lt2">
                  <a:shade val="63000"/>
                  <a:satMod val="120000"/>
                  <a:alpha val="12000"/>
                </a:schemeClr>
              </a:gs>
            </a:gsLst>
          </a:gradFill>
          <a:ln w="9525" cap="flat" cmpd="sng" algn="ctr">
            <a:solidFill>
              <a:schemeClr val="accent2"/>
            </a:solidFill>
            <a:prstDash val="solid"/>
            <a:round/>
            <a:headEnd type="none" w="med" len="med"/>
            <a:tailEnd type="none" w="med" len="med"/>
          </a:ln>
        </p:spPr>
        <p:style>
          <a:lnRef idx="0">
            <a:scrgbClr r="0" g="0" b="0"/>
          </a:lnRef>
          <a:fillRef idx="1003">
            <a:schemeClr val="lt2"/>
          </a:fillRef>
          <a:effectRef idx="0">
            <a:scrgbClr r="0" g="0" b="0"/>
          </a:effectRef>
          <a:fontRef idx="minor">
            <a:schemeClr val="accent2"/>
          </a:fontRef>
        </p:style>
        <p:txBody>
          <a:bodyPr rtlCol="0" anchor="ctr"/>
          <a:lstStyle/>
          <a:p>
            <a:pPr algn="ctr"/>
            <a:r>
              <a:rPr lang="de-DE" sz="2800" b="1">
                <a:solidFill>
                  <a:srgbClr val="002060"/>
                </a:solidFill>
                <a:latin typeface="Engravers MT" panose="02090707080505020304" pitchFamily="18" charset="0"/>
              </a:rPr>
              <a:t>Ziel</a:t>
            </a:r>
            <a:endParaRPr lang="de-DE" b="1">
              <a:solidFill>
                <a:srgbClr val="002060"/>
              </a:solidFill>
              <a:latin typeface="Engravers MT" panose="02090707080505020304" pitchFamily="18" charset="0"/>
            </a:endParaRPr>
          </a:p>
        </p:txBody>
      </p:sp>
      <p:sp>
        <p:nvSpPr>
          <p:cNvPr id="32" name="Textfeld 31">
            <a:extLst>
              <a:ext uri="{FF2B5EF4-FFF2-40B4-BE49-F238E27FC236}">
                <a16:creationId xmlns:a16="http://schemas.microsoft.com/office/drawing/2014/main" id="{B3491ED6-4FC4-4878-B272-06B60C3F770D}"/>
              </a:ext>
            </a:extLst>
          </p:cNvPr>
          <p:cNvSpPr txBox="1"/>
          <p:nvPr/>
        </p:nvSpPr>
        <p:spPr>
          <a:xfrm>
            <a:off x="5143066" y="2413707"/>
            <a:ext cx="1533112" cy="369332"/>
          </a:xfrm>
          <a:prstGeom prst="rect">
            <a:avLst/>
          </a:prstGeom>
          <a:noFill/>
        </p:spPr>
        <p:txBody>
          <a:bodyPr wrap="none" rtlCol="0">
            <a:spAutoFit/>
          </a:bodyPr>
          <a:lstStyle/>
          <a:p>
            <a:r>
              <a:rPr lang="de-DE" sz="1800" b="1"/>
              <a:t>Umfang(Scop)</a:t>
            </a:r>
          </a:p>
        </p:txBody>
      </p:sp>
      <p:sp>
        <p:nvSpPr>
          <p:cNvPr id="34" name="Textfeld 33">
            <a:extLst>
              <a:ext uri="{FF2B5EF4-FFF2-40B4-BE49-F238E27FC236}">
                <a16:creationId xmlns:a16="http://schemas.microsoft.com/office/drawing/2014/main" id="{30F70B73-F0E9-4558-B036-CDF0D20D3662}"/>
              </a:ext>
            </a:extLst>
          </p:cNvPr>
          <p:cNvSpPr txBox="1"/>
          <p:nvPr/>
        </p:nvSpPr>
        <p:spPr>
          <a:xfrm>
            <a:off x="3929179" y="5426316"/>
            <a:ext cx="568320" cy="369332"/>
          </a:xfrm>
          <a:prstGeom prst="rect">
            <a:avLst/>
          </a:prstGeom>
          <a:noFill/>
        </p:spPr>
        <p:txBody>
          <a:bodyPr wrap="square">
            <a:spAutoFit/>
          </a:bodyPr>
          <a:lstStyle/>
          <a:p>
            <a:r>
              <a:rPr lang="de-DE" sz="1800" b="1"/>
              <a:t>Zeit</a:t>
            </a:r>
          </a:p>
        </p:txBody>
      </p:sp>
      <p:sp>
        <p:nvSpPr>
          <p:cNvPr id="36" name="Textfeld 35">
            <a:extLst>
              <a:ext uri="{FF2B5EF4-FFF2-40B4-BE49-F238E27FC236}">
                <a16:creationId xmlns:a16="http://schemas.microsoft.com/office/drawing/2014/main" id="{1A9F78CF-0052-4446-99E3-A7B71B4061A3}"/>
              </a:ext>
            </a:extLst>
          </p:cNvPr>
          <p:cNvSpPr txBox="1"/>
          <p:nvPr/>
        </p:nvSpPr>
        <p:spPr>
          <a:xfrm>
            <a:off x="7042198" y="5426316"/>
            <a:ext cx="1624012" cy="369332"/>
          </a:xfrm>
          <a:prstGeom prst="rect">
            <a:avLst/>
          </a:prstGeom>
          <a:noFill/>
        </p:spPr>
        <p:txBody>
          <a:bodyPr wrap="square">
            <a:spAutoFit/>
          </a:bodyPr>
          <a:lstStyle/>
          <a:p>
            <a:r>
              <a:rPr lang="de-DE" sz="1800" b="1"/>
              <a:t>Kosten</a:t>
            </a:r>
          </a:p>
        </p:txBody>
      </p:sp>
      <p:sp>
        <p:nvSpPr>
          <p:cNvPr id="2" name="Textfeld 1">
            <a:extLst>
              <a:ext uri="{FF2B5EF4-FFF2-40B4-BE49-F238E27FC236}">
                <a16:creationId xmlns:a16="http://schemas.microsoft.com/office/drawing/2014/main" id="{0B7C4901-8ACE-40A4-9899-FF77DAFBC0A3}"/>
              </a:ext>
            </a:extLst>
          </p:cNvPr>
          <p:cNvSpPr txBox="1"/>
          <p:nvPr/>
        </p:nvSpPr>
        <p:spPr>
          <a:xfrm>
            <a:off x="481647" y="1482243"/>
            <a:ext cx="4560992" cy="646331"/>
          </a:xfrm>
          <a:prstGeom prst="rect">
            <a:avLst/>
          </a:prstGeom>
          <a:noFill/>
        </p:spPr>
        <p:txBody>
          <a:bodyPr wrap="none" rtlCol="0">
            <a:spAutoFit/>
          </a:bodyPr>
          <a:lstStyle/>
          <a:p>
            <a:pPr marL="571500" indent="-571500">
              <a:buFont typeface="Wingdings" panose="05000000000000000000" pitchFamily="2" charset="2"/>
              <a:buChar char="Ø"/>
            </a:pPr>
            <a:r>
              <a:rPr lang="de-DE" sz="3600" b="1"/>
              <a:t>Risiko-Management</a:t>
            </a:r>
          </a:p>
        </p:txBody>
      </p:sp>
      <p:sp>
        <p:nvSpPr>
          <p:cNvPr id="3" name="Textfeld 2">
            <a:extLst>
              <a:ext uri="{FF2B5EF4-FFF2-40B4-BE49-F238E27FC236}">
                <a16:creationId xmlns:a16="http://schemas.microsoft.com/office/drawing/2014/main" id="{975CEDA4-C27F-4E7E-B0A3-8CC1AECAF8A7}"/>
              </a:ext>
            </a:extLst>
          </p:cNvPr>
          <p:cNvSpPr txBox="1"/>
          <p:nvPr/>
        </p:nvSpPr>
        <p:spPr>
          <a:xfrm>
            <a:off x="1361776" y="6456177"/>
            <a:ext cx="9868599" cy="369332"/>
          </a:xfrm>
          <a:prstGeom prst="rect">
            <a:avLst/>
          </a:prstGeom>
          <a:noFill/>
        </p:spPr>
        <p:txBody>
          <a:bodyPr wrap="none" rtlCol="0">
            <a:spAutoFit/>
          </a:bodyPr>
          <a:lstStyle/>
          <a:p>
            <a:r>
              <a:rPr lang="de-DE"/>
              <a:t>Erhöhung übersichtlichkeit und risiko zu minimieren, </a:t>
            </a:r>
            <a:r>
              <a:rPr lang="de-DE" b="0" i="0">
                <a:solidFill>
                  <a:srgbClr val="111111"/>
                </a:solidFill>
                <a:effectLst/>
                <a:latin typeface="Roboto" panose="020B0604020202020204" pitchFamily="2" charset="0"/>
              </a:rPr>
              <a:t>eine vorausschauende Planung gewährleistet</a:t>
            </a:r>
            <a:r>
              <a:rPr lang="de-DE"/>
              <a:t> </a:t>
            </a:r>
          </a:p>
        </p:txBody>
      </p:sp>
      <p:sp>
        <p:nvSpPr>
          <p:cNvPr id="27" name="Rechteck 26">
            <a:extLst>
              <a:ext uri="{FF2B5EF4-FFF2-40B4-BE49-F238E27FC236}">
                <a16:creationId xmlns:a16="http://schemas.microsoft.com/office/drawing/2014/main" id="{4EF7EDEF-2E97-4A68-9705-3B2087AAD414}"/>
              </a:ext>
            </a:extLst>
          </p:cNvPr>
          <p:cNvSpPr/>
          <p:nvPr/>
        </p:nvSpPr>
        <p:spPr>
          <a:xfrm>
            <a:off x="6883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8" name="Rechteck 27">
            <a:extLst>
              <a:ext uri="{FF2B5EF4-FFF2-40B4-BE49-F238E27FC236}">
                <a16:creationId xmlns:a16="http://schemas.microsoft.com/office/drawing/2014/main" id="{CE6E0BCA-94D3-47E9-9461-3A3451855F8F}"/>
              </a:ext>
            </a:extLst>
          </p:cNvPr>
          <p:cNvSpPr/>
          <p:nvPr/>
        </p:nvSpPr>
        <p:spPr>
          <a:xfrm>
            <a:off x="4097347" y="130220"/>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29" name="Rechteck 28">
            <a:extLst>
              <a:ext uri="{FF2B5EF4-FFF2-40B4-BE49-F238E27FC236}">
                <a16:creationId xmlns:a16="http://schemas.microsoft.com/office/drawing/2014/main" id="{7BD69264-48F2-43A1-821E-2AD6E5618E51}"/>
              </a:ext>
            </a:extLst>
          </p:cNvPr>
          <p:cNvSpPr/>
          <p:nvPr/>
        </p:nvSpPr>
        <p:spPr>
          <a:xfrm>
            <a:off x="6116414"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0" name="Rechteck 29">
            <a:extLst>
              <a:ext uri="{FF2B5EF4-FFF2-40B4-BE49-F238E27FC236}">
                <a16:creationId xmlns:a16="http://schemas.microsoft.com/office/drawing/2014/main" id="{E24F7F51-C4AD-4F49-985E-443C4F6B011B}"/>
              </a:ext>
            </a:extLst>
          </p:cNvPr>
          <p:cNvSpPr/>
          <p:nvPr/>
        </p:nvSpPr>
        <p:spPr>
          <a:xfrm>
            <a:off x="8135481"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3" name="Rechteck 32">
            <a:extLst>
              <a:ext uri="{FF2B5EF4-FFF2-40B4-BE49-F238E27FC236}">
                <a16:creationId xmlns:a16="http://schemas.microsoft.com/office/drawing/2014/main" id="{A2D47EE5-5418-4E67-B441-9851D2FA3B4A}"/>
              </a:ext>
            </a:extLst>
          </p:cNvPr>
          <p:cNvSpPr/>
          <p:nvPr/>
        </p:nvSpPr>
        <p:spPr>
          <a:xfrm>
            <a:off x="1891261" y="465105"/>
            <a:ext cx="2322078" cy="461665"/>
          </a:xfrm>
          <a:prstGeom prst="rect">
            <a:avLst/>
          </a:prstGeom>
          <a:noFill/>
        </p:spPr>
        <p:txBody>
          <a:bodyPr wrap="square" lIns="91440" tIns="45720" rIns="91440" bIns="45720">
            <a:spAutoFit/>
          </a:bodyPr>
          <a:lstStyle/>
          <a:p>
            <a:pPr algn="ctr"/>
            <a:r>
              <a:rPr lang="de-DE" sz="2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Projekt-Planung</a:t>
            </a:r>
            <a:endParaRPr lang="de-DE" sz="3200" b="1">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35" name="Rechteck 34">
            <a:extLst>
              <a:ext uri="{FF2B5EF4-FFF2-40B4-BE49-F238E27FC236}">
                <a16:creationId xmlns:a16="http://schemas.microsoft.com/office/drawing/2014/main" id="{DC680F1B-AB88-4A64-AEA1-6E138079F253}"/>
              </a:ext>
            </a:extLst>
          </p:cNvPr>
          <p:cNvSpPr/>
          <p:nvPr/>
        </p:nvSpPr>
        <p:spPr>
          <a:xfrm>
            <a:off x="2091725" y="302621"/>
            <a:ext cx="1943427" cy="124402"/>
          </a:xfrm>
          <a:prstGeom prst="rect">
            <a:avLst/>
          </a:prstGeom>
          <a:gradFill>
            <a:gsLst>
              <a:gs pos="46000">
                <a:schemeClr val="accent1">
                  <a:lumMod val="12000"/>
                  <a:lumOff val="88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alpha val="0"/>
              </a:schemeClr>
            </a:solidFill>
          </a:ln>
          <a:effectLst>
            <a:glow rad="88900">
              <a:schemeClr val="accent1">
                <a:lumMod val="20000"/>
                <a:lumOff val="80000"/>
                <a:alpha val="99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8" name="Textfeld 37">
            <a:extLst>
              <a:ext uri="{FF2B5EF4-FFF2-40B4-BE49-F238E27FC236}">
                <a16:creationId xmlns:a16="http://schemas.microsoft.com/office/drawing/2014/main" id="{3931E301-12B5-420D-9552-58FEACFCB215}"/>
              </a:ext>
            </a:extLst>
          </p:cNvPr>
          <p:cNvSpPr txBox="1"/>
          <p:nvPr/>
        </p:nvSpPr>
        <p:spPr>
          <a:xfrm>
            <a:off x="4297423" y="307222"/>
            <a:ext cx="1490433" cy="369332"/>
          </a:xfrm>
          <a:prstGeom prst="rect">
            <a:avLst/>
          </a:prstGeom>
          <a:noFill/>
        </p:spPr>
        <p:txBody>
          <a:bodyPr wrap="square" rtlCol="0">
            <a:spAutoFit/>
          </a:bodyPr>
          <a:lstStyle/>
          <a:p>
            <a:r>
              <a:rPr lang="de-DE"/>
              <a:t>Analysephase</a:t>
            </a:r>
          </a:p>
        </p:txBody>
      </p:sp>
      <p:sp>
        <p:nvSpPr>
          <p:cNvPr id="39" name="Textfeld 38">
            <a:extLst>
              <a:ext uri="{FF2B5EF4-FFF2-40B4-BE49-F238E27FC236}">
                <a16:creationId xmlns:a16="http://schemas.microsoft.com/office/drawing/2014/main" id="{D7F4D2E0-47C6-4640-95FD-EA84675CAB37}"/>
              </a:ext>
            </a:extLst>
          </p:cNvPr>
          <p:cNvSpPr txBox="1"/>
          <p:nvPr/>
        </p:nvSpPr>
        <p:spPr>
          <a:xfrm>
            <a:off x="283135" y="307222"/>
            <a:ext cx="1490433" cy="369332"/>
          </a:xfrm>
          <a:prstGeom prst="rect">
            <a:avLst/>
          </a:prstGeom>
          <a:noFill/>
        </p:spPr>
        <p:txBody>
          <a:bodyPr wrap="square" rtlCol="0">
            <a:spAutoFit/>
          </a:bodyPr>
          <a:lstStyle/>
          <a:p>
            <a:r>
              <a:rPr lang="de-DE"/>
              <a:t>Vorstellung</a:t>
            </a:r>
          </a:p>
        </p:txBody>
      </p:sp>
      <p:sp>
        <p:nvSpPr>
          <p:cNvPr id="40" name="Rechteck 39">
            <a:extLst>
              <a:ext uri="{FF2B5EF4-FFF2-40B4-BE49-F238E27FC236}">
                <a16:creationId xmlns:a16="http://schemas.microsoft.com/office/drawing/2014/main" id="{EE744905-23D8-4090-B61A-FC2DE3D1619A}"/>
              </a:ext>
            </a:extLst>
          </p:cNvPr>
          <p:cNvSpPr/>
          <p:nvPr/>
        </p:nvSpPr>
        <p:spPr>
          <a:xfrm>
            <a:off x="1014895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41" name="Textfeld 40">
            <a:extLst>
              <a:ext uri="{FF2B5EF4-FFF2-40B4-BE49-F238E27FC236}">
                <a16:creationId xmlns:a16="http://schemas.microsoft.com/office/drawing/2014/main" id="{17255FE6-12C3-42A0-B2C8-B650203C6748}"/>
              </a:ext>
            </a:extLst>
          </p:cNvPr>
          <p:cNvSpPr txBox="1"/>
          <p:nvPr/>
        </p:nvSpPr>
        <p:spPr>
          <a:xfrm>
            <a:off x="10756544" y="307222"/>
            <a:ext cx="728254" cy="369332"/>
          </a:xfrm>
          <a:prstGeom prst="rect">
            <a:avLst/>
          </a:prstGeom>
          <a:noFill/>
        </p:spPr>
        <p:txBody>
          <a:bodyPr wrap="square" rtlCol="0">
            <a:spAutoFit/>
          </a:bodyPr>
          <a:lstStyle/>
          <a:p>
            <a:r>
              <a:rPr lang="de-DE"/>
              <a:t>Fazit</a:t>
            </a:r>
            <a:endParaRPr lang="de-DE" sz="1600"/>
          </a:p>
        </p:txBody>
      </p:sp>
      <p:sp>
        <p:nvSpPr>
          <p:cNvPr id="42" name="Textfeld 41">
            <a:extLst>
              <a:ext uri="{FF2B5EF4-FFF2-40B4-BE49-F238E27FC236}">
                <a16:creationId xmlns:a16="http://schemas.microsoft.com/office/drawing/2014/main" id="{11204629-FC74-46E1-952C-AC8A4A55C5FC}"/>
              </a:ext>
            </a:extLst>
          </p:cNvPr>
          <p:cNvSpPr txBox="1"/>
          <p:nvPr/>
        </p:nvSpPr>
        <p:spPr>
          <a:xfrm>
            <a:off x="8155565" y="302621"/>
            <a:ext cx="2208670" cy="646331"/>
          </a:xfrm>
          <a:prstGeom prst="rect">
            <a:avLst/>
          </a:prstGeom>
          <a:noFill/>
        </p:spPr>
        <p:txBody>
          <a:bodyPr wrap="square" rtlCol="0">
            <a:spAutoFit/>
          </a:bodyPr>
          <a:lstStyle/>
          <a:p>
            <a:r>
              <a:rPr lang="de-DE"/>
              <a:t>Implementierungs-</a:t>
            </a:r>
          </a:p>
          <a:p>
            <a:r>
              <a:rPr lang="en-DE"/>
              <a:t>p</a:t>
            </a:r>
            <a:r>
              <a:rPr lang="de-DE"/>
              <a:t>hase</a:t>
            </a:r>
            <a:r>
              <a:rPr lang="en-DE"/>
              <a:t> </a:t>
            </a:r>
            <a:endParaRPr lang="de-DE" sz="1600"/>
          </a:p>
        </p:txBody>
      </p:sp>
      <p:sp>
        <p:nvSpPr>
          <p:cNvPr id="22" name="Textfeld 13">
            <a:extLst>
              <a:ext uri="{FF2B5EF4-FFF2-40B4-BE49-F238E27FC236}">
                <a16:creationId xmlns:a16="http://schemas.microsoft.com/office/drawing/2014/main" id="{5CF7C62E-0659-44F0-B7F3-3C1F622A10D3}"/>
              </a:ext>
            </a:extLst>
          </p:cNvPr>
          <p:cNvSpPr txBox="1"/>
          <p:nvPr/>
        </p:nvSpPr>
        <p:spPr>
          <a:xfrm>
            <a:off x="6222903" y="313448"/>
            <a:ext cx="1625829" cy="369332"/>
          </a:xfrm>
          <a:prstGeom prst="rect">
            <a:avLst/>
          </a:prstGeom>
          <a:noFill/>
        </p:spPr>
        <p:txBody>
          <a:bodyPr wrap="square" rtlCol="0">
            <a:spAutoFit/>
          </a:bodyPr>
          <a:lstStyle/>
          <a:p>
            <a:r>
              <a:rPr lang="de-DE"/>
              <a:t>Entwurf</a:t>
            </a:r>
            <a:r>
              <a:rPr lang="en-DE"/>
              <a:t>s</a:t>
            </a:r>
            <a:r>
              <a:rPr lang="de-DE"/>
              <a:t>phase</a:t>
            </a:r>
          </a:p>
        </p:txBody>
      </p:sp>
    </p:spTree>
    <p:extLst>
      <p:ext uri="{BB962C8B-B14F-4D97-AF65-F5344CB8AC3E}">
        <p14:creationId xmlns:p14="http://schemas.microsoft.com/office/powerpoint/2010/main" val="1350468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down)">
                                      <p:cBhvr>
                                        <p:cTn id="7" dur="580">
                                          <p:stCondLst>
                                            <p:cond delay="0"/>
                                          </p:stCondLst>
                                        </p:cTn>
                                        <p:tgtEl>
                                          <p:spTgt spid="31"/>
                                        </p:tgtEl>
                                      </p:cBhvr>
                                    </p:animEffect>
                                    <p:anim calcmode="lin" valueType="num">
                                      <p:cBhvr>
                                        <p:cTn id="8" dur="1822" tmFilter="0,0; 0.14,0.36; 0.43,0.73; 0.71,0.91; 1.0,1.0">
                                          <p:stCondLst>
                                            <p:cond delay="0"/>
                                          </p:stCondLst>
                                        </p:cTn>
                                        <p:tgtEl>
                                          <p:spTgt spid="3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1"/>
                                        </p:tgtEl>
                                        <p:attrNameLst>
                                          <p:attrName>ppt_y</p:attrName>
                                        </p:attrNameLst>
                                      </p:cBhvr>
                                      <p:tavLst>
                                        <p:tav tm="0" fmla="#ppt_y-sin(pi*$)/81">
                                          <p:val>
                                            <p:fltVal val="0"/>
                                          </p:val>
                                        </p:tav>
                                        <p:tav tm="100000">
                                          <p:val>
                                            <p:fltVal val="1"/>
                                          </p:val>
                                        </p:tav>
                                      </p:tavLst>
                                    </p:anim>
                                    <p:animScale>
                                      <p:cBhvr>
                                        <p:cTn id="13" dur="26">
                                          <p:stCondLst>
                                            <p:cond delay="650"/>
                                          </p:stCondLst>
                                        </p:cTn>
                                        <p:tgtEl>
                                          <p:spTgt spid="31"/>
                                        </p:tgtEl>
                                      </p:cBhvr>
                                      <p:to x="100000" y="60000"/>
                                    </p:animScale>
                                    <p:animScale>
                                      <p:cBhvr>
                                        <p:cTn id="14" dur="166" decel="50000">
                                          <p:stCondLst>
                                            <p:cond delay="676"/>
                                          </p:stCondLst>
                                        </p:cTn>
                                        <p:tgtEl>
                                          <p:spTgt spid="31"/>
                                        </p:tgtEl>
                                      </p:cBhvr>
                                      <p:to x="100000" y="100000"/>
                                    </p:animScale>
                                    <p:animScale>
                                      <p:cBhvr>
                                        <p:cTn id="15" dur="26">
                                          <p:stCondLst>
                                            <p:cond delay="1312"/>
                                          </p:stCondLst>
                                        </p:cTn>
                                        <p:tgtEl>
                                          <p:spTgt spid="31"/>
                                        </p:tgtEl>
                                      </p:cBhvr>
                                      <p:to x="100000" y="80000"/>
                                    </p:animScale>
                                    <p:animScale>
                                      <p:cBhvr>
                                        <p:cTn id="16" dur="166" decel="50000">
                                          <p:stCondLst>
                                            <p:cond delay="1338"/>
                                          </p:stCondLst>
                                        </p:cTn>
                                        <p:tgtEl>
                                          <p:spTgt spid="31"/>
                                        </p:tgtEl>
                                      </p:cBhvr>
                                      <p:to x="100000" y="100000"/>
                                    </p:animScale>
                                    <p:animScale>
                                      <p:cBhvr>
                                        <p:cTn id="17" dur="26">
                                          <p:stCondLst>
                                            <p:cond delay="1642"/>
                                          </p:stCondLst>
                                        </p:cTn>
                                        <p:tgtEl>
                                          <p:spTgt spid="31"/>
                                        </p:tgtEl>
                                      </p:cBhvr>
                                      <p:to x="100000" y="90000"/>
                                    </p:animScale>
                                    <p:animScale>
                                      <p:cBhvr>
                                        <p:cTn id="18" dur="166" decel="50000">
                                          <p:stCondLst>
                                            <p:cond delay="1668"/>
                                          </p:stCondLst>
                                        </p:cTn>
                                        <p:tgtEl>
                                          <p:spTgt spid="31"/>
                                        </p:tgtEl>
                                      </p:cBhvr>
                                      <p:to x="100000" y="100000"/>
                                    </p:animScale>
                                    <p:animScale>
                                      <p:cBhvr>
                                        <p:cTn id="19" dur="26">
                                          <p:stCondLst>
                                            <p:cond delay="1808"/>
                                          </p:stCondLst>
                                        </p:cTn>
                                        <p:tgtEl>
                                          <p:spTgt spid="31"/>
                                        </p:tgtEl>
                                      </p:cBhvr>
                                      <p:to x="100000" y="95000"/>
                                    </p:animScale>
                                    <p:animScale>
                                      <p:cBhvr>
                                        <p:cTn id="20" dur="166" decel="50000">
                                          <p:stCondLst>
                                            <p:cond delay="1834"/>
                                          </p:stCondLst>
                                        </p:cTn>
                                        <p:tgtEl>
                                          <p:spTgt spid="3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219DA57-55B1-4BA7-9561-3F786F8A49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6149" y="1980542"/>
            <a:ext cx="8124864" cy="4570236"/>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
        <p:nvSpPr>
          <p:cNvPr id="2" name="Titel 1">
            <a:extLst>
              <a:ext uri="{FF2B5EF4-FFF2-40B4-BE49-F238E27FC236}">
                <a16:creationId xmlns:a16="http://schemas.microsoft.com/office/drawing/2014/main" id="{BEF06DBF-63E6-49B9-8C9B-5A018646B2AB}"/>
              </a:ext>
            </a:extLst>
          </p:cNvPr>
          <p:cNvSpPr>
            <a:spLocks noGrp="1"/>
          </p:cNvSpPr>
          <p:nvPr>
            <p:ph type="title"/>
          </p:nvPr>
        </p:nvSpPr>
        <p:spPr>
          <a:xfrm>
            <a:off x="518514" y="1433262"/>
            <a:ext cx="4639129" cy="792204"/>
          </a:xfrm>
        </p:spPr>
        <p:txBody>
          <a:bodyPr>
            <a:normAutofit/>
          </a:bodyPr>
          <a:lstStyle/>
          <a:p>
            <a:pPr marL="571500" indent="-571500">
              <a:buFont typeface="Wingdings" panose="05000000000000000000" pitchFamily="2" charset="2"/>
              <a:buChar char="Ø"/>
            </a:pPr>
            <a:r>
              <a:rPr lang="de-DE" sz="3600" b="1">
                <a:latin typeface="Arial" panose="020B0604020202020204" pitchFamily="34" charset="0"/>
                <a:cs typeface="Arial" panose="020B0604020202020204" pitchFamily="34" charset="0"/>
              </a:rPr>
              <a:t>Umfang(scop)</a:t>
            </a:r>
          </a:p>
        </p:txBody>
      </p:sp>
      <p:sp>
        <p:nvSpPr>
          <p:cNvPr id="3" name="Pfeil: Chevron 2">
            <a:extLst>
              <a:ext uri="{FF2B5EF4-FFF2-40B4-BE49-F238E27FC236}">
                <a16:creationId xmlns:a16="http://schemas.microsoft.com/office/drawing/2014/main" id="{6B5DFA01-D9A9-429F-B6BC-45D5E4783D5B}"/>
              </a:ext>
            </a:extLst>
          </p:cNvPr>
          <p:cNvSpPr/>
          <p:nvPr/>
        </p:nvSpPr>
        <p:spPr>
          <a:xfrm>
            <a:off x="1936433" y="3741785"/>
            <a:ext cx="1123950" cy="52387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5" name="Rechteck 4">
            <a:extLst>
              <a:ext uri="{FF2B5EF4-FFF2-40B4-BE49-F238E27FC236}">
                <a16:creationId xmlns:a16="http://schemas.microsoft.com/office/drawing/2014/main" id="{E6D6E914-0AB0-4E34-8344-3A7C3B97B47E}"/>
              </a:ext>
            </a:extLst>
          </p:cNvPr>
          <p:cNvSpPr/>
          <p:nvPr/>
        </p:nvSpPr>
        <p:spPr>
          <a:xfrm>
            <a:off x="6883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6" name="Rechteck 5">
            <a:extLst>
              <a:ext uri="{FF2B5EF4-FFF2-40B4-BE49-F238E27FC236}">
                <a16:creationId xmlns:a16="http://schemas.microsoft.com/office/drawing/2014/main" id="{DD0CCD36-9FB8-4937-A9DC-E25E306462F5}"/>
              </a:ext>
            </a:extLst>
          </p:cNvPr>
          <p:cNvSpPr/>
          <p:nvPr/>
        </p:nvSpPr>
        <p:spPr>
          <a:xfrm>
            <a:off x="4097347" y="130220"/>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7" name="Rechteck 6">
            <a:extLst>
              <a:ext uri="{FF2B5EF4-FFF2-40B4-BE49-F238E27FC236}">
                <a16:creationId xmlns:a16="http://schemas.microsoft.com/office/drawing/2014/main" id="{CFCF30E7-7BDE-4C3A-87C0-E046F6CF94A2}"/>
              </a:ext>
            </a:extLst>
          </p:cNvPr>
          <p:cNvSpPr/>
          <p:nvPr/>
        </p:nvSpPr>
        <p:spPr>
          <a:xfrm>
            <a:off x="6116414"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8" name="Rechteck 7">
            <a:extLst>
              <a:ext uri="{FF2B5EF4-FFF2-40B4-BE49-F238E27FC236}">
                <a16:creationId xmlns:a16="http://schemas.microsoft.com/office/drawing/2014/main" id="{E4E81ABA-7EDA-4823-A70E-CFB5B6F6CF8C}"/>
              </a:ext>
            </a:extLst>
          </p:cNvPr>
          <p:cNvSpPr/>
          <p:nvPr/>
        </p:nvSpPr>
        <p:spPr>
          <a:xfrm>
            <a:off x="8135481"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9" name="Rechteck 8">
            <a:extLst>
              <a:ext uri="{FF2B5EF4-FFF2-40B4-BE49-F238E27FC236}">
                <a16:creationId xmlns:a16="http://schemas.microsoft.com/office/drawing/2014/main" id="{266B008D-BE7C-4F9B-8568-6102AB910377}"/>
              </a:ext>
            </a:extLst>
          </p:cNvPr>
          <p:cNvSpPr/>
          <p:nvPr/>
        </p:nvSpPr>
        <p:spPr>
          <a:xfrm>
            <a:off x="1014895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1" name="Textfeld 10">
            <a:extLst>
              <a:ext uri="{FF2B5EF4-FFF2-40B4-BE49-F238E27FC236}">
                <a16:creationId xmlns:a16="http://schemas.microsoft.com/office/drawing/2014/main" id="{FB2A5221-2273-4C40-BF22-02CE26EFEC72}"/>
              </a:ext>
            </a:extLst>
          </p:cNvPr>
          <p:cNvSpPr txBox="1"/>
          <p:nvPr/>
        </p:nvSpPr>
        <p:spPr>
          <a:xfrm>
            <a:off x="10756544" y="307222"/>
            <a:ext cx="728254" cy="369332"/>
          </a:xfrm>
          <a:prstGeom prst="rect">
            <a:avLst/>
          </a:prstGeom>
          <a:noFill/>
        </p:spPr>
        <p:txBody>
          <a:bodyPr wrap="square" rtlCol="0">
            <a:spAutoFit/>
          </a:bodyPr>
          <a:lstStyle/>
          <a:p>
            <a:r>
              <a:rPr lang="de-DE"/>
              <a:t>Fazit</a:t>
            </a:r>
            <a:endParaRPr lang="de-DE" sz="1600"/>
          </a:p>
        </p:txBody>
      </p:sp>
      <p:sp>
        <p:nvSpPr>
          <p:cNvPr id="15" name="Textfeld 14">
            <a:extLst>
              <a:ext uri="{FF2B5EF4-FFF2-40B4-BE49-F238E27FC236}">
                <a16:creationId xmlns:a16="http://schemas.microsoft.com/office/drawing/2014/main" id="{F5A35B61-FE7F-478B-BB54-8F2A3D07E2DF}"/>
              </a:ext>
            </a:extLst>
          </p:cNvPr>
          <p:cNvSpPr txBox="1"/>
          <p:nvPr/>
        </p:nvSpPr>
        <p:spPr>
          <a:xfrm>
            <a:off x="4297423" y="307222"/>
            <a:ext cx="1490433" cy="369332"/>
          </a:xfrm>
          <a:prstGeom prst="rect">
            <a:avLst/>
          </a:prstGeom>
          <a:noFill/>
        </p:spPr>
        <p:txBody>
          <a:bodyPr wrap="square" rtlCol="0">
            <a:spAutoFit/>
          </a:bodyPr>
          <a:lstStyle/>
          <a:p>
            <a:r>
              <a:rPr lang="de-DE"/>
              <a:t>Analysephase</a:t>
            </a:r>
          </a:p>
        </p:txBody>
      </p:sp>
      <p:sp>
        <p:nvSpPr>
          <p:cNvPr id="16" name="Textfeld 15">
            <a:extLst>
              <a:ext uri="{FF2B5EF4-FFF2-40B4-BE49-F238E27FC236}">
                <a16:creationId xmlns:a16="http://schemas.microsoft.com/office/drawing/2014/main" id="{EB733FAC-120C-4443-8D12-49EF66CAE0C0}"/>
              </a:ext>
            </a:extLst>
          </p:cNvPr>
          <p:cNvSpPr txBox="1"/>
          <p:nvPr/>
        </p:nvSpPr>
        <p:spPr>
          <a:xfrm>
            <a:off x="283135" y="307222"/>
            <a:ext cx="1490433" cy="369332"/>
          </a:xfrm>
          <a:prstGeom prst="rect">
            <a:avLst/>
          </a:prstGeom>
          <a:noFill/>
        </p:spPr>
        <p:txBody>
          <a:bodyPr wrap="square" rtlCol="0">
            <a:spAutoFit/>
          </a:bodyPr>
          <a:lstStyle/>
          <a:p>
            <a:r>
              <a:rPr lang="de-DE"/>
              <a:t>Vorstellung</a:t>
            </a:r>
          </a:p>
        </p:txBody>
      </p:sp>
      <p:sp>
        <p:nvSpPr>
          <p:cNvPr id="18" name="Rechteck 17">
            <a:extLst>
              <a:ext uri="{FF2B5EF4-FFF2-40B4-BE49-F238E27FC236}">
                <a16:creationId xmlns:a16="http://schemas.microsoft.com/office/drawing/2014/main" id="{971FB447-505F-49C3-BE89-3A047FB79E02}"/>
              </a:ext>
            </a:extLst>
          </p:cNvPr>
          <p:cNvSpPr/>
          <p:nvPr/>
        </p:nvSpPr>
        <p:spPr>
          <a:xfrm>
            <a:off x="2091725" y="302621"/>
            <a:ext cx="1943427" cy="124402"/>
          </a:xfrm>
          <a:prstGeom prst="rect">
            <a:avLst/>
          </a:prstGeom>
          <a:gradFill>
            <a:gsLst>
              <a:gs pos="46000">
                <a:schemeClr val="accent1">
                  <a:lumMod val="12000"/>
                  <a:lumOff val="88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alpha val="0"/>
              </a:schemeClr>
            </a:solidFill>
          </a:ln>
          <a:effectLst>
            <a:glow rad="88900">
              <a:schemeClr val="accent1">
                <a:lumMod val="20000"/>
                <a:lumOff val="80000"/>
                <a:alpha val="99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9" name="Textfeld 18">
            <a:extLst>
              <a:ext uri="{FF2B5EF4-FFF2-40B4-BE49-F238E27FC236}">
                <a16:creationId xmlns:a16="http://schemas.microsoft.com/office/drawing/2014/main" id="{165A6875-0C5D-48AE-9BD2-FEEA9F6D63CB}"/>
              </a:ext>
            </a:extLst>
          </p:cNvPr>
          <p:cNvSpPr txBox="1"/>
          <p:nvPr/>
        </p:nvSpPr>
        <p:spPr>
          <a:xfrm>
            <a:off x="8155565" y="302621"/>
            <a:ext cx="2208670" cy="646331"/>
          </a:xfrm>
          <a:prstGeom prst="rect">
            <a:avLst/>
          </a:prstGeom>
          <a:noFill/>
        </p:spPr>
        <p:txBody>
          <a:bodyPr wrap="square" rtlCol="0">
            <a:spAutoFit/>
          </a:bodyPr>
          <a:lstStyle/>
          <a:p>
            <a:r>
              <a:rPr lang="de-DE"/>
              <a:t>Implementierungs-</a:t>
            </a:r>
          </a:p>
          <a:p>
            <a:r>
              <a:rPr lang="de-DE"/>
              <a:t>phase</a:t>
            </a:r>
            <a:endParaRPr lang="de-DE" sz="1600"/>
          </a:p>
        </p:txBody>
      </p:sp>
      <p:sp>
        <p:nvSpPr>
          <p:cNvPr id="20" name="Rechteck 19">
            <a:extLst>
              <a:ext uri="{FF2B5EF4-FFF2-40B4-BE49-F238E27FC236}">
                <a16:creationId xmlns:a16="http://schemas.microsoft.com/office/drawing/2014/main" id="{2A1C2392-D0EA-4E0A-99FB-C60EA34058CF}"/>
              </a:ext>
            </a:extLst>
          </p:cNvPr>
          <p:cNvSpPr/>
          <p:nvPr/>
        </p:nvSpPr>
        <p:spPr>
          <a:xfrm>
            <a:off x="1891261" y="465105"/>
            <a:ext cx="2322078" cy="461665"/>
          </a:xfrm>
          <a:prstGeom prst="rect">
            <a:avLst/>
          </a:prstGeom>
          <a:noFill/>
        </p:spPr>
        <p:txBody>
          <a:bodyPr wrap="square" lIns="91440" tIns="45720" rIns="91440" bIns="45720">
            <a:spAutoFit/>
          </a:bodyPr>
          <a:lstStyle/>
          <a:p>
            <a:pPr algn="ctr"/>
            <a:r>
              <a:rPr lang="de-DE" sz="2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Projekt-Planung</a:t>
            </a:r>
            <a:endParaRPr lang="de-DE" sz="3200" b="1">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17" name="Textfeld 13">
            <a:extLst>
              <a:ext uri="{FF2B5EF4-FFF2-40B4-BE49-F238E27FC236}">
                <a16:creationId xmlns:a16="http://schemas.microsoft.com/office/drawing/2014/main" id="{3E53281E-E3CA-4D4D-AAFD-E8B9BCEC55D8}"/>
              </a:ext>
            </a:extLst>
          </p:cNvPr>
          <p:cNvSpPr txBox="1"/>
          <p:nvPr/>
        </p:nvSpPr>
        <p:spPr>
          <a:xfrm>
            <a:off x="6222903" y="313448"/>
            <a:ext cx="1625829" cy="369332"/>
          </a:xfrm>
          <a:prstGeom prst="rect">
            <a:avLst/>
          </a:prstGeom>
          <a:noFill/>
        </p:spPr>
        <p:txBody>
          <a:bodyPr wrap="square" rtlCol="0">
            <a:spAutoFit/>
          </a:bodyPr>
          <a:lstStyle/>
          <a:p>
            <a:r>
              <a:rPr lang="de-DE"/>
              <a:t>Entwurf</a:t>
            </a:r>
            <a:r>
              <a:rPr lang="en-DE"/>
              <a:t>s</a:t>
            </a:r>
            <a:r>
              <a:rPr lang="de-DE"/>
              <a:t>phase</a:t>
            </a:r>
          </a:p>
        </p:txBody>
      </p:sp>
    </p:spTree>
    <p:extLst>
      <p:ext uri="{BB962C8B-B14F-4D97-AF65-F5344CB8AC3E}">
        <p14:creationId xmlns:p14="http://schemas.microsoft.com/office/powerpoint/2010/main" val="20426002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EA9BBCA9-100E-4511-8721-840ECE5F7663}"/>
              </a:ext>
            </a:extLst>
          </p:cNvPr>
          <p:cNvPicPr>
            <a:picLocks noChangeAspect="1"/>
          </p:cNvPicPr>
          <p:nvPr/>
        </p:nvPicPr>
        <p:blipFill>
          <a:blip r:embed="rId3"/>
          <a:stretch>
            <a:fillRect/>
          </a:stretch>
        </p:blipFill>
        <p:spPr>
          <a:xfrm>
            <a:off x="2433180" y="1220694"/>
            <a:ext cx="7215187" cy="5237752"/>
          </a:xfrm>
          <a:prstGeom prst="rect">
            <a:avLst/>
          </a:prstGeom>
        </p:spPr>
      </p:pic>
      <p:sp>
        <p:nvSpPr>
          <p:cNvPr id="8" name="Rechteck 7">
            <a:extLst>
              <a:ext uri="{FF2B5EF4-FFF2-40B4-BE49-F238E27FC236}">
                <a16:creationId xmlns:a16="http://schemas.microsoft.com/office/drawing/2014/main" id="{B3DFC6D9-85AF-4861-AF80-0A7389D68002}"/>
              </a:ext>
            </a:extLst>
          </p:cNvPr>
          <p:cNvSpPr/>
          <p:nvPr/>
        </p:nvSpPr>
        <p:spPr>
          <a:xfrm>
            <a:off x="6883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9" name="Rechteck 8">
            <a:extLst>
              <a:ext uri="{FF2B5EF4-FFF2-40B4-BE49-F238E27FC236}">
                <a16:creationId xmlns:a16="http://schemas.microsoft.com/office/drawing/2014/main" id="{5F13B6E8-E937-4044-A025-7243A04620C3}"/>
              </a:ext>
            </a:extLst>
          </p:cNvPr>
          <p:cNvSpPr/>
          <p:nvPr/>
        </p:nvSpPr>
        <p:spPr>
          <a:xfrm>
            <a:off x="4097347" y="130220"/>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0" name="Rechteck 9">
            <a:extLst>
              <a:ext uri="{FF2B5EF4-FFF2-40B4-BE49-F238E27FC236}">
                <a16:creationId xmlns:a16="http://schemas.microsoft.com/office/drawing/2014/main" id="{EAA865BE-E1A6-4BFE-8F5A-89CEE56CEA16}"/>
              </a:ext>
            </a:extLst>
          </p:cNvPr>
          <p:cNvSpPr/>
          <p:nvPr/>
        </p:nvSpPr>
        <p:spPr>
          <a:xfrm>
            <a:off x="6116414"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1" name="Rechteck 10">
            <a:extLst>
              <a:ext uri="{FF2B5EF4-FFF2-40B4-BE49-F238E27FC236}">
                <a16:creationId xmlns:a16="http://schemas.microsoft.com/office/drawing/2014/main" id="{259F3F41-8737-4CC1-A36C-E79DE4F65E65}"/>
              </a:ext>
            </a:extLst>
          </p:cNvPr>
          <p:cNvSpPr/>
          <p:nvPr/>
        </p:nvSpPr>
        <p:spPr>
          <a:xfrm>
            <a:off x="8135481"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2" name="Rechteck 11">
            <a:extLst>
              <a:ext uri="{FF2B5EF4-FFF2-40B4-BE49-F238E27FC236}">
                <a16:creationId xmlns:a16="http://schemas.microsoft.com/office/drawing/2014/main" id="{55E9DB65-A5C7-4C18-ACD4-CC1E88641A2C}"/>
              </a:ext>
            </a:extLst>
          </p:cNvPr>
          <p:cNvSpPr/>
          <p:nvPr/>
        </p:nvSpPr>
        <p:spPr>
          <a:xfrm>
            <a:off x="1014895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4" name="Textfeld 13">
            <a:extLst>
              <a:ext uri="{FF2B5EF4-FFF2-40B4-BE49-F238E27FC236}">
                <a16:creationId xmlns:a16="http://schemas.microsoft.com/office/drawing/2014/main" id="{C5060A46-0EBB-479D-90F4-7023EBB48EC6}"/>
              </a:ext>
            </a:extLst>
          </p:cNvPr>
          <p:cNvSpPr txBox="1"/>
          <p:nvPr/>
        </p:nvSpPr>
        <p:spPr>
          <a:xfrm>
            <a:off x="10756544" y="307222"/>
            <a:ext cx="728254" cy="369332"/>
          </a:xfrm>
          <a:prstGeom prst="rect">
            <a:avLst/>
          </a:prstGeom>
          <a:noFill/>
        </p:spPr>
        <p:txBody>
          <a:bodyPr wrap="square" rtlCol="0">
            <a:spAutoFit/>
          </a:bodyPr>
          <a:lstStyle/>
          <a:p>
            <a:r>
              <a:rPr lang="de-DE"/>
              <a:t>Fazit</a:t>
            </a:r>
            <a:endParaRPr lang="de-DE" sz="1600"/>
          </a:p>
        </p:txBody>
      </p:sp>
      <p:sp>
        <p:nvSpPr>
          <p:cNvPr id="18" name="Textfeld 17">
            <a:extLst>
              <a:ext uri="{FF2B5EF4-FFF2-40B4-BE49-F238E27FC236}">
                <a16:creationId xmlns:a16="http://schemas.microsoft.com/office/drawing/2014/main" id="{652E03DA-AACA-46C5-A43E-347E042E0800}"/>
              </a:ext>
            </a:extLst>
          </p:cNvPr>
          <p:cNvSpPr txBox="1"/>
          <p:nvPr/>
        </p:nvSpPr>
        <p:spPr>
          <a:xfrm>
            <a:off x="4297423" y="307222"/>
            <a:ext cx="1490433" cy="369332"/>
          </a:xfrm>
          <a:prstGeom prst="rect">
            <a:avLst/>
          </a:prstGeom>
          <a:noFill/>
        </p:spPr>
        <p:txBody>
          <a:bodyPr wrap="square" rtlCol="0">
            <a:spAutoFit/>
          </a:bodyPr>
          <a:lstStyle/>
          <a:p>
            <a:r>
              <a:rPr lang="de-DE"/>
              <a:t>Analysephase</a:t>
            </a:r>
          </a:p>
        </p:txBody>
      </p:sp>
      <p:sp>
        <p:nvSpPr>
          <p:cNvPr id="19" name="Textfeld 18">
            <a:extLst>
              <a:ext uri="{FF2B5EF4-FFF2-40B4-BE49-F238E27FC236}">
                <a16:creationId xmlns:a16="http://schemas.microsoft.com/office/drawing/2014/main" id="{F6DD59CC-712A-49F9-A4F1-8F278C1E5771}"/>
              </a:ext>
            </a:extLst>
          </p:cNvPr>
          <p:cNvSpPr txBox="1"/>
          <p:nvPr/>
        </p:nvSpPr>
        <p:spPr>
          <a:xfrm>
            <a:off x="283135" y="307222"/>
            <a:ext cx="1490433" cy="369332"/>
          </a:xfrm>
          <a:prstGeom prst="rect">
            <a:avLst/>
          </a:prstGeom>
          <a:noFill/>
        </p:spPr>
        <p:txBody>
          <a:bodyPr wrap="square" rtlCol="0">
            <a:spAutoFit/>
          </a:bodyPr>
          <a:lstStyle/>
          <a:p>
            <a:r>
              <a:rPr lang="de-DE"/>
              <a:t>Vorstellung</a:t>
            </a:r>
          </a:p>
        </p:txBody>
      </p:sp>
      <p:sp>
        <p:nvSpPr>
          <p:cNvPr id="21" name="Rechteck 20">
            <a:extLst>
              <a:ext uri="{FF2B5EF4-FFF2-40B4-BE49-F238E27FC236}">
                <a16:creationId xmlns:a16="http://schemas.microsoft.com/office/drawing/2014/main" id="{13AC99C1-D440-49BE-89DC-B74F113288A4}"/>
              </a:ext>
            </a:extLst>
          </p:cNvPr>
          <p:cNvSpPr/>
          <p:nvPr/>
        </p:nvSpPr>
        <p:spPr>
          <a:xfrm>
            <a:off x="2091725" y="302621"/>
            <a:ext cx="1943427" cy="124402"/>
          </a:xfrm>
          <a:prstGeom prst="rect">
            <a:avLst/>
          </a:prstGeom>
          <a:gradFill>
            <a:gsLst>
              <a:gs pos="46000">
                <a:schemeClr val="accent1">
                  <a:lumMod val="12000"/>
                  <a:lumOff val="88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alpha val="0"/>
              </a:schemeClr>
            </a:solidFill>
          </a:ln>
          <a:effectLst>
            <a:glow rad="88900">
              <a:schemeClr val="accent1">
                <a:lumMod val="20000"/>
                <a:lumOff val="80000"/>
                <a:alpha val="99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5" name="Textfeld 14">
            <a:extLst>
              <a:ext uri="{FF2B5EF4-FFF2-40B4-BE49-F238E27FC236}">
                <a16:creationId xmlns:a16="http://schemas.microsoft.com/office/drawing/2014/main" id="{8F738176-411F-486F-9610-4CB6F9E9F742}"/>
              </a:ext>
            </a:extLst>
          </p:cNvPr>
          <p:cNvSpPr txBox="1"/>
          <p:nvPr/>
        </p:nvSpPr>
        <p:spPr>
          <a:xfrm>
            <a:off x="8155565" y="302621"/>
            <a:ext cx="2208670" cy="646331"/>
          </a:xfrm>
          <a:prstGeom prst="rect">
            <a:avLst/>
          </a:prstGeom>
          <a:noFill/>
        </p:spPr>
        <p:txBody>
          <a:bodyPr wrap="square" rtlCol="0">
            <a:spAutoFit/>
          </a:bodyPr>
          <a:lstStyle/>
          <a:p>
            <a:r>
              <a:rPr lang="de-DE"/>
              <a:t>Implementierungs-</a:t>
            </a:r>
          </a:p>
          <a:p>
            <a:r>
              <a:rPr lang="de-DE"/>
              <a:t>phase</a:t>
            </a:r>
            <a:endParaRPr lang="de-DE" sz="1600"/>
          </a:p>
        </p:txBody>
      </p:sp>
      <p:sp>
        <p:nvSpPr>
          <p:cNvPr id="16" name="Rechteck 15">
            <a:extLst>
              <a:ext uri="{FF2B5EF4-FFF2-40B4-BE49-F238E27FC236}">
                <a16:creationId xmlns:a16="http://schemas.microsoft.com/office/drawing/2014/main" id="{F68FBC17-7DE4-43FD-B439-09BC5AEED32F}"/>
              </a:ext>
            </a:extLst>
          </p:cNvPr>
          <p:cNvSpPr/>
          <p:nvPr/>
        </p:nvSpPr>
        <p:spPr>
          <a:xfrm>
            <a:off x="1891261" y="465105"/>
            <a:ext cx="2322078" cy="461665"/>
          </a:xfrm>
          <a:prstGeom prst="rect">
            <a:avLst/>
          </a:prstGeom>
          <a:noFill/>
        </p:spPr>
        <p:txBody>
          <a:bodyPr wrap="square" lIns="91440" tIns="45720" rIns="91440" bIns="45720">
            <a:spAutoFit/>
          </a:bodyPr>
          <a:lstStyle/>
          <a:p>
            <a:pPr algn="ctr"/>
            <a:r>
              <a:rPr lang="de-DE" sz="2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Projekt-Planung</a:t>
            </a:r>
            <a:endParaRPr lang="de-DE" sz="3200" b="1">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20" name="Textfeld 13">
            <a:extLst>
              <a:ext uri="{FF2B5EF4-FFF2-40B4-BE49-F238E27FC236}">
                <a16:creationId xmlns:a16="http://schemas.microsoft.com/office/drawing/2014/main" id="{12F1310C-5C12-4F1F-80C6-5CC41394FBEB}"/>
              </a:ext>
            </a:extLst>
          </p:cNvPr>
          <p:cNvSpPr txBox="1"/>
          <p:nvPr/>
        </p:nvSpPr>
        <p:spPr>
          <a:xfrm>
            <a:off x="6222903" y="313448"/>
            <a:ext cx="1625829" cy="369332"/>
          </a:xfrm>
          <a:prstGeom prst="rect">
            <a:avLst/>
          </a:prstGeom>
          <a:noFill/>
        </p:spPr>
        <p:txBody>
          <a:bodyPr wrap="square" rtlCol="0">
            <a:spAutoFit/>
          </a:bodyPr>
          <a:lstStyle/>
          <a:p>
            <a:r>
              <a:rPr lang="de-DE"/>
              <a:t>Entwurf</a:t>
            </a:r>
            <a:r>
              <a:rPr lang="en-DE"/>
              <a:t>s</a:t>
            </a:r>
            <a:r>
              <a:rPr lang="de-DE"/>
              <a:t>phase</a:t>
            </a:r>
          </a:p>
        </p:txBody>
      </p:sp>
    </p:spTree>
    <p:extLst>
      <p:ext uri="{BB962C8B-B14F-4D97-AF65-F5344CB8AC3E}">
        <p14:creationId xmlns:p14="http://schemas.microsoft.com/office/powerpoint/2010/main" val="884920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01375428-CD1D-4720-A512-00026B8AE66B}"/>
              </a:ext>
            </a:extLst>
          </p:cNvPr>
          <p:cNvSpPr>
            <a:spLocks noGrp="1"/>
          </p:cNvSpPr>
          <p:nvPr>
            <p:ph type="title"/>
          </p:nvPr>
        </p:nvSpPr>
        <p:spPr>
          <a:xfrm>
            <a:off x="605071" y="1416282"/>
            <a:ext cx="3296369" cy="850983"/>
          </a:xfrm>
        </p:spPr>
        <p:txBody>
          <a:bodyPr>
            <a:normAutofit/>
          </a:bodyPr>
          <a:lstStyle/>
          <a:p>
            <a:pPr marL="457200" indent="-457200">
              <a:buFont typeface="Wingdings" panose="05000000000000000000" pitchFamily="2" charset="2"/>
              <a:buChar char="Ø"/>
            </a:pPr>
            <a:r>
              <a:rPr lang="de-DE" sz="3600">
                <a:latin typeface="Bahnschrift SemiCondensed" panose="020B0502040204020203" pitchFamily="34" charset="0"/>
              </a:rPr>
              <a:t>Ist-Zustand</a:t>
            </a:r>
            <a:endParaRPr lang="de-DE" sz="2000">
              <a:latin typeface="Bahnschrift SemiCondensed" panose="020B0502040204020203" pitchFamily="34" charset="0"/>
            </a:endParaRPr>
          </a:p>
        </p:txBody>
      </p:sp>
      <p:pic>
        <p:nvPicPr>
          <p:cNvPr id="3" name="Grafik 2">
            <a:extLst>
              <a:ext uri="{FF2B5EF4-FFF2-40B4-BE49-F238E27FC236}">
                <a16:creationId xmlns:a16="http://schemas.microsoft.com/office/drawing/2014/main" id="{4399F953-C9CB-4606-B495-F942AF13AB14}"/>
              </a:ext>
            </a:extLst>
          </p:cNvPr>
          <p:cNvPicPr>
            <a:picLocks noChangeAspect="1"/>
          </p:cNvPicPr>
          <p:nvPr/>
        </p:nvPicPr>
        <p:blipFill>
          <a:blip r:embed="rId3"/>
          <a:stretch>
            <a:fillRect/>
          </a:stretch>
        </p:blipFill>
        <p:spPr>
          <a:xfrm>
            <a:off x="6412966" y="2267265"/>
            <a:ext cx="5388456" cy="3596933"/>
          </a:xfrm>
          <a:prstGeom prst="rect">
            <a:avLst/>
          </a:prstGeom>
          <a:ln>
            <a:noFill/>
          </a:ln>
          <a:effectLst>
            <a:softEdge rad="112500"/>
          </a:effectLst>
        </p:spPr>
      </p:pic>
      <p:pic>
        <p:nvPicPr>
          <p:cNvPr id="6" name="Grafik 5">
            <a:extLst>
              <a:ext uri="{FF2B5EF4-FFF2-40B4-BE49-F238E27FC236}">
                <a16:creationId xmlns:a16="http://schemas.microsoft.com/office/drawing/2014/main" id="{59A5E472-08C4-4572-86B9-0B307DDC98C6}"/>
              </a:ext>
            </a:extLst>
          </p:cNvPr>
          <p:cNvPicPr>
            <a:picLocks noChangeAspect="1"/>
          </p:cNvPicPr>
          <p:nvPr/>
        </p:nvPicPr>
        <p:blipFill rotWithShape="1">
          <a:blip r:embed="rId4"/>
          <a:srcRect r="7070"/>
          <a:stretch/>
        </p:blipFill>
        <p:spPr>
          <a:xfrm>
            <a:off x="167612" y="2267265"/>
            <a:ext cx="4848525" cy="3499606"/>
          </a:xfrm>
          <a:prstGeom prst="rect">
            <a:avLst/>
          </a:prstGeom>
          <a:ln>
            <a:noFill/>
          </a:ln>
          <a:effectLst>
            <a:softEdge rad="112500"/>
          </a:effectLst>
        </p:spPr>
      </p:pic>
      <p:sp>
        <p:nvSpPr>
          <p:cNvPr id="20" name="Titel 3">
            <a:extLst>
              <a:ext uri="{FF2B5EF4-FFF2-40B4-BE49-F238E27FC236}">
                <a16:creationId xmlns:a16="http://schemas.microsoft.com/office/drawing/2014/main" id="{4E76C676-31DA-42ED-85EB-E4309C0F50FF}"/>
              </a:ext>
            </a:extLst>
          </p:cNvPr>
          <p:cNvSpPr txBox="1">
            <a:spLocks/>
          </p:cNvSpPr>
          <p:nvPr/>
        </p:nvSpPr>
        <p:spPr>
          <a:xfrm>
            <a:off x="6853471" y="1300588"/>
            <a:ext cx="3701318" cy="8509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Ø"/>
            </a:pPr>
            <a:r>
              <a:rPr lang="de-DE" sz="3600">
                <a:latin typeface="Bahnschrift SemiCondensed" panose="020B0502040204020203" pitchFamily="34" charset="0"/>
              </a:rPr>
              <a:t>Soll-Zustand</a:t>
            </a:r>
            <a:endParaRPr lang="de-DE" sz="1400">
              <a:latin typeface="Bahnschrift SemiCondensed" panose="020B0502040204020203" pitchFamily="34" charset="0"/>
            </a:endParaRPr>
          </a:p>
        </p:txBody>
      </p:sp>
      <p:sp>
        <p:nvSpPr>
          <p:cNvPr id="7" name="Textfeld 6">
            <a:extLst>
              <a:ext uri="{FF2B5EF4-FFF2-40B4-BE49-F238E27FC236}">
                <a16:creationId xmlns:a16="http://schemas.microsoft.com/office/drawing/2014/main" id="{BAF35D72-5D20-4781-8FA2-B410C148A22C}"/>
              </a:ext>
            </a:extLst>
          </p:cNvPr>
          <p:cNvSpPr txBox="1"/>
          <p:nvPr/>
        </p:nvSpPr>
        <p:spPr>
          <a:xfrm>
            <a:off x="1127059" y="4017068"/>
            <a:ext cx="885206" cy="461665"/>
          </a:xfrm>
          <a:prstGeom prst="rect">
            <a:avLst/>
          </a:prstGeom>
          <a:noFill/>
        </p:spPr>
        <p:txBody>
          <a:bodyPr wrap="square" rtlCol="0">
            <a:spAutoFit/>
          </a:bodyPr>
          <a:lstStyle/>
          <a:p>
            <a:r>
              <a:rPr lang="de-DE" sz="2400" b="1">
                <a:solidFill>
                  <a:schemeClr val="accent2"/>
                </a:solidFill>
              </a:rPr>
              <a:t>COST</a:t>
            </a:r>
            <a:endParaRPr lang="de-DE" b="1">
              <a:solidFill>
                <a:schemeClr val="accent2"/>
              </a:solidFill>
            </a:endParaRPr>
          </a:p>
        </p:txBody>
      </p:sp>
      <p:sp>
        <p:nvSpPr>
          <p:cNvPr id="8" name="Pfeil: nach rechts 7">
            <a:extLst>
              <a:ext uri="{FF2B5EF4-FFF2-40B4-BE49-F238E27FC236}">
                <a16:creationId xmlns:a16="http://schemas.microsoft.com/office/drawing/2014/main" id="{D10EEF1D-BFCD-4E64-9A6C-3A85E42232CC}"/>
              </a:ext>
            </a:extLst>
          </p:cNvPr>
          <p:cNvSpPr/>
          <p:nvPr/>
        </p:nvSpPr>
        <p:spPr>
          <a:xfrm>
            <a:off x="5286104" y="3796937"/>
            <a:ext cx="986720" cy="566057"/>
          </a:xfrm>
          <a:prstGeom prst="rightArrow">
            <a:avLst/>
          </a:prstGeom>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7ACA90D8-84BD-4506-B802-7548B5EE6CDE}"/>
              </a:ext>
            </a:extLst>
          </p:cNvPr>
          <p:cNvSpPr/>
          <p:nvPr/>
        </p:nvSpPr>
        <p:spPr>
          <a:xfrm>
            <a:off x="6883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2" name="Rechteck 21">
            <a:extLst>
              <a:ext uri="{FF2B5EF4-FFF2-40B4-BE49-F238E27FC236}">
                <a16:creationId xmlns:a16="http://schemas.microsoft.com/office/drawing/2014/main" id="{5E3FFC2B-6FAC-4075-ACA3-916E09CF3BA4}"/>
              </a:ext>
            </a:extLst>
          </p:cNvPr>
          <p:cNvSpPr/>
          <p:nvPr/>
        </p:nvSpPr>
        <p:spPr>
          <a:xfrm>
            <a:off x="4097347" y="130220"/>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23" name="Rechteck 22">
            <a:extLst>
              <a:ext uri="{FF2B5EF4-FFF2-40B4-BE49-F238E27FC236}">
                <a16:creationId xmlns:a16="http://schemas.microsoft.com/office/drawing/2014/main" id="{93701400-C6B8-40B9-81F1-4AA6B6F8F959}"/>
              </a:ext>
            </a:extLst>
          </p:cNvPr>
          <p:cNvSpPr/>
          <p:nvPr/>
        </p:nvSpPr>
        <p:spPr>
          <a:xfrm>
            <a:off x="6116414"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6" name="Rechteck 25">
            <a:extLst>
              <a:ext uri="{FF2B5EF4-FFF2-40B4-BE49-F238E27FC236}">
                <a16:creationId xmlns:a16="http://schemas.microsoft.com/office/drawing/2014/main" id="{36F2E4BB-1DE6-4E40-912A-C3B84DAB9608}"/>
              </a:ext>
            </a:extLst>
          </p:cNvPr>
          <p:cNvSpPr/>
          <p:nvPr/>
        </p:nvSpPr>
        <p:spPr>
          <a:xfrm>
            <a:off x="8135481"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7" name="Rechteck 26">
            <a:extLst>
              <a:ext uri="{FF2B5EF4-FFF2-40B4-BE49-F238E27FC236}">
                <a16:creationId xmlns:a16="http://schemas.microsoft.com/office/drawing/2014/main" id="{543F1325-ED21-451F-82B5-0B5D92793879}"/>
              </a:ext>
            </a:extLst>
          </p:cNvPr>
          <p:cNvSpPr/>
          <p:nvPr/>
        </p:nvSpPr>
        <p:spPr>
          <a:xfrm>
            <a:off x="1014895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9" name="Textfeld 28">
            <a:extLst>
              <a:ext uri="{FF2B5EF4-FFF2-40B4-BE49-F238E27FC236}">
                <a16:creationId xmlns:a16="http://schemas.microsoft.com/office/drawing/2014/main" id="{82B4D6F2-B0B4-44EE-8FAF-AFCB6419CF80}"/>
              </a:ext>
            </a:extLst>
          </p:cNvPr>
          <p:cNvSpPr txBox="1"/>
          <p:nvPr/>
        </p:nvSpPr>
        <p:spPr>
          <a:xfrm>
            <a:off x="10756544" y="307222"/>
            <a:ext cx="728254" cy="369332"/>
          </a:xfrm>
          <a:prstGeom prst="rect">
            <a:avLst/>
          </a:prstGeom>
          <a:noFill/>
        </p:spPr>
        <p:txBody>
          <a:bodyPr wrap="square" rtlCol="0">
            <a:spAutoFit/>
          </a:bodyPr>
          <a:lstStyle/>
          <a:p>
            <a:r>
              <a:rPr lang="de-DE"/>
              <a:t>Fazit</a:t>
            </a:r>
            <a:endParaRPr lang="de-DE" sz="1600"/>
          </a:p>
        </p:txBody>
      </p:sp>
      <p:sp>
        <p:nvSpPr>
          <p:cNvPr id="37" name="Textfeld 36">
            <a:extLst>
              <a:ext uri="{FF2B5EF4-FFF2-40B4-BE49-F238E27FC236}">
                <a16:creationId xmlns:a16="http://schemas.microsoft.com/office/drawing/2014/main" id="{5A091342-EA27-42A1-94BC-6FE1BB77287A}"/>
              </a:ext>
            </a:extLst>
          </p:cNvPr>
          <p:cNvSpPr txBox="1"/>
          <p:nvPr/>
        </p:nvSpPr>
        <p:spPr>
          <a:xfrm>
            <a:off x="4297423" y="307222"/>
            <a:ext cx="1490433" cy="369332"/>
          </a:xfrm>
          <a:prstGeom prst="rect">
            <a:avLst/>
          </a:prstGeom>
          <a:noFill/>
        </p:spPr>
        <p:txBody>
          <a:bodyPr wrap="square" rtlCol="0">
            <a:spAutoFit/>
          </a:bodyPr>
          <a:lstStyle/>
          <a:p>
            <a:r>
              <a:rPr lang="de-DE"/>
              <a:t>Analysephase</a:t>
            </a:r>
          </a:p>
        </p:txBody>
      </p:sp>
      <p:sp>
        <p:nvSpPr>
          <p:cNvPr id="38" name="Textfeld 37">
            <a:extLst>
              <a:ext uri="{FF2B5EF4-FFF2-40B4-BE49-F238E27FC236}">
                <a16:creationId xmlns:a16="http://schemas.microsoft.com/office/drawing/2014/main" id="{28ACD090-11C0-4E33-887C-19F591843C8B}"/>
              </a:ext>
            </a:extLst>
          </p:cNvPr>
          <p:cNvSpPr txBox="1"/>
          <p:nvPr/>
        </p:nvSpPr>
        <p:spPr>
          <a:xfrm>
            <a:off x="283135" y="307222"/>
            <a:ext cx="1490433" cy="369332"/>
          </a:xfrm>
          <a:prstGeom prst="rect">
            <a:avLst/>
          </a:prstGeom>
          <a:noFill/>
        </p:spPr>
        <p:txBody>
          <a:bodyPr wrap="square" rtlCol="0">
            <a:spAutoFit/>
          </a:bodyPr>
          <a:lstStyle/>
          <a:p>
            <a:r>
              <a:rPr lang="de-DE"/>
              <a:t>Vorstellung</a:t>
            </a:r>
          </a:p>
        </p:txBody>
      </p:sp>
      <p:sp>
        <p:nvSpPr>
          <p:cNvPr id="24" name="Rechteck 23">
            <a:extLst>
              <a:ext uri="{FF2B5EF4-FFF2-40B4-BE49-F238E27FC236}">
                <a16:creationId xmlns:a16="http://schemas.microsoft.com/office/drawing/2014/main" id="{2509DC6B-624D-4C75-859D-55423BBBFD3B}"/>
              </a:ext>
            </a:extLst>
          </p:cNvPr>
          <p:cNvSpPr/>
          <p:nvPr/>
        </p:nvSpPr>
        <p:spPr>
          <a:xfrm>
            <a:off x="2091725" y="302621"/>
            <a:ext cx="1943427" cy="124402"/>
          </a:xfrm>
          <a:prstGeom prst="rect">
            <a:avLst/>
          </a:prstGeom>
          <a:gradFill>
            <a:gsLst>
              <a:gs pos="46000">
                <a:schemeClr val="accent1">
                  <a:lumMod val="12000"/>
                  <a:lumOff val="88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alpha val="0"/>
              </a:schemeClr>
            </a:solidFill>
          </a:ln>
          <a:effectLst>
            <a:glow rad="88900">
              <a:schemeClr val="accent1">
                <a:lumMod val="20000"/>
                <a:lumOff val="80000"/>
                <a:alpha val="99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8" name="Textfeld 27">
            <a:extLst>
              <a:ext uri="{FF2B5EF4-FFF2-40B4-BE49-F238E27FC236}">
                <a16:creationId xmlns:a16="http://schemas.microsoft.com/office/drawing/2014/main" id="{3A0C6D9A-902F-48B8-B520-35F63389AF4A}"/>
              </a:ext>
            </a:extLst>
          </p:cNvPr>
          <p:cNvSpPr txBox="1"/>
          <p:nvPr/>
        </p:nvSpPr>
        <p:spPr>
          <a:xfrm>
            <a:off x="8155565" y="302621"/>
            <a:ext cx="2208670" cy="646331"/>
          </a:xfrm>
          <a:prstGeom prst="rect">
            <a:avLst/>
          </a:prstGeom>
          <a:noFill/>
        </p:spPr>
        <p:txBody>
          <a:bodyPr wrap="square" rtlCol="0">
            <a:spAutoFit/>
          </a:bodyPr>
          <a:lstStyle/>
          <a:p>
            <a:r>
              <a:rPr lang="de-DE"/>
              <a:t>Implementierungs-</a:t>
            </a:r>
          </a:p>
          <a:p>
            <a:r>
              <a:rPr lang="de-DE"/>
              <a:t>phase</a:t>
            </a:r>
            <a:endParaRPr lang="de-DE" sz="1600"/>
          </a:p>
        </p:txBody>
      </p:sp>
      <p:sp>
        <p:nvSpPr>
          <p:cNvPr id="30" name="Rechteck 29">
            <a:extLst>
              <a:ext uri="{FF2B5EF4-FFF2-40B4-BE49-F238E27FC236}">
                <a16:creationId xmlns:a16="http://schemas.microsoft.com/office/drawing/2014/main" id="{02291885-9822-48B3-811A-F507AD6CEC4F}"/>
              </a:ext>
            </a:extLst>
          </p:cNvPr>
          <p:cNvSpPr/>
          <p:nvPr/>
        </p:nvSpPr>
        <p:spPr>
          <a:xfrm>
            <a:off x="1891261" y="465105"/>
            <a:ext cx="2322078" cy="461665"/>
          </a:xfrm>
          <a:prstGeom prst="rect">
            <a:avLst/>
          </a:prstGeom>
          <a:noFill/>
        </p:spPr>
        <p:txBody>
          <a:bodyPr wrap="square" lIns="91440" tIns="45720" rIns="91440" bIns="45720">
            <a:spAutoFit/>
          </a:bodyPr>
          <a:lstStyle/>
          <a:p>
            <a:pPr algn="ctr"/>
            <a:r>
              <a:rPr lang="de-DE" sz="2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Projekt-Planung</a:t>
            </a:r>
            <a:endParaRPr lang="de-DE" sz="3200" b="1">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25" name="Textfeld 13">
            <a:extLst>
              <a:ext uri="{FF2B5EF4-FFF2-40B4-BE49-F238E27FC236}">
                <a16:creationId xmlns:a16="http://schemas.microsoft.com/office/drawing/2014/main" id="{417F1015-635F-4C19-AEC7-719E726E27E7}"/>
              </a:ext>
            </a:extLst>
          </p:cNvPr>
          <p:cNvSpPr txBox="1"/>
          <p:nvPr/>
        </p:nvSpPr>
        <p:spPr>
          <a:xfrm>
            <a:off x="6222903" y="313448"/>
            <a:ext cx="1625829" cy="369332"/>
          </a:xfrm>
          <a:prstGeom prst="rect">
            <a:avLst/>
          </a:prstGeom>
          <a:noFill/>
        </p:spPr>
        <p:txBody>
          <a:bodyPr wrap="square" rtlCol="0">
            <a:spAutoFit/>
          </a:bodyPr>
          <a:lstStyle/>
          <a:p>
            <a:r>
              <a:rPr lang="de-DE"/>
              <a:t>Entwurf</a:t>
            </a:r>
            <a:r>
              <a:rPr lang="en-DE"/>
              <a:t>s</a:t>
            </a:r>
            <a:r>
              <a:rPr lang="de-DE"/>
              <a:t>phase</a:t>
            </a:r>
          </a:p>
        </p:txBody>
      </p:sp>
    </p:spTree>
    <p:extLst>
      <p:ext uri="{BB962C8B-B14F-4D97-AF65-F5344CB8AC3E}">
        <p14:creationId xmlns:p14="http://schemas.microsoft.com/office/powerpoint/2010/main" val="2060942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2DC9731A-33B3-4010-BE6C-038A38C7AC34}"/>
              </a:ext>
            </a:extLst>
          </p:cNvPr>
          <p:cNvPicPr>
            <a:picLocks noChangeAspect="1"/>
          </p:cNvPicPr>
          <p:nvPr/>
        </p:nvPicPr>
        <p:blipFill>
          <a:blip r:embed="rId3"/>
          <a:stretch>
            <a:fillRect/>
          </a:stretch>
        </p:blipFill>
        <p:spPr>
          <a:xfrm>
            <a:off x="2329425" y="1820810"/>
            <a:ext cx="7886796" cy="4690154"/>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18" name="Textfeld 17">
            <a:extLst>
              <a:ext uri="{FF2B5EF4-FFF2-40B4-BE49-F238E27FC236}">
                <a16:creationId xmlns:a16="http://schemas.microsoft.com/office/drawing/2014/main" id="{7F56A371-FE26-4181-935C-844229DE7E15}"/>
              </a:ext>
            </a:extLst>
          </p:cNvPr>
          <p:cNvSpPr txBox="1"/>
          <p:nvPr/>
        </p:nvSpPr>
        <p:spPr>
          <a:xfrm>
            <a:off x="330112" y="1121463"/>
            <a:ext cx="3364306" cy="646331"/>
          </a:xfrm>
          <a:prstGeom prst="rect">
            <a:avLst/>
          </a:prstGeom>
          <a:noFill/>
        </p:spPr>
        <p:txBody>
          <a:bodyPr wrap="square" rtlCol="0">
            <a:spAutoFit/>
          </a:bodyPr>
          <a:lstStyle/>
          <a:p>
            <a:pPr marL="571500" indent="-571500">
              <a:buFont typeface="Wingdings" panose="05000000000000000000" pitchFamily="2" charset="2"/>
              <a:buChar char="Ø"/>
            </a:pPr>
            <a:r>
              <a:rPr lang="de-DE" sz="3600" b="1"/>
              <a:t>IST-Zustand</a:t>
            </a:r>
            <a:endParaRPr lang="de-DE" sz="2400" b="1"/>
          </a:p>
        </p:txBody>
      </p:sp>
      <p:sp>
        <p:nvSpPr>
          <p:cNvPr id="31" name="Rechteck 30">
            <a:extLst>
              <a:ext uri="{FF2B5EF4-FFF2-40B4-BE49-F238E27FC236}">
                <a16:creationId xmlns:a16="http://schemas.microsoft.com/office/drawing/2014/main" id="{2D197A52-B9FD-4C30-8E94-005EB7954E45}"/>
              </a:ext>
            </a:extLst>
          </p:cNvPr>
          <p:cNvSpPr/>
          <p:nvPr/>
        </p:nvSpPr>
        <p:spPr>
          <a:xfrm>
            <a:off x="68838" y="129804"/>
            <a:ext cx="1943427" cy="124402"/>
          </a:xfrm>
          <a:prstGeom prst="rect">
            <a:avLst/>
          </a:prstGeom>
          <a:solidFill>
            <a:srgbClr val="C00000"/>
          </a:solidFill>
          <a:ln>
            <a:solidFill>
              <a:schemeClr val="accent1">
                <a:shade val="50000"/>
                <a:alpha val="0"/>
              </a:schemeClr>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2" name="Rechteck 31">
            <a:extLst>
              <a:ext uri="{FF2B5EF4-FFF2-40B4-BE49-F238E27FC236}">
                <a16:creationId xmlns:a16="http://schemas.microsoft.com/office/drawing/2014/main" id="{B9BFFCE9-922E-439D-8A22-E8BC1580F5DF}"/>
              </a:ext>
            </a:extLst>
          </p:cNvPr>
          <p:cNvSpPr/>
          <p:nvPr/>
        </p:nvSpPr>
        <p:spPr>
          <a:xfrm>
            <a:off x="6116414"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3" name="Rechteck 32">
            <a:extLst>
              <a:ext uri="{FF2B5EF4-FFF2-40B4-BE49-F238E27FC236}">
                <a16:creationId xmlns:a16="http://schemas.microsoft.com/office/drawing/2014/main" id="{1652A65D-EA5B-4C5A-940E-1F5683530AD1}"/>
              </a:ext>
            </a:extLst>
          </p:cNvPr>
          <p:cNvSpPr/>
          <p:nvPr/>
        </p:nvSpPr>
        <p:spPr>
          <a:xfrm>
            <a:off x="8135481"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4" name="Rechteck 33">
            <a:extLst>
              <a:ext uri="{FF2B5EF4-FFF2-40B4-BE49-F238E27FC236}">
                <a16:creationId xmlns:a16="http://schemas.microsoft.com/office/drawing/2014/main" id="{6712113E-460C-4343-9361-63B91AA578FA}"/>
              </a:ext>
            </a:extLst>
          </p:cNvPr>
          <p:cNvSpPr/>
          <p:nvPr/>
        </p:nvSpPr>
        <p:spPr>
          <a:xfrm>
            <a:off x="1014895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5" name="Rechteck 34">
            <a:extLst>
              <a:ext uri="{FF2B5EF4-FFF2-40B4-BE49-F238E27FC236}">
                <a16:creationId xmlns:a16="http://schemas.microsoft.com/office/drawing/2014/main" id="{36AD05C3-FE01-4F94-A421-EBA6A246EFC6}"/>
              </a:ext>
            </a:extLst>
          </p:cNvPr>
          <p:cNvSpPr/>
          <p:nvPr/>
        </p:nvSpPr>
        <p:spPr>
          <a:xfrm>
            <a:off x="4123589" y="404207"/>
            <a:ext cx="1943427" cy="461665"/>
          </a:xfrm>
          <a:prstGeom prst="rect">
            <a:avLst/>
          </a:prstGeom>
          <a:noFill/>
        </p:spPr>
        <p:txBody>
          <a:bodyPr wrap="square" lIns="91440" tIns="45720" rIns="91440" bIns="45720">
            <a:spAutoFit/>
          </a:bodyPr>
          <a:lstStyle/>
          <a:p>
            <a:pPr algn="ctr"/>
            <a:r>
              <a:rPr lang="de-DE" sz="2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Analysephase</a:t>
            </a:r>
            <a:endParaRPr lang="de-DE" sz="3200" b="1">
              <a:ln w="9525">
                <a:solidFill>
                  <a:schemeClr val="bg1"/>
                </a:solidFill>
                <a:prstDash val="solid"/>
              </a:ln>
              <a:effectLst>
                <a:outerShdw blurRad="12700" dist="38100" dir="2700000" algn="tl" rotWithShape="0">
                  <a:schemeClr val="bg1">
                    <a:lumMod val="50000"/>
                  </a:schemeClr>
                </a:outerShdw>
              </a:effectLst>
            </a:endParaRPr>
          </a:p>
        </p:txBody>
      </p:sp>
      <p:sp>
        <p:nvSpPr>
          <p:cNvPr id="36" name="Textfeld 35">
            <a:extLst>
              <a:ext uri="{FF2B5EF4-FFF2-40B4-BE49-F238E27FC236}">
                <a16:creationId xmlns:a16="http://schemas.microsoft.com/office/drawing/2014/main" id="{48B594C3-21B2-4DDB-BB18-796727F55E38}"/>
              </a:ext>
            </a:extLst>
          </p:cNvPr>
          <p:cNvSpPr txBox="1"/>
          <p:nvPr/>
        </p:nvSpPr>
        <p:spPr>
          <a:xfrm>
            <a:off x="10756544" y="307222"/>
            <a:ext cx="728254" cy="369332"/>
          </a:xfrm>
          <a:prstGeom prst="rect">
            <a:avLst/>
          </a:prstGeom>
          <a:noFill/>
        </p:spPr>
        <p:txBody>
          <a:bodyPr wrap="square" rtlCol="0">
            <a:spAutoFit/>
          </a:bodyPr>
          <a:lstStyle/>
          <a:p>
            <a:r>
              <a:rPr lang="de-DE"/>
              <a:t>Fazit</a:t>
            </a:r>
            <a:endParaRPr lang="de-DE" sz="1600"/>
          </a:p>
        </p:txBody>
      </p:sp>
      <p:sp>
        <p:nvSpPr>
          <p:cNvPr id="37" name="Rechteck 36">
            <a:extLst>
              <a:ext uri="{FF2B5EF4-FFF2-40B4-BE49-F238E27FC236}">
                <a16:creationId xmlns:a16="http://schemas.microsoft.com/office/drawing/2014/main" id="{CC5310DF-EDDC-485E-90E7-73F06A84B59C}"/>
              </a:ext>
            </a:extLst>
          </p:cNvPr>
          <p:cNvSpPr/>
          <p:nvPr/>
        </p:nvSpPr>
        <p:spPr>
          <a:xfrm>
            <a:off x="4097347" y="245021"/>
            <a:ext cx="1943427" cy="124402"/>
          </a:xfrm>
          <a:prstGeom prst="rect">
            <a:avLst/>
          </a:prstGeom>
          <a:gradFill>
            <a:gsLst>
              <a:gs pos="46000">
                <a:schemeClr val="accent1">
                  <a:lumMod val="12000"/>
                  <a:lumOff val="88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alpha val="0"/>
              </a:schemeClr>
            </a:solidFill>
          </a:ln>
          <a:effectLst>
            <a:glow rad="88900">
              <a:schemeClr val="accent1">
                <a:lumMod val="20000"/>
                <a:lumOff val="80000"/>
                <a:alpha val="99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8" name="Rechteck 37">
            <a:extLst>
              <a:ext uri="{FF2B5EF4-FFF2-40B4-BE49-F238E27FC236}">
                <a16:creationId xmlns:a16="http://schemas.microsoft.com/office/drawing/2014/main" id="{1C3726EC-A252-4076-B72F-0CBF15293AB1}"/>
              </a:ext>
            </a:extLst>
          </p:cNvPr>
          <p:cNvSpPr/>
          <p:nvPr/>
        </p:nvSpPr>
        <p:spPr>
          <a:xfrm>
            <a:off x="2078280"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42" name="Textfeld 41">
            <a:extLst>
              <a:ext uri="{FF2B5EF4-FFF2-40B4-BE49-F238E27FC236}">
                <a16:creationId xmlns:a16="http://schemas.microsoft.com/office/drawing/2014/main" id="{E549946D-4BC8-45E0-A467-9C97DB024FE4}"/>
              </a:ext>
            </a:extLst>
          </p:cNvPr>
          <p:cNvSpPr txBox="1"/>
          <p:nvPr/>
        </p:nvSpPr>
        <p:spPr>
          <a:xfrm>
            <a:off x="283135" y="307222"/>
            <a:ext cx="1490433" cy="369332"/>
          </a:xfrm>
          <a:prstGeom prst="rect">
            <a:avLst/>
          </a:prstGeom>
          <a:noFill/>
        </p:spPr>
        <p:txBody>
          <a:bodyPr wrap="square" rtlCol="0">
            <a:spAutoFit/>
          </a:bodyPr>
          <a:lstStyle/>
          <a:p>
            <a:r>
              <a:rPr lang="de-DE"/>
              <a:t>Vorstellung</a:t>
            </a:r>
          </a:p>
        </p:txBody>
      </p:sp>
      <p:sp>
        <p:nvSpPr>
          <p:cNvPr id="7" name="Multiplication Sign 6">
            <a:extLst>
              <a:ext uri="{FF2B5EF4-FFF2-40B4-BE49-F238E27FC236}">
                <a16:creationId xmlns:a16="http://schemas.microsoft.com/office/drawing/2014/main" id="{22C9B8A9-3A65-4F18-BA25-A879F120CC85}"/>
              </a:ext>
            </a:extLst>
          </p:cNvPr>
          <p:cNvSpPr/>
          <p:nvPr/>
        </p:nvSpPr>
        <p:spPr>
          <a:xfrm>
            <a:off x="4599893" y="5263661"/>
            <a:ext cx="397693" cy="432945"/>
          </a:xfrm>
          <a:prstGeom prst="mathMultiply">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sp>
        <p:nvSpPr>
          <p:cNvPr id="21" name="Multiplication Sign 20">
            <a:extLst>
              <a:ext uri="{FF2B5EF4-FFF2-40B4-BE49-F238E27FC236}">
                <a16:creationId xmlns:a16="http://schemas.microsoft.com/office/drawing/2014/main" id="{90F9DF5C-F75B-471A-8F41-21E073DDF661}"/>
              </a:ext>
            </a:extLst>
          </p:cNvPr>
          <p:cNvSpPr/>
          <p:nvPr/>
        </p:nvSpPr>
        <p:spPr>
          <a:xfrm>
            <a:off x="6450378" y="5278617"/>
            <a:ext cx="397693" cy="328246"/>
          </a:xfrm>
          <a:prstGeom prst="mathMultiply">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sp>
        <p:nvSpPr>
          <p:cNvPr id="22" name="Multiplication Sign 21">
            <a:extLst>
              <a:ext uri="{FF2B5EF4-FFF2-40B4-BE49-F238E27FC236}">
                <a16:creationId xmlns:a16="http://schemas.microsoft.com/office/drawing/2014/main" id="{4B9EF5ED-7544-4345-A8B9-75F92F6BF677}"/>
              </a:ext>
            </a:extLst>
          </p:cNvPr>
          <p:cNvSpPr/>
          <p:nvPr/>
        </p:nvSpPr>
        <p:spPr>
          <a:xfrm>
            <a:off x="8474369" y="5248705"/>
            <a:ext cx="397693" cy="358158"/>
          </a:xfrm>
          <a:prstGeom prst="mathMultiply">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sp>
        <p:nvSpPr>
          <p:cNvPr id="19" name="Textfeld 18">
            <a:extLst>
              <a:ext uri="{FF2B5EF4-FFF2-40B4-BE49-F238E27FC236}">
                <a16:creationId xmlns:a16="http://schemas.microsoft.com/office/drawing/2014/main" id="{578014A3-A424-412A-8745-CBB1B45C6179}"/>
              </a:ext>
            </a:extLst>
          </p:cNvPr>
          <p:cNvSpPr txBox="1"/>
          <p:nvPr/>
        </p:nvSpPr>
        <p:spPr>
          <a:xfrm>
            <a:off x="8155565" y="302621"/>
            <a:ext cx="2208670" cy="646331"/>
          </a:xfrm>
          <a:prstGeom prst="rect">
            <a:avLst/>
          </a:prstGeom>
          <a:noFill/>
        </p:spPr>
        <p:txBody>
          <a:bodyPr wrap="square" rtlCol="0">
            <a:spAutoFit/>
          </a:bodyPr>
          <a:lstStyle/>
          <a:p>
            <a:r>
              <a:rPr lang="de-DE"/>
              <a:t>Implementierungs-</a:t>
            </a:r>
          </a:p>
          <a:p>
            <a:r>
              <a:rPr lang="de-DE"/>
              <a:t>phase</a:t>
            </a:r>
            <a:endParaRPr lang="de-DE" sz="1600"/>
          </a:p>
        </p:txBody>
      </p:sp>
      <p:sp>
        <p:nvSpPr>
          <p:cNvPr id="20" name="Textfeld 19">
            <a:extLst>
              <a:ext uri="{FF2B5EF4-FFF2-40B4-BE49-F238E27FC236}">
                <a16:creationId xmlns:a16="http://schemas.microsoft.com/office/drawing/2014/main" id="{D87EB2D4-C838-4732-8746-42585D8E8F83}"/>
              </a:ext>
            </a:extLst>
          </p:cNvPr>
          <p:cNvSpPr txBox="1"/>
          <p:nvPr/>
        </p:nvSpPr>
        <p:spPr>
          <a:xfrm>
            <a:off x="2235510" y="307222"/>
            <a:ext cx="1762801" cy="369332"/>
          </a:xfrm>
          <a:prstGeom prst="rect">
            <a:avLst/>
          </a:prstGeom>
          <a:noFill/>
        </p:spPr>
        <p:txBody>
          <a:bodyPr wrap="square" rtlCol="0">
            <a:spAutoFit/>
          </a:bodyPr>
          <a:lstStyle/>
          <a:p>
            <a:r>
              <a:rPr lang="de-DE"/>
              <a:t>Projekt-Planung</a:t>
            </a:r>
            <a:endParaRPr lang="de-DE" sz="2000"/>
          </a:p>
        </p:txBody>
      </p:sp>
      <p:sp>
        <p:nvSpPr>
          <p:cNvPr id="23" name="Textfeld 13">
            <a:extLst>
              <a:ext uri="{FF2B5EF4-FFF2-40B4-BE49-F238E27FC236}">
                <a16:creationId xmlns:a16="http://schemas.microsoft.com/office/drawing/2014/main" id="{6527AAC3-61E4-4336-B1D4-62CEB49DD4C2}"/>
              </a:ext>
            </a:extLst>
          </p:cNvPr>
          <p:cNvSpPr txBox="1"/>
          <p:nvPr/>
        </p:nvSpPr>
        <p:spPr>
          <a:xfrm>
            <a:off x="6222903" y="313448"/>
            <a:ext cx="1625829" cy="369332"/>
          </a:xfrm>
          <a:prstGeom prst="rect">
            <a:avLst/>
          </a:prstGeom>
          <a:noFill/>
        </p:spPr>
        <p:txBody>
          <a:bodyPr wrap="square" rtlCol="0">
            <a:spAutoFit/>
          </a:bodyPr>
          <a:lstStyle/>
          <a:p>
            <a:r>
              <a:rPr lang="de-DE"/>
              <a:t>Entwurf</a:t>
            </a:r>
            <a:r>
              <a:rPr lang="en-DE"/>
              <a:t>s</a:t>
            </a:r>
            <a:r>
              <a:rPr lang="de-DE"/>
              <a:t>phase</a:t>
            </a:r>
          </a:p>
        </p:txBody>
      </p:sp>
    </p:spTree>
    <p:extLst>
      <p:ext uri="{BB962C8B-B14F-4D97-AF65-F5344CB8AC3E}">
        <p14:creationId xmlns:p14="http://schemas.microsoft.com/office/powerpoint/2010/main" val="496162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feld 29">
            <a:extLst>
              <a:ext uri="{FF2B5EF4-FFF2-40B4-BE49-F238E27FC236}">
                <a16:creationId xmlns:a16="http://schemas.microsoft.com/office/drawing/2014/main" id="{3C5E52AE-CAC1-478A-9B76-D60E975C3A23}"/>
              </a:ext>
            </a:extLst>
          </p:cNvPr>
          <p:cNvSpPr txBox="1"/>
          <p:nvPr/>
        </p:nvSpPr>
        <p:spPr>
          <a:xfrm>
            <a:off x="266078" y="1013784"/>
            <a:ext cx="2325810" cy="584775"/>
          </a:xfrm>
          <a:prstGeom prst="rect">
            <a:avLst/>
          </a:prstGeom>
          <a:noFill/>
        </p:spPr>
        <p:txBody>
          <a:bodyPr wrap="square" rtlCol="0">
            <a:spAutoFit/>
          </a:bodyPr>
          <a:lstStyle/>
          <a:p>
            <a:r>
              <a:rPr lang="de-DE" sz="3200" b="1"/>
              <a:t>Soll-Zustand</a:t>
            </a:r>
            <a:endParaRPr lang="de-DE" b="1"/>
          </a:p>
        </p:txBody>
      </p:sp>
      <p:pic>
        <p:nvPicPr>
          <p:cNvPr id="33" name="Grafik 32">
            <a:extLst>
              <a:ext uri="{FF2B5EF4-FFF2-40B4-BE49-F238E27FC236}">
                <a16:creationId xmlns:a16="http://schemas.microsoft.com/office/drawing/2014/main" id="{4CF2F016-3FE5-4BD6-83C7-2DE111755BDC}"/>
              </a:ext>
            </a:extLst>
          </p:cNvPr>
          <p:cNvPicPr>
            <a:picLocks noChangeAspect="1"/>
          </p:cNvPicPr>
          <p:nvPr/>
        </p:nvPicPr>
        <p:blipFill>
          <a:blip r:embed="rId3"/>
          <a:stretch>
            <a:fillRect/>
          </a:stretch>
        </p:blipFill>
        <p:spPr>
          <a:xfrm>
            <a:off x="349586" y="1110049"/>
            <a:ext cx="2514600" cy="485775"/>
          </a:xfrm>
          <a:prstGeom prst="rect">
            <a:avLst/>
          </a:prstGeom>
        </p:spPr>
      </p:pic>
      <p:sp>
        <p:nvSpPr>
          <p:cNvPr id="46" name="Textfeld 45">
            <a:extLst>
              <a:ext uri="{FF2B5EF4-FFF2-40B4-BE49-F238E27FC236}">
                <a16:creationId xmlns:a16="http://schemas.microsoft.com/office/drawing/2014/main" id="{F7F3494E-5BE3-488B-9580-6736C0BBF24A}"/>
              </a:ext>
            </a:extLst>
          </p:cNvPr>
          <p:cNvSpPr txBox="1"/>
          <p:nvPr/>
        </p:nvSpPr>
        <p:spPr>
          <a:xfrm>
            <a:off x="349586" y="889056"/>
            <a:ext cx="2929135" cy="646331"/>
          </a:xfrm>
          <a:prstGeom prst="rect">
            <a:avLst/>
          </a:prstGeom>
          <a:noFill/>
        </p:spPr>
        <p:txBody>
          <a:bodyPr wrap="none" rtlCol="0">
            <a:spAutoFit/>
          </a:bodyPr>
          <a:lstStyle/>
          <a:p>
            <a:pPr marL="571500" indent="-571500">
              <a:buFont typeface="Wingdings" panose="05000000000000000000" pitchFamily="2" charset="2"/>
              <a:buChar char="Ø"/>
            </a:pPr>
            <a:r>
              <a:rPr lang="de-DE" sz="3600" b="1"/>
              <a:t>Projekt Ziel</a:t>
            </a:r>
          </a:p>
        </p:txBody>
      </p:sp>
      <p:sp>
        <p:nvSpPr>
          <p:cNvPr id="49" name="Rechteck 48">
            <a:extLst>
              <a:ext uri="{FF2B5EF4-FFF2-40B4-BE49-F238E27FC236}">
                <a16:creationId xmlns:a16="http://schemas.microsoft.com/office/drawing/2014/main" id="{3408B2CD-6B6D-4D4D-A41D-6765E138EBFF}"/>
              </a:ext>
            </a:extLst>
          </p:cNvPr>
          <p:cNvSpPr/>
          <p:nvPr/>
        </p:nvSpPr>
        <p:spPr>
          <a:xfrm>
            <a:off x="68838" y="129804"/>
            <a:ext cx="1943427" cy="124402"/>
          </a:xfrm>
          <a:prstGeom prst="rect">
            <a:avLst/>
          </a:prstGeom>
          <a:solidFill>
            <a:srgbClr val="C00000"/>
          </a:solidFill>
          <a:ln>
            <a:solidFill>
              <a:schemeClr val="accent1">
                <a:shade val="50000"/>
                <a:alpha val="0"/>
              </a:schemeClr>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50" name="Rechteck 49">
            <a:extLst>
              <a:ext uri="{FF2B5EF4-FFF2-40B4-BE49-F238E27FC236}">
                <a16:creationId xmlns:a16="http://schemas.microsoft.com/office/drawing/2014/main" id="{2F4718AB-8A1D-4CE4-8985-9353E104DC34}"/>
              </a:ext>
            </a:extLst>
          </p:cNvPr>
          <p:cNvSpPr/>
          <p:nvPr/>
        </p:nvSpPr>
        <p:spPr>
          <a:xfrm>
            <a:off x="6116414"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51" name="Rechteck 50">
            <a:extLst>
              <a:ext uri="{FF2B5EF4-FFF2-40B4-BE49-F238E27FC236}">
                <a16:creationId xmlns:a16="http://schemas.microsoft.com/office/drawing/2014/main" id="{97C56520-AE9E-49D1-8A46-042A28327D13}"/>
              </a:ext>
            </a:extLst>
          </p:cNvPr>
          <p:cNvSpPr/>
          <p:nvPr/>
        </p:nvSpPr>
        <p:spPr>
          <a:xfrm>
            <a:off x="8135481"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52" name="Rechteck 51">
            <a:extLst>
              <a:ext uri="{FF2B5EF4-FFF2-40B4-BE49-F238E27FC236}">
                <a16:creationId xmlns:a16="http://schemas.microsoft.com/office/drawing/2014/main" id="{78271A3D-D2E8-42D5-9A07-2FC310700819}"/>
              </a:ext>
            </a:extLst>
          </p:cNvPr>
          <p:cNvSpPr/>
          <p:nvPr/>
        </p:nvSpPr>
        <p:spPr>
          <a:xfrm>
            <a:off x="1014895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53" name="Rechteck 52">
            <a:extLst>
              <a:ext uri="{FF2B5EF4-FFF2-40B4-BE49-F238E27FC236}">
                <a16:creationId xmlns:a16="http://schemas.microsoft.com/office/drawing/2014/main" id="{0DBDF568-11C8-463C-97AC-A97379DE75A4}"/>
              </a:ext>
            </a:extLst>
          </p:cNvPr>
          <p:cNvSpPr/>
          <p:nvPr/>
        </p:nvSpPr>
        <p:spPr>
          <a:xfrm>
            <a:off x="4123589" y="404207"/>
            <a:ext cx="1943427" cy="461665"/>
          </a:xfrm>
          <a:prstGeom prst="rect">
            <a:avLst/>
          </a:prstGeom>
          <a:noFill/>
        </p:spPr>
        <p:txBody>
          <a:bodyPr wrap="square" lIns="91440" tIns="45720" rIns="91440" bIns="45720">
            <a:spAutoFit/>
          </a:bodyPr>
          <a:lstStyle/>
          <a:p>
            <a:pPr algn="ctr"/>
            <a:r>
              <a:rPr lang="de-DE" sz="2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Analysephase</a:t>
            </a:r>
            <a:endParaRPr lang="de-DE" sz="3200" b="1" cap="none" spc="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54" name="Textfeld 53">
            <a:extLst>
              <a:ext uri="{FF2B5EF4-FFF2-40B4-BE49-F238E27FC236}">
                <a16:creationId xmlns:a16="http://schemas.microsoft.com/office/drawing/2014/main" id="{F578E752-6C85-4B37-B22A-897718E0A8DE}"/>
              </a:ext>
            </a:extLst>
          </p:cNvPr>
          <p:cNvSpPr txBox="1"/>
          <p:nvPr/>
        </p:nvSpPr>
        <p:spPr>
          <a:xfrm>
            <a:off x="10756544" y="307222"/>
            <a:ext cx="728254" cy="369332"/>
          </a:xfrm>
          <a:prstGeom prst="rect">
            <a:avLst/>
          </a:prstGeom>
          <a:noFill/>
        </p:spPr>
        <p:txBody>
          <a:bodyPr wrap="square" rtlCol="0">
            <a:spAutoFit/>
          </a:bodyPr>
          <a:lstStyle/>
          <a:p>
            <a:r>
              <a:rPr lang="de-DE"/>
              <a:t>Fazit</a:t>
            </a:r>
            <a:endParaRPr lang="de-DE" sz="1600"/>
          </a:p>
        </p:txBody>
      </p:sp>
      <p:sp>
        <p:nvSpPr>
          <p:cNvPr id="55" name="Rechteck 54">
            <a:extLst>
              <a:ext uri="{FF2B5EF4-FFF2-40B4-BE49-F238E27FC236}">
                <a16:creationId xmlns:a16="http://schemas.microsoft.com/office/drawing/2014/main" id="{7DC8FDD3-38FF-4D42-AB3E-CCC9AAF28456}"/>
              </a:ext>
            </a:extLst>
          </p:cNvPr>
          <p:cNvSpPr/>
          <p:nvPr/>
        </p:nvSpPr>
        <p:spPr>
          <a:xfrm>
            <a:off x="4097347" y="245021"/>
            <a:ext cx="1943427" cy="124402"/>
          </a:xfrm>
          <a:prstGeom prst="rect">
            <a:avLst/>
          </a:prstGeom>
          <a:gradFill>
            <a:gsLst>
              <a:gs pos="46000">
                <a:schemeClr val="accent1">
                  <a:lumMod val="12000"/>
                  <a:lumOff val="88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alpha val="0"/>
              </a:schemeClr>
            </a:solidFill>
          </a:ln>
          <a:effectLst>
            <a:glow rad="88900">
              <a:schemeClr val="accent1">
                <a:lumMod val="20000"/>
                <a:lumOff val="80000"/>
                <a:alpha val="99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56" name="Rechteck 55">
            <a:extLst>
              <a:ext uri="{FF2B5EF4-FFF2-40B4-BE49-F238E27FC236}">
                <a16:creationId xmlns:a16="http://schemas.microsoft.com/office/drawing/2014/main" id="{945A4736-CF89-43A6-B384-023D11867167}"/>
              </a:ext>
            </a:extLst>
          </p:cNvPr>
          <p:cNvSpPr/>
          <p:nvPr/>
        </p:nvSpPr>
        <p:spPr>
          <a:xfrm>
            <a:off x="2078280"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60" name="Textfeld 59">
            <a:extLst>
              <a:ext uri="{FF2B5EF4-FFF2-40B4-BE49-F238E27FC236}">
                <a16:creationId xmlns:a16="http://schemas.microsoft.com/office/drawing/2014/main" id="{9C82C73B-6F1E-43E6-B63F-00681D6A69A8}"/>
              </a:ext>
            </a:extLst>
          </p:cNvPr>
          <p:cNvSpPr txBox="1"/>
          <p:nvPr/>
        </p:nvSpPr>
        <p:spPr>
          <a:xfrm>
            <a:off x="283135" y="307222"/>
            <a:ext cx="1490433" cy="369332"/>
          </a:xfrm>
          <a:prstGeom prst="rect">
            <a:avLst/>
          </a:prstGeom>
          <a:noFill/>
        </p:spPr>
        <p:txBody>
          <a:bodyPr wrap="square" rtlCol="0">
            <a:spAutoFit/>
          </a:bodyPr>
          <a:lstStyle/>
          <a:p>
            <a:r>
              <a:rPr lang="de-DE"/>
              <a:t>Vorstellung</a:t>
            </a:r>
          </a:p>
        </p:txBody>
      </p:sp>
      <p:pic>
        <p:nvPicPr>
          <p:cNvPr id="3" name="Grafik 2">
            <a:extLst>
              <a:ext uri="{FF2B5EF4-FFF2-40B4-BE49-F238E27FC236}">
                <a16:creationId xmlns:a16="http://schemas.microsoft.com/office/drawing/2014/main" id="{3D46E454-D1AB-41BB-8B3C-D9D4DFF0D639}"/>
              </a:ext>
            </a:extLst>
          </p:cNvPr>
          <p:cNvPicPr>
            <a:picLocks noChangeAspect="1"/>
          </p:cNvPicPr>
          <p:nvPr/>
        </p:nvPicPr>
        <p:blipFill>
          <a:blip r:embed="rId4"/>
          <a:stretch>
            <a:fillRect/>
          </a:stretch>
        </p:blipFill>
        <p:spPr>
          <a:xfrm>
            <a:off x="1111996" y="1588403"/>
            <a:ext cx="10861339" cy="5106988"/>
          </a:xfrm>
          <a:prstGeom prst="rect">
            <a:avLst/>
          </a:prstGeom>
          <a:ln>
            <a:noFill/>
          </a:ln>
          <a:effectLst>
            <a:softEdge rad="112500"/>
          </a:effectLst>
        </p:spPr>
      </p:pic>
      <p:sp>
        <p:nvSpPr>
          <p:cNvPr id="19" name="Textfeld 18">
            <a:extLst>
              <a:ext uri="{FF2B5EF4-FFF2-40B4-BE49-F238E27FC236}">
                <a16:creationId xmlns:a16="http://schemas.microsoft.com/office/drawing/2014/main" id="{E00442BE-C459-48E9-A769-35AB752D795B}"/>
              </a:ext>
            </a:extLst>
          </p:cNvPr>
          <p:cNvSpPr txBox="1"/>
          <p:nvPr/>
        </p:nvSpPr>
        <p:spPr>
          <a:xfrm>
            <a:off x="8155565" y="302621"/>
            <a:ext cx="2208670" cy="646331"/>
          </a:xfrm>
          <a:prstGeom prst="rect">
            <a:avLst/>
          </a:prstGeom>
          <a:noFill/>
        </p:spPr>
        <p:txBody>
          <a:bodyPr wrap="square" rtlCol="0">
            <a:spAutoFit/>
          </a:bodyPr>
          <a:lstStyle/>
          <a:p>
            <a:r>
              <a:rPr lang="de-DE"/>
              <a:t>Implementierungs-</a:t>
            </a:r>
          </a:p>
          <a:p>
            <a:r>
              <a:rPr lang="de-DE"/>
              <a:t>phase</a:t>
            </a:r>
            <a:endParaRPr lang="de-DE" sz="1600"/>
          </a:p>
        </p:txBody>
      </p:sp>
      <p:sp>
        <p:nvSpPr>
          <p:cNvPr id="18" name="Textfeld 17">
            <a:extLst>
              <a:ext uri="{FF2B5EF4-FFF2-40B4-BE49-F238E27FC236}">
                <a16:creationId xmlns:a16="http://schemas.microsoft.com/office/drawing/2014/main" id="{9A764B75-5905-453B-B619-497E92FDF16C}"/>
              </a:ext>
            </a:extLst>
          </p:cNvPr>
          <p:cNvSpPr txBox="1"/>
          <p:nvPr/>
        </p:nvSpPr>
        <p:spPr>
          <a:xfrm>
            <a:off x="2235510" y="307222"/>
            <a:ext cx="1762801" cy="369332"/>
          </a:xfrm>
          <a:prstGeom prst="rect">
            <a:avLst/>
          </a:prstGeom>
          <a:noFill/>
        </p:spPr>
        <p:txBody>
          <a:bodyPr wrap="square" rtlCol="0">
            <a:spAutoFit/>
          </a:bodyPr>
          <a:lstStyle/>
          <a:p>
            <a:r>
              <a:rPr lang="de-DE"/>
              <a:t>Projekt-Planung</a:t>
            </a:r>
            <a:endParaRPr lang="de-DE" sz="2000"/>
          </a:p>
        </p:txBody>
      </p:sp>
      <p:sp>
        <p:nvSpPr>
          <p:cNvPr id="20" name="Textfeld 13">
            <a:extLst>
              <a:ext uri="{FF2B5EF4-FFF2-40B4-BE49-F238E27FC236}">
                <a16:creationId xmlns:a16="http://schemas.microsoft.com/office/drawing/2014/main" id="{85B4BA3F-C76D-48BC-8277-044009A6D0B4}"/>
              </a:ext>
            </a:extLst>
          </p:cNvPr>
          <p:cNvSpPr txBox="1"/>
          <p:nvPr/>
        </p:nvSpPr>
        <p:spPr>
          <a:xfrm>
            <a:off x="6222903" y="313448"/>
            <a:ext cx="1625829" cy="369332"/>
          </a:xfrm>
          <a:prstGeom prst="rect">
            <a:avLst/>
          </a:prstGeom>
          <a:noFill/>
        </p:spPr>
        <p:txBody>
          <a:bodyPr wrap="square" rtlCol="0">
            <a:spAutoFit/>
          </a:bodyPr>
          <a:lstStyle/>
          <a:p>
            <a:r>
              <a:rPr lang="de-DE"/>
              <a:t>Entwurf</a:t>
            </a:r>
            <a:r>
              <a:rPr lang="en-DE"/>
              <a:t>s</a:t>
            </a:r>
            <a:r>
              <a:rPr lang="de-DE"/>
              <a:t>phase</a:t>
            </a:r>
          </a:p>
        </p:txBody>
      </p:sp>
    </p:spTree>
    <p:extLst>
      <p:ext uri="{BB962C8B-B14F-4D97-AF65-F5344CB8AC3E}">
        <p14:creationId xmlns:p14="http://schemas.microsoft.com/office/powerpoint/2010/main" val="3496061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6F4039-0555-46C7-99EB-0BC15BF4ABCC}"/>
              </a:ext>
            </a:extLst>
          </p:cNvPr>
          <p:cNvSpPr>
            <a:spLocks noGrp="1"/>
          </p:cNvSpPr>
          <p:nvPr>
            <p:ph type="ctrTitle"/>
          </p:nvPr>
        </p:nvSpPr>
        <p:spPr>
          <a:xfrm>
            <a:off x="1185621" y="4772312"/>
            <a:ext cx="9331354" cy="1778466"/>
          </a:xfrm>
        </p:spPr>
        <p:txBody>
          <a:bodyPr>
            <a:normAutofit/>
          </a:bodyPr>
          <a:lstStyle/>
          <a:p>
            <a:r>
              <a:rPr lang="de-DE" sz="4000" b="1"/>
              <a:t>API-Entwicklung </a:t>
            </a:r>
            <a:r>
              <a:rPr lang="de-DE" sz="4000"/>
              <a:t>in </a:t>
            </a:r>
            <a:r>
              <a:rPr lang="de-DE" sz="4000" b="1"/>
              <a:t>Python </a:t>
            </a:r>
            <a:r>
              <a:rPr lang="de-DE" sz="4000"/>
              <a:t>mit</a:t>
            </a:r>
            <a:r>
              <a:rPr lang="de-DE" sz="4000" b="1"/>
              <a:t> Flask</a:t>
            </a:r>
            <a:br>
              <a:rPr lang="de-DE" sz="4000" b="1"/>
            </a:br>
            <a:r>
              <a:rPr lang="de-DE" sz="4000" b="1"/>
              <a:t> </a:t>
            </a:r>
            <a:r>
              <a:rPr lang="de-DE" sz="3600" b="1" err="1"/>
              <a:t>Swagger-restx</a:t>
            </a:r>
            <a:r>
              <a:rPr lang="de-DE" sz="3600"/>
              <a:t> und </a:t>
            </a:r>
            <a:r>
              <a:rPr lang="de-DE" sz="3600" b="1"/>
              <a:t>JWT</a:t>
            </a:r>
            <a:r>
              <a:rPr lang="de-DE" sz="3600"/>
              <a:t> für sicheren </a:t>
            </a:r>
            <a:r>
              <a:rPr lang="de-DE" sz="2800" b="1"/>
              <a:t>Datenaustausch via </a:t>
            </a:r>
            <a:r>
              <a:rPr lang="de-DE" sz="2800" b="1" err="1"/>
              <a:t>Odoo’s</a:t>
            </a:r>
            <a:r>
              <a:rPr lang="de-DE" sz="2800" b="1"/>
              <a:t> XML-RPC</a:t>
            </a:r>
            <a:endParaRPr lang="de-DE" sz="4000" b="1"/>
          </a:p>
        </p:txBody>
      </p:sp>
      <p:pic>
        <p:nvPicPr>
          <p:cNvPr id="1026" name="Picture 2" descr="REST API Development with Flask - Data Science Blog: Understand. Implement.  Succed.">
            <a:extLst>
              <a:ext uri="{FF2B5EF4-FFF2-40B4-BE49-F238E27FC236}">
                <a16:creationId xmlns:a16="http://schemas.microsoft.com/office/drawing/2014/main" id="{2CDB04F3-4EC8-4545-8498-B9A0428BEB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6265" y="2967764"/>
            <a:ext cx="3637163" cy="142266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441C39D6-A9BE-4580-BEB5-8D767F2C41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2265" y="2727497"/>
            <a:ext cx="3330590" cy="1903194"/>
          </a:xfrm>
          <a:prstGeom prst="rect">
            <a:avLst/>
          </a:prstGeom>
          <a:noFill/>
          <a:extLst>
            <a:ext uri="{909E8E84-426E-40DD-AFC4-6F175D3DCCD1}">
              <a14:hiddenFill xmlns:a14="http://schemas.microsoft.com/office/drawing/2010/main">
                <a:solidFill>
                  <a:srgbClr val="FFFFFF"/>
                </a:solidFill>
              </a14:hiddenFill>
            </a:ext>
          </a:extLst>
        </p:spPr>
      </p:pic>
      <p:sp>
        <p:nvSpPr>
          <p:cNvPr id="3" name="Textfeld 2">
            <a:extLst>
              <a:ext uri="{FF2B5EF4-FFF2-40B4-BE49-F238E27FC236}">
                <a16:creationId xmlns:a16="http://schemas.microsoft.com/office/drawing/2014/main" id="{F286D7A4-25CB-4431-887D-70952F496EED}"/>
              </a:ext>
            </a:extLst>
          </p:cNvPr>
          <p:cNvSpPr txBox="1"/>
          <p:nvPr/>
        </p:nvSpPr>
        <p:spPr>
          <a:xfrm>
            <a:off x="5619601" y="3264852"/>
            <a:ext cx="529312" cy="923330"/>
          </a:xfrm>
          <a:prstGeom prst="rect">
            <a:avLst/>
          </a:prstGeom>
          <a:noFill/>
        </p:spPr>
        <p:txBody>
          <a:bodyPr wrap="none" rtlCol="0">
            <a:spAutoFit/>
          </a:bodyPr>
          <a:lstStyle/>
          <a:p>
            <a:r>
              <a:rPr lang="de-DE" sz="5400" b="1"/>
              <a:t>+</a:t>
            </a:r>
          </a:p>
        </p:txBody>
      </p:sp>
      <p:sp>
        <p:nvSpPr>
          <p:cNvPr id="18" name="Rechteck 17">
            <a:extLst>
              <a:ext uri="{FF2B5EF4-FFF2-40B4-BE49-F238E27FC236}">
                <a16:creationId xmlns:a16="http://schemas.microsoft.com/office/drawing/2014/main" id="{E1068F5E-DBEF-408F-846A-597989803B8E}"/>
              </a:ext>
            </a:extLst>
          </p:cNvPr>
          <p:cNvSpPr/>
          <p:nvPr/>
        </p:nvSpPr>
        <p:spPr>
          <a:xfrm>
            <a:off x="6883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9" name="Rechteck 18">
            <a:extLst>
              <a:ext uri="{FF2B5EF4-FFF2-40B4-BE49-F238E27FC236}">
                <a16:creationId xmlns:a16="http://schemas.microsoft.com/office/drawing/2014/main" id="{998CB243-CAE9-48E8-AFD1-9303339A15D2}"/>
              </a:ext>
            </a:extLst>
          </p:cNvPr>
          <p:cNvSpPr/>
          <p:nvPr/>
        </p:nvSpPr>
        <p:spPr>
          <a:xfrm>
            <a:off x="6116414"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2" name="Rechteck 31">
            <a:extLst>
              <a:ext uri="{FF2B5EF4-FFF2-40B4-BE49-F238E27FC236}">
                <a16:creationId xmlns:a16="http://schemas.microsoft.com/office/drawing/2014/main" id="{86433ED4-AF3D-4D06-89FA-3042FAFDD3D7}"/>
              </a:ext>
            </a:extLst>
          </p:cNvPr>
          <p:cNvSpPr/>
          <p:nvPr/>
        </p:nvSpPr>
        <p:spPr>
          <a:xfrm>
            <a:off x="8135481"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3" name="Rechteck 32">
            <a:extLst>
              <a:ext uri="{FF2B5EF4-FFF2-40B4-BE49-F238E27FC236}">
                <a16:creationId xmlns:a16="http://schemas.microsoft.com/office/drawing/2014/main" id="{E00382D4-C0FF-4ADA-880B-41FB4F24A9C0}"/>
              </a:ext>
            </a:extLst>
          </p:cNvPr>
          <p:cNvSpPr/>
          <p:nvPr/>
        </p:nvSpPr>
        <p:spPr>
          <a:xfrm>
            <a:off x="1014895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4" name="Rechteck 33">
            <a:extLst>
              <a:ext uri="{FF2B5EF4-FFF2-40B4-BE49-F238E27FC236}">
                <a16:creationId xmlns:a16="http://schemas.microsoft.com/office/drawing/2014/main" id="{5C72660C-7781-4955-A19A-09DFEA650E67}"/>
              </a:ext>
            </a:extLst>
          </p:cNvPr>
          <p:cNvSpPr/>
          <p:nvPr/>
        </p:nvSpPr>
        <p:spPr>
          <a:xfrm>
            <a:off x="4123589" y="404207"/>
            <a:ext cx="1943427" cy="461665"/>
          </a:xfrm>
          <a:prstGeom prst="rect">
            <a:avLst/>
          </a:prstGeom>
          <a:noFill/>
        </p:spPr>
        <p:txBody>
          <a:bodyPr wrap="square" lIns="91440" tIns="45720" rIns="91440" bIns="45720">
            <a:spAutoFit/>
          </a:bodyPr>
          <a:lstStyle/>
          <a:p>
            <a:pPr algn="ctr"/>
            <a:r>
              <a:rPr lang="de-DE" sz="2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Analysephase</a:t>
            </a:r>
            <a:endParaRPr lang="de-DE" sz="3200" b="1" cap="none" spc="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35" name="Textfeld 34">
            <a:extLst>
              <a:ext uri="{FF2B5EF4-FFF2-40B4-BE49-F238E27FC236}">
                <a16:creationId xmlns:a16="http://schemas.microsoft.com/office/drawing/2014/main" id="{3717882C-5EDA-4A15-835A-04A28009F331}"/>
              </a:ext>
            </a:extLst>
          </p:cNvPr>
          <p:cNvSpPr txBox="1"/>
          <p:nvPr/>
        </p:nvSpPr>
        <p:spPr>
          <a:xfrm>
            <a:off x="10756544" y="307222"/>
            <a:ext cx="728254" cy="369332"/>
          </a:xfrm>
          <a:prstGeom prst="rect">
            <a:avLst/>
          </a:prstGeom>
          <a:noFill/>
        </p:spPr>
        <p:txBody>
          <a:bodyPr wrap="square" rtlCol="0">
            <a:spAutoFit/>
          </a:bodyPr>
          <a:lstStyle/>
          <a:p>
            <a:r>
              <a:rPr lang="de-DE"/>
              <a:t>Fazit</a:t>
            </a:r>
            <a:endParaRPr lang="de-DE" sz="1600"/>
          </a:p>
        </p:txBody>
      </p:sp>
      <p:sp>
        <p:nvSpPr>
          <p:cNvPr id="36" name="Rechteck 35">
            <a:extLst>
              <a:ext uri="{FF2B5EF4-FFF2-40B4-BE49-F238E27FC236}">
                <a16:creationId xmlns:a16="http://schemas.microsoft.com/office/drawing/2014/main" id="{31DD67FF-56AB-4B99-B715-C9565BCAC371}"/>
              </a:ext>
            </a:extLst>
          </p:cNvPr>
          <p:cNvSpPr/>
          <p:nvPr/>
        </p:nvSpPr>
        <p:spPr>
          <a:xfrm>
            <a:off x="4097347" y="245021"/>
            <a:ext cx="1943427" cy="124402"/>
          </a:xfrm>
          <a:prstGeom prst="rect">
            <a:avLst/>
          </a:prstGeom>
          <a:gradFill>
            <a:gsLst>
              <a:gs pos="46000">
                <a:schemeClr val="accent1">
                  <a:lumMod val="12000"/>
                  <a:lumOff val="88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alpha val="0"/>
              </a:schemeClr>
            </a:solidFill>
          </a:ln>
          <a:effectLst>
            <a:glow rad="88900">
              <a:schemeClr val="accent1">
                <a:lumMod val="20000"/>
                <a:lumOff val="80000"/>
                <a:alpha val="99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7" name="Rechteck 36">
            <a:extLst>
              <a:ext uri="{FF2B5EF4-FFF2-40B4-BE49-F238E27FC236}">
                <a16:creationId xmlns:a16="http://schemas.microsoft.com/office/drawing/2014/main" id="{9224617E-66C5-49EE-BBD8-5B9CDCD82C68}"/>
              </a:ext>
            </a:extLst>
          </p:cNvPr>
          <p:cNvSpPr/>
          <p:nvPr/>
        </p:nvSpPr>
        <p:spPr>
          <a:xfrm>
            <a:off x="2078280"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41" name="Textfeld 40">
            <a:extLst>
              <a:ext uri="{FF2B5EF4-FFF2-40B4-BE49-F238E27FC236}">
                <a16:creationId xmlns:a16="http://schemas.microsoft.com/office/drawing/2014/main" id="{A4D6664E-D2DB-48FE-84D3-957AB26A3574}"/>
              </a:ext>
            </a:extLst>
          </p:cNvPr>
          <p:cNvSpPr txBox="1"/>
          <p:nvPr/>
        </p:nvSpPr>
        <p:spPr>
          <a:xfrm>
            <a:off x="283135" y="307222"/>
            <a:ext cx="1490433" cy="369332"/>
          </a:xfrm>
          <a:prstGeom prst="rect">
            <a:avLst/>
          </a:prstGeom>
          <a:noFill/>
        </p:spPr>
        <p:txBody>
          <a:bodyPr wrap="square" rtlCol="0">
            <a:spAutoFit/>
          </a:bodyPr>
          <a:lstStyle/>
          <a:p>
            <a:r>
              <a:rPr lang="de-DE"/>
              <a:t>Vorstellung</a:t>
            </a:r>
          </a:p>
        </p:txBody>
      </p:sp>
      <p:sp>
        <p:nvSpPr>
          <p:cNvPr id="4" name="Textfeld 3">
            <a:extLst>
              <a:ext uri="{FF2B5EF4-FFF2-40B4-BE49-F238E27FC236}">
                <a16:creationId xmlns:a16="http://schemas.microsoft.com/office/drawing/2014/main" id="{307ED8C6-0BDB-4FB3-988F-32BFAB8E79BE}"/>
              </a:ext>
            </a:extLst>
          </p:cNvPr>
          <p:cNvSpPr txBox="1"/>
          <p:nvPr/>
        </p:nvSpPr>
        <p:spPr>
          <a:xfrm>
            <a:off x="283135" y="1380688"/>
            <a:ext cx="5383077" cy="646331"/>
          </a:xfrm>
          <a:prstGeom prst="rect">
            <a:avLst/>
          </a:prstGeom>
          <a:noFill/>
        </p:spPr>
        <p:txBody>
          <a:bodyPr wrap="none" rtlCol="0">
            <a:spAutoFit/>
          </a:bodyPr>
          <a:lstStyle/>
          <a:p>
            <a:pPr marL="571500" indent="-571500">
              <a:buFont typeface="Wingdings" panose="05000000000000000000" pitchFamily="2" charset="2"/>
              <a:buChar char="Ø"/>
            </a:pPr>
            <a:r>
              <a:rPr lang="de-DE" sz="3600" b="1"/>
              <a:t>Verwendete Ressourcen</a:t>
            </a:r>
          </a:p>
        </p:txBody>
      </p:sp>
      <p:sp>
        <p:nvSpPr>
          <p:cNvPr id="20" name="Textfeld 19">
            <a:extLst>
              <a:ext uri="{FF2B5EF4-FFF2-40B4-BE49-F238E27FC236}">
                <a16:creationId xmlns:a16="http://schemas.microsoft.com/office/drawing/2014/main" id="{EE8D66F2-FE7F-46BD-A77D-7EECC0C16B78}"/>
              </a:ext>
            </a:extLst>
          </p:cNvPr>
          <p:cNvSpPr txBox="1"/>
          <p:nvPr/>
        </p:nvSpPr>
        <p:spPr>
          <a:xfrm>
            <a:off x="8155565" y="302621"/>
            <a:ext cx="2208670" cy="646331"/>
          </a:xfrm>
          <a:prstGeom prst="rect">
            <a:avLst/>
          </a:prstGeom>
          <a:noFill/>
        </p:spPr>
        <p:txBody>
          <a:bodyPr wrap="square" rtlCol="0">
            <a:spAutoFit/>
          </a:bodyPr>
          <a:lstStyle/>
          <a:p>
            <a:r>
              <a:rPr lang="de-DE"/>
              <a:t>Implementierungs-</a:t>
            </a:r>
          </a:p>
          <a:p>
            <a:r>
              <a:rPr lang="de-DE"/>
              <a:t>phase</a:t>
            </a:r>
            <a:endParaRPr lang="de-DE" sz="1600"/>
          </a:p>
        </p:txBody>
      </p:sp>
      <p:sp>
        <p:nvSpPr>
          <p:cNvPr id="21" name="Textfeld 20">
            <a:extLst>
              <a:ext uri="{FF2B5EF4-FFF2-40B4-BE49-F238E27FC236}">
                <a16:creationId xmlns:a16="http://schemas.microsoft.com/office/drawing/2014/main" id="{0A87B99A-A4C6-46DB-9E1E-78D35FC8A2BE}"/>
              </a:ext>
            </a:extLst>
          </p:cNvPr>
          <p:cNvSpPr txBox="1"/>
          <p:nvPr/>
        </p:nvSpPr>
        <p:spPr>
          <a:xfrm>
            <a:off x="2235510" y="307222"/>
            <a:ext cx="1762801" cy="369332"/>
          </a:xfrm>
          <a:prstGeom prst="rect">
            <a:avLst/>
          </a:prstGeom>
          <a:noFill/>
        </p:spPr>
        <p:txBody>
          <a:bodyPr wrap="square" rtlCol="0">
            <a:spAutoFit/>
          </a:bodyPr>
          <a:lstStyle/>
          <a:p>
            <a:r>
              <a:rPr lang="de-DE"/>
              <a:t>Projekt-Planung</a:t>
            </a:r>
            <a:endParaRPr lang="de-DE" sz="2000"/>
          </a:p>
        </p:txBody>
      </p:sp>
      <p:sp>
        <p:nvSpPr>
          <p:cNvPr id="22" name="Textfeld 13">
            <a:extLst>
              <a:ext uri="{FF2B5EF4-FFF2-40B4-BE49-F238E27FC236}">
                <a16:creationId xmlns:a16="http://schemas.microsoft.com/office/drawing/2014/main" id="{692E8F66-51C1-4DA7-8D69-0D88FF031C14}"/>
              </a:ext>
            </a:extLst>
          </p:cNvPr>
          <p:cNvSpPr txBox="1"/>
          <p:nvPr/>
        </p:nvSpPr>
        <p:spPr>
          <a:xfrm>
            <a:off x="6222903" y="313448"/>
            <a:ext cx="1625829" cy="369332"/>
          </a:xfrm>
          <a:prstGeom prst="rect">
            <a:avLst/>
          </a:prstGeom>
          <a:noFill/>
        </p:spPr>
        <p:txBody>
          <a:bodyPr wrap="square" rtlCol="0">
            <a:spAutoFit/>
          </a:bodyPr>
          <a:lstStyle/>
          <a:p>
            <a:r>
              <a:rPr lang="de-DE"/>
              <a:t>Entwurf</a:t>
            </a:r>
            <a:r>
              <a:rPr lang="en-DE"/>
              <a:t>s</a:t>
            </a:r>
            <a:r>
              <a:rPr lang="de-DE"/>
              <a:t>phase</a:t>
            </a:r>
          </a:p>
        </p:txBody>
      </p:sp>
    </p:spTree>
    <p:extLst>
      <p:ext uri="{BB962C8B-B14F-4D97-AF65-F5344CB8AC3E}">
        <p14:creationId xmlns:p14="http://schemas.microsoft.com/office/powerpoint/2010/main" val="2201722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60633286-C95D-4933-98DB-C248EDBE2891}"/>
              </a:ext>
            </a:extLst>
          </p:cNvPr>
          <p:cNvSpPr/>
          <p:nvPr/>
        </p:nvSpPr>
        <p:spPr>
          <a:xfrm>
            <a:off x="2129151" y="1132878"/>
            <a:ext cx="7352847" cy="923330"/>
          </a:xfrm>
          <a:prstGeom prst="rect">
            <a:avLst/>
          </a:prstGeom>
          <a:noFill/>
        </p:spPr>
        <p:txBody>
          <a:bodyPr wrap="none" lIns="91440" tIns="45720" rIns="91440" bIns="45720">
            <a:spAutoFit/>
          </a:bodyPr>
          <a:lstStyle/>
          <a:p>
            <a:pPr algn="ctr"/>
            <a:r>
              <a:rPr lang="de-DE" sz="5400" b="1" cap="none" spc="50">
                <a:ln w="0"/>
                <a:solidFill>
                  <a:schemeClr val="bg2">
                    <a:lumMod val="50000"/>
                  </a:schemeClr>
                </a:solidFill>
                <a:effectLst>
                  <a:innerShdw blurRad="63500" dist="50800" dir="13500000">
                    <a:srgbClr val="000000">
                      <a:alpha val="50000"/>
                    </a:srgbClr>
                  </a:innerShdw>
                </a:effectLst>
              </a:rPr>
              <a:t>Verwendung von SQLite </a:t>
            </a:r>
          </a:p>
        </p:txBody>
      </p:sp>
      <p:sp>
        <p:nvSpPr>
          <p:cNvPr id="16" name="Rechteck 15">
            <a:extLst>
              <a:ext uri="{FF2B5EF4-FFF2-40B4-BE49-F238E27FC236}">
                <a16:creationId xmlns:a16="http://schemas.microsoft.com/office/drawing/2014/main" id="{19F40C34-852C-486B-9A01-CCCFBE095E9D}"/>
              </a:ext>
            </a:extLst>
          </p:cNvPr>
          <p:cNvSpPr/>
          <p:nvPr/>
        </p:nvSpPr>
        <p:spPr>
          <a:xfrm>
            <a:off x="6883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9" name="Rechteck 28">
            <a:extLst>
              <a:ext uri="{FF2B5EF4-FFF2-40B4-BE49-F238E27FC236}">
                <a16:creationId xmlns:a16="http://schemas.microsoft.com/office/drawing/2014/main" id="{B103C160-2B85-4BA7-B05B-F3C982CD1158}"/>
              </a:ext>
            </a:extLst>
          </p:cNvPr>
          <p:cNvSpPr/>
          <p:nvPr/>
        </p:nvSpPr>
        <p:spPr>
          <a:xfrm>
            <a:off x="6116414"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0" name="Rechteck 29">
            <a:extLst>
              <a:ext uri="{FF2B5EF4-FFF2-40B4-BE49-F238E27FC236}">
                <a16:creationId xmlns:a16="http://schemas.microsoft.com/office/drawing/2014/main" id="{E2FF4483-47BF-4C69-9FFD-EEEB02F7F6EE}"/>
              </a:ext>
            </a:extLst>
          </p:cNvPr>
          <p:cNvSpPr/>
          <p:nvPr/>
        </p:nvSpPr>
        <p:spPr>
          <a:xfrm>
            <a:off x="8135481"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1" name="Rechteck 30">
            <a:extLst>
              <a:ext uri="{FF2B5EF4-FFF2-40B4-BE49-F238E27FC236}">
                <a16:creationId xmlns:a16="http://schemas.microsoft.com/office/drawing/2014/main" id="{7431E0BB-8227-4F12-B811-72885F14DD9C}"/>
              </a:ext>
            </a:extLst>
          </p:cNvPr>
          <p:cNvSpPr/>
          <p:nvPr/>
        </p:nvSpPr>
        <p:spPr>
          <a:xfrm>
            <a:off x="1014895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2" name="Rechteck 31">
            <a:extLst>
              <a:ext uri="{FF2B5EF4-FFF2-40B4-BE49-F238E27FC236}">
                <a16:creationId xmlns:a16="http://schemas.microsoft.com/office/drawing/2014/main" id="{5B1740E4-5C44-405D-832D-A6786A35B278}"/>
              </a:ext>
            </a:extLst>
          </p:cNvPr>
          <p:cNvSpPr/>
          <p:nvPr/>
        </p:nvSpPr>
        <p:spPr>
          <a:xfrm>
            <a:off x="4123589" y="404207"/>
            <a:ext cx="1943427" cy="461665"/>
          </a:xfrm>
          <a:prstGeom prst="rect">
            <a:avLst/>
          </a:prstGeom>
          <a:noFill/>
        </p:spPr>
        <p:txBody>
          <a:bodyPr wrap="square" lIns="91440" tIns="45720" rIns="91440" bIns="45720">
            <a:spAutoFit/>
          </a:bodyPr>
          <a:lstStyle/>
          <a:p>
            <a:pPr algn="ctr"/>
            <a:r>
              <a:rPr lang="de-DE" sz="2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Analysephase</a:t>
            </a:r>
            <a:endParaRPr lang="de-DE" sz="3200" b="1" cap="none" spc="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33" name="Textfeld 32">
            <a:extLst>
              <a:ext uri="{FF2B5EF4-FFF2-40B4-BE49-F238E27FC236}">
                <a16:creationId xmlns:a16="http://schemas.microsoft.com/office/drawing/2014/main" id="{1E69D249-BEA6-4E02-932E-72CE01FAA910}"/>
              </a:ext>
            </a:extLst>
          </p:cNvPr>
          <p:cNvSpPr txBox="1"/>
          <p:nvPr/>
        </p:nvSpPr>
        <p:spPr>
          <a:xfrm>
            <a:off x="10756544" y="307222"/>
            <a:ext cx="728254" cy="369332"/>
          </a:xfrm>
          <a:prstGeom prst="rect">
            <a:avLst/>
          </a:prstGeom>
          <a:noFill/>
        </p:spPr>
        <p:txBody>
          <a:bodyPr wrap="square" rtlCol="0">
            <a:spAutoFit/>
          </a:bodyPr>
          <a:lstStyle/>
          <a:p>
            <a:r>
              <a:rPr lang="de-DE"/>
              <a:t>Fazit</a:t>
            </a:r>
            <a:endParaRPr lang="de-DE" sz="1600"/>
          </a:p>
        </p:txBody>
      </p:sp>
      <p:sp>
        <p:nvSpPr>
          <p:cNvPr id="34" name="Rechteck 33">
            <a:extLst>
              <a:ext uri="{FF2B5EF4-FFF2-40B4-BE49-F238E27FC236}">
                <a16:creationId xmlns:a16="http://schemas.microsoft.com/office/drawing/2014/main" id="{B07AB07D-1D46-4DD0-9BEA-A832C8DAC087}"/>
              </a:ext>
            </a:extLst>
          </p:cNvPr>
          <p:cNvSpPr/>
          <p:nvPr/>
        </p:nvSpPr>
        <p:spPr>
          <a:xfrm>
            <a:off x="4097347" y="245021"/>
            <a:ext cx="1943427" cy="124402"/>
          </a:xfrm>
          <a:prstGeom prst="rect">
            <a:avLst/>
          </a:prstGeom>
          <a:gradFill>
            <a:gsLst>
              <a:gs pos="46000">
                <a:schemeClr val="accent1">
                  <a:lumMod val="12000"/>
                  <a:lumOff val="88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alpha val="0"/>
              </a:schemeClr>
            </a:solidFill>
          </a:ln>
          <a:effectLst>
            <a:glow rad="88900">
              <a:schemeClr val="accent1">
                <a:lumMod val="20000"/>
                <a:lumOff val="80000"/>
                <a:alpha val="99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5" name="Rechteck 34">
            <a:extLst>
              <a:ext uri="{FF2B5EF4-FFF2-40B4-BE49-F238E27FC236}">
                <a16:creationId xmlns:a16="http://schemas.microsoft.com/office/drawing/2014/main" id="{ACF148A8-E955-41DE-9859-CCF05B105CBB}"/>
              </a:ext>
            </a:extLst>
          </p:cNvPr>
          <p:cNvSpPr/>
          <p:nvPr/>
        </p:nvSpPr>
        <p:spPr>
          <a:xfrm>
            <a:off x="2078280"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9" name="Textfeld 38">
            <a:extLst>
              <a:ext uri="{FF2B5EF4-FFF2-40B4-BE49-F238E27FC236}">
                <a16:creationId xmlns:a16="http://schemas.microsoft.com/office/drawing/2014/main" id="{E2C96649-4C05-40EA-ABE1-4A94F1B274D2}"/>
              </a:ext>
            </a:extLst>
          </p:cNvPr>
          <p:cNvSpPr txBox="1"/>
          <p:nvPr/>
        </p:nvSpPr>
        <p:spPr>
          <a:xfrm>
            <a:off x="283135" y="307222"/>
            <a:ext cx="1490433" cy="369332"/>
          </a:xfrm>
          <a:prstGeom prst="rect">
            <a:avLst/>
          </a:prstGeom>
          <a:noFill/>
        </p:spPr>
        <p:txBody>
          <a:bodyPr wrap="square" rtlCol="0">
            <a:spAutoFit/>
          </a:bodyPr>
          <a:lstStyle/>
          <a:p>
            <a:r>
              <a:rPr lang="de-DE"/>
              <a:t>Vorstellung</a:t>
            </a:r>
          </a:p>
        </p:txBody>
      </p:sp>
      <p:pic>
        <p:nvPicPr>
          <p:cNvPr id="4" name="Picture 3">
            <a:extLst>
              <a:ext uri="{FF2B5EF4-FFF2-40B4-BE49-F238E27FC236}">
                <a16:creationId xmlns:a16="http://schemas.microsoft.com/office/drawing/2014/main" id="{1A524242-0818-46EB-98CA-24EE3F450464}"/>
              </a:ext>
            </a:extLst>
          </p:cNvPr>
          <p:cNvPicPr>
            <a:picLocks noChangeAspect="1"/>
          </p:cNvPicPr>
          <p:nvPr/>
        </p:nvPicPr>
        <p:blipFill>
          <a:blip r:embed="rId3"/>
          <a:stretch>
            <a:fillRect/>
          </a:stretch>
        </p:blipFill>
        <p:spPr>
          <a:xfrm>
            <a:off x="0" y="2229989"/>
            <a:ext cx="12192000" cy="4628011"/>
          </a:xfrm>
          <a:prstGeom prst="rect">
            <a:avLst/>
          </a:prstGeom>
        </p:spPr>
      </p:pic>
      <p:sp>
        <p:nvSpPr>
          <p:cNvPr id="17" name="Textfeld 16">
            <a:extLst>
              <a:ext uri="{FF2B5EF4-FFF2-40B4-BE49-F238E27FC236}">
                <a16:creationId xmlns:a16="http://schemas.microsoft.com/office/drawing/2014/main" id="{471E8481-C8B9-4C22-A7D4-5C4A8C03DB79}"/>
              </a:ext>
            </a:extLst>
          </p:cNvPr>
          <p:cNvSpPr txBox="1"/>
          <p:nvPr/>
        </p:nvSpPr>
        <p:spPr>
          <a:xfrm>
            <a:off x="8155565" y="302621"/>
            <a:ext cx="2208670" cy="646331"/>
          </a:xfrm>
          <a:prstGeom prst="rect">
            <a:avLst/>
          </a:prstGeom>
          <a:noFill/>
        </p:spPr>
        <p:txBody>
          <a:bodyPr wrap="square" rtlCol="0">
            <a:spAutoFit/>
          </a:bodyPr>
          <a:lstStyle/>
          <a:p>
            <a:r>
              <a:rPr lang="de-DE"/>
              <a:t>Implementierungs-</a:t>
            </a:r>
          </a:p>
          <a:p>
            <a:r>
              <a:rPr lang="de-DE"/>
              <a:t>phase</a:t>
            </a:r>
            <a:endParaRPr lang="de-DE" sz="1600"/>
          </a:p>
        </p:txBody>
      </p:sp>
      <p:sp>
        <p:nvSpPr>
          <p:cNvPr id="18" name="Textfeld 17">
            <a:extLst>
              <a:ext uri="{FF2B5EF4-FFF2-40B4-BE49-F238E27FC236}">
                <a16:creationId xmlns:a16="http://schemas.microsoft.com/office/drawing/2014/main" id="{3100583F-090A-4D89-A1EA-FBA78DDF1C30}"/>
              </a:ext>
            </a:extLst>
          </p:cNvPr>
          <p:cNvSpPr txBox="1"/>
          <p:nvPr/>
        </p:nvSpPr>
        <p:spPr>
          <a:xfrm>
            <a:off x="2235510" y="307222"/>
            <a:ext cx="1762801" cy="369332"/>
          </a:xfrm>
          <a:prstGeom prst="rect">
            <a:avLst/>
          </a:prstGeom>
          <a:noFill/>
        </p:spPr>
        <p:txBody>
          <a:bodyPr wrap="square" rtlCol="0">
            <a:spAutoFit/>
          </a:bodyPr>
          <a:lstStyle/>
          <a:p>
            <a:r>
              <a:rPr lang="de-DE"/>
              <a:t>Projekt-Planung</a:t>
            </a:r>
            <a:endParaRPr lang="de-DE" sz="2000"/>
          </a:p>
        </p:txBody>
      </p:sp>
      <p:sp>
        <p:nvSpPr>
          <p:cNvPr id="19" name="Textfeld 13">
            <a:extLst>
              <a:ext uri="{FF2B5EF4-FFF2-40B4-BE49-F238E27FC236}">
                <a16:creationId xmlns:a16="http://schemas.microsoft.com/office/drawing/2014/main" id="{734EF6B2-B150-4CDE-A364-B36079FCFF1A}"/>
              </a:ext>
            </a:extLst>
          </p:cNvPr>
          <p:cNvSpPr txBox="1"/>
          <p:nvPr/>
        </p:nvSpPr>
        <p:spPr>
          <a:xfrm>
            <a:off x="6222903" y="313448"/>
            <a:ext cx="1625829" cy="369332"/>
          </a:xfrm>
          <a:prstGeom prst="rect">
            <a:avLst/>
          </a:prstGeom>
          <a:noFill/>
        </p:spPr>
        <p:txBody>
          <a:bodyPr wrap="square" rtlCol="0">
            <a:spAutoFit/>
          </a:bodyPr>
          <a:lstStyle/>
          <a:p>
            <a:r>
              <a:rPr lang="de-DE"/>
              <a:t>Entwurf</a:t>
            </a:r>
            <a:r>
              <a:rPr lang="en-DE"/>
              <a:t>s</a:t>
            </a:r>
            <a:r>
              <a:rPr lang="de-DE"/>
              <a:t>phase</a:t>
            </a:r>
          </a:p>
        </p:txBody>
      </p:sp>
    </p:spTree>
    <p:extLst>
      <p:ext uri="{BB962C8B-B14F-4D97-AF65-F5344CB8AC3E}">
        <p14:creationId xmlns:p14="http://schemas.microsoft.com/office/powerpoint/2010/main" val="3697643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109344-1127-4DCA-A686-2C50C78980C5}"/>
              </a:ext>
            </a:extLst>
          </p:cNvPr>
          <p:cNvSpPr>
            <a:spLocks noGrp="1"/>
          </p:cNvSpPr>
          <p:nvPr>
            <p:ph type="title"/>
          </p:nvPr>
        </p:nvSpPr>
        <p:spPr>
          <a:xfrm>
            <a:off x="283135" y="1441038"/>
            <a:ext cx="5474935" cy="613201"/>
          </a:xfrm>
        </p:spPr>
        <p:txBody>
          <a:bodyPr>
            <a:normAutofit/>
          </a:bodyPr>
          <a:lstStyle/>
          <a:p>
            <a:pPr marL="685800" indent="-685800">
              <a:buFont typeface="Wingdings" panose="05000000000000000000" pitchFamily="2" charset="2"/>
              <a:buChar char="Ø"/>
            </a:pPr>
            <a:r>
              <a:rPr lang="de-DE" sz="3600" b="1"/>
              <a:t>Projektkosten/Kalkulation</a:t>
            </a:r>
          </a:p>
        </p:txBody>
      </p:sp>
      <p:graphicFrame>
        <p:nvGraphicFramePr>
          <p:cNvPr id="4" name="Tabelle 4">
            <a:extLst>
              <a:ext uri="{FF2B5EF4-FFF2-40B4-BE49-F238E27FC236}">
                <a16:creationId xmlns:a16="http://schemas.microsoft.com/office/drawing/2014/main" id="{FC0A566D-A1DB-4B67-B19A-E6D19FA509B3}"/>
              </a:ext>
            </a:extLst>
          </p:cNvPr>
          <p:cNvGraphicFramePr>
            <a:graphicFrameLocks noGrp="1"/>
          </p:cNvGraphicFramePr>
          <p:nvPr>
            <p:ph idx="1"/>
            <p:extLst>
              <p:ext uri="{D42A27DB-BD31-4B8C-83A1-F6EECF244321}">
                <p14:modId xmlns:p14="http://schemas.microsoft.com/office/powerpoint/2010/main" val="2953314910"/>
              </p:ext>
            </p:extLst>
          </p:nvPr>
        </p:nvGraphicFramePr>
        <p:xfrm>
          <a:off x="768938" y="2638369"/>
          <a:ext cx="10596156" cy="3405051"/>
        </p:xfrm>
        <a:graphic>
          <a:graphicData uri="http://schemas.openxmlformats.org/drawingml/2006/table">
            <a:tbl>
              <a:tblPr firstRow="1" bandRow="1">
                <a:tableStyleId>{5C22544A-7EE6-4342-B048-85BDC9FD1C3A}</a:tableStyleId>
              </a:tblPr>
              <a:tblGrid>
                <a:gridCol w="2220685">
                  <a:extLst>
                    <a:ext uri="{9D8B030D-6E8A-4147-A177-3AD203B41FA5}">
                      <a16:colId xmlns:a16="http://schemas.microsoft.com/office/drawing/2014/main" val="937281273"/>
                    </a:ext>
                  </a:extLst>
                </a:gridCol>
                <a:gridCol w="1994263">
                  <a:extLst>
                    <a:ext uri="{9D8B030D-6E8A-4147-A177-3AD203B41FA5}">
                      <a16:colId xmlns:a16="http://schemas.microsoft.com/office/drawing/2014/main" val="1328150708"/>
                    </a:ext>
                  </a:extLst>
                </a:gridCol>
                <a:gridCol w="1083130">
                  <a:extLst>
                    <a:ext uri="{9D8B030D-6E8A-4147-A177-3AD203B41FA5}">
                      <a16:colId xmlns:a16="http://schemas.microsoft.com/office/drawing/2014/main" val="3994407602"/>
                    </a:ext>
                  </a:extLst>
                </a:gridCol>
                <a:gridCol w="1766026">
                  <a:extLst>
                    <a:ext uri="{9D8B030D-6E8A-4147-A177-3AD203B41FA5}">
                      <a16:colId xmlns:a16="http://schemas.microsoft.com/office/drawing/2014/main" val="1799902433"/>
                    </a:ext>
                  </a:extLst>
                </a:gridCol>
                <a:gridCol w="1766026">
                  <a:extLst>
                    <a:ext uri="{9D8B030D-6E8A-4147-A177-3AD203B41FA5}">
                      <a16:colId xmlns:a16="http://schemas.microsoft.com/office/drawing/2014/main" val="2003070403"/>
                    </a:ext>
                  </a:extLst>
                </a:gridCol>
                <a:gridCol w="1766026">
                  <a:extLst>
                    <a:ext uri="{9D8B030D-6E8A-4147-A177-3AD203B41FA5}">
                      <a16:colId xmlns:a16="http://schemas.microsoft.com/office/drawing/2014/main" val="3821252133"/>
                    </a:ext>
                  </a:extLst>
                </a:gridCol>
              </a:tblGrid>
              <a:tr h="514635">
                <a:tc>
                  <a:txBody>
                    <a:bodyPr/>
                    <a:lstStyle/>
                    <a:p>
                      <a:r>
                        <a:rPr lang="de-DE"/>
                        <a:t>Vorgang</a:t>
                      </a:r>
                    </a:p>
                  </a:txBody>
                  <a:tcPr/>
                </a:tc>
                <a:tc>
                  <a:txBody>
                    <a:bodyPr/>
                    <a:lstStyle/>
                    <a:p>
                      <a:r>
                        <a:rPr lang="de-DE"/>
                        <a:t>Mitarbeiter</a:t>
                      </a:r>
                    </a:p>
                  </a:txBody>
                  <a:tcPr/>
                </a:tc>
                <a:tc>
                  <a:txBody>
                    <a:bodyPr/>
                    <a:lstStyle/>
                    <a:p>
                      <a:r>
                        <a:rPr lang="de-DE"/>
                        <a:t>Zeit</a:t>
                      </a:r>
                    </a:p>
                  </a:txBody>
                  <a:tcPr/>
                </a:tc>
                <a:tc>
                  <a:txBody>
                    <a:bodyPr/>
                    <a:lstStyle/>
                    <a:p>
                      <a:r>
                        <a:rPr lang="de-DE"/>
                        <a:t>Pro Personal</a:t>
                      </a:r>
                    </a:p>
                  </a:txBody>
                  <a:tcPr/>
                </a:tc>
                <a:tc>
                  <a:txBody>
                    <a:bodyPr/>
                    <a:lstStyle/>
                    <a:p>
                      <a:r>
                        <a:rPr lang="de-DE"/>
                        <a:t>Ressourcen</a:t>
                      </a:r>
                    </a:p>
                  </a:txBody>
                  <a:tcPr/>
                </a:tc>
                <a:tc>
                  <a:txBody>
                    <a:bodyPr/>
                    <a:lstStyle/>
                    <a:p>
                      <a:r>
                        <a:rPr lang="de-DE"/>
                        <a:t>Gesamte</a:t>
                      </a:r>
                    </a:p>
                  </a:txBody>
                  <a:tcPr/>
                </a:tc>
                <a:extLst>
                  <a:ext uri="{0D108BD9-81ED-4DB2-BD59-A6C34878D82A}">
                    <a16:rowId xmlns:a16="http://schemas.microsoft.com/office/drawing/2014/main" val="4031524054"/>
                  </a:ext>
                </a:extLst>
              </a:tr>
              <a:tr h="888274">
                <a:tc>
                  <a:txBody>
                    <a:bodyPr/>
                    <a:lstStyle/>
                    <a:p>
                      <a:r>
                        <a:rPr lang="de-DE"/>
                        <a:t>Entwicklungskosten</a:t>
                      </a:r>
                    </a:p>
                  </a:txBody>
                  <a:tcPr/>
                </a:tc>
                <a:tc>
                  <a:txBody>
                    <a:bodyPr/>
                    <a:lstStyle/>
                    <a:p>
                      <a:r>
                        <a:rPr lang="de-DE"/>
                        <a:t>1 x Ausbildender</a:t>
                      </a:r>
                    </a:p>
                  </a:txBody>
                  <a:tcPr/>
                </a:tc>
                <a:tc>
                  <a:txBody>
                    <a:bodyPr/>
                    <a:lstStyle/>
                    <a:p>
                      <a:r>
                        <a:rPr lang="de-DE"/>
                        <a:t>80H</a:t>
                      </a:r>
                    </a:p>
                  </a:txBody>
                  <a:tcPr/>
                </a:tc>
                <a:tc>
                  <a:txBody>
                    <a:bodyPr/>
                    <a:lstStyle/>
                    <a:p>
                      <a:r>
                        <a:rPr lang="de-DE"/>
                        <a:t>800,00€</a:t>
                      </a:r>
                    </a:p>
                  </a:txBody>
                  <a:tcPr/>
                </a:tc>
                <a:tc>
                  <a:txBody>
                    <a:bodyPr/>
                    <a:lstStyle/>
                    <a:p>
                      <a:r>
                        <a:rPr lang="de-DE"/>
                        <a:t>1200,00€</a:t>
                      </a:r>
                    </a:p>
                  </a:txBody>
                  <a:tcPr/>
                </a:tc>
                <a:tc>
                  <a:txBody>
                    <a:bodyPr/>
                    <a:lstStyle/>
                    <a:p>
                      <a:r>
                        <a:rPr lang="de-DE"/>
                        <a:t>2.000,00€</a:t>
                      </a:r>
                    </a:p>
                  </a:txBody>
                  <a:tcPr/>
                </a:tc>
                <a:extLst>
                  <a:ext uri="{0D108BD9-81ED-4DB2-BD59-A6C34878D82A}">
                    <a16:rowId xmlns:a16="http://schemas.microsoft.com/office/drawing/2014/main" val="3929459826"/>
                  </a:ext>
                </a:extLst>
              </a:tr>
              <a:tr h="514635">
                <a:tc>
                  <a:txBody>
                    <a:bodyPr/>
                    <a:lstStyle/>
                    <a:p>
                      <a:r>
                        <a:rPr lang="de-DE"/>
                        <a:t>Code-Review</a:t>
                      </a:r>
                    </a:p>
                  </a:txBody>
                  <a:tcPr/>
                </a:tc>
                <a:tc>
                  <a:txBody>
                    <a:bodyPr/>
                    <a:lstStyle/>
                    <a:p>
                      <a:r>
                        <a:rPr lang="de-DE"/>
                        <a:t>1 x Mitarbeiter</a:t>
                      </a:r>
                    </a:p>
                  </a:txBody>
                  <a:tcPr/>
                </a:tc>
                <a:tc>
                  <a:txBody>
                    <a:bodyPr/>
                    <a:lstStyle/>
                    <a:p>
                      <a:r>
                        <a:rPr lang="de-DE"/>
                        <a:t>2H</a:t>
                      </a:r>
                    </a:p>
                  </a:txBody>
                  <a:tcPr/>
                </a:tc>
                <a:tc>
                  <a:txBody>
                    <a:bodyPr/>
                    <a:lstStyle/>
                    <a:p>
                      <a:r>
                        <a:rPr lang="de-DE"/>
                        <a:t>80,0€</a:t>
                      </a:r>
                    </a:p>
                  </a:txBody>
                  <a:tcPr/>
                </a:tc>
                <a:tc>
                  <a:txBody>
                    <a:bodyPr/>
                    <a:lstStyle/>
                    <a:p>
                      <a:r>
                        <a:rPr lang="de-DE"/>
                        <a:t>30,00€</a:t>
                      </a:r>
                    </a:p>
                  </a:txBody>
                  <a:tcPr/>
                </a:tc>
                <a:tc>
                  <a:txBody>
                    <a:bodyPr/>
                    <a:lstStyle/>
                    <a:p>
                      <a:r>
                        <a:rPr lang="de-DE"/>
                        <a:t>110,00€</a:t>
                      </a:r>
                    </a:p>
                  </a:txBody>
                  <a:tcPr/>
                </a:tc>
                <a:extLst>
                  <a:ext uri="{0D108BD9-81ED-4DB2-BD59-A6C34878D82A}">
                    <a16:rowId xmlns:a16="http://schemas.microsoft.com/office/drawing/2014/main" val="2128549156"/>
                  </a:ext>
                </a:extLst>
              </a:tr>
              <a:tr h="514635">
                <a:tc>
                  <a:txBody>
                    <a:bodyPr/>
                    <a:lstStyle/>
                    <a:p>
                      <a:r>
                        <a:rPr lang="de-DE"/>
                        <a:t>Abnahem </a:t>
                      </a:r>
                    </a:p>
                  </a:txBody>
                  <a:tcPr/>
                </a:tc>
                <a:tc>
                  <a:txBody>
                    <a:bodyPr/>
                    <a:lstStyle/>
                    <a:p>
                      <a:r>
                        <a:rPr lang="de-DE"/>
                        <a:t>1 x Mitarbeiter</a:t>
                      </a:r>
                    </a:p>
                  </a:txBody>
                  <a:tcPr/>
                </a:tc>
                <a:tc>
                  <a:txBody>
                    <a:bodyPr/>
                    <a:lstStyle/>
                    <a:p>
                      <a:r>
                        <a:rPr lang="de-DE"/>
                        <a:t>1H</a:t>
                      </a:r>
                    </a:p>
                  </a:txBody>
                  <a:tcPr/>
                </a:tc>
                <a:tc>
                  <a:txBody>
                    <a:bodyPr/>
                    <a:lstStyle/>
                    <a:p>
                      <a:r>
                        <a:rPr lang="de-DE"/>
                        <a:t>40,0€</a:t>
                      </a:r>
                    </a:p>
                  </a:txBody>
                  <a:tcPr/>
                </a:tc>
                <a:tc>
                  <a:txBody>
                    <a:bodyPr/>
                    <a:lstStyle/>
                    <a:p>
                      <a:r>
                        <a:rPr lang="de-DE"/>
                        <a:t>15,00€</a:t>
                      </a:r>
                    </a:p>
                  </a:txBody>
                  <a:tcPr/>
                </a:tc>
                <a:tc>
                  <a:txBody>
                    <a:bodyPr/>
                    <a:lstStyle/>
                    <a:p>
                      <a:r>
                        <a:rPr lang="de-DE"/>
                        <a:t>55,00€</a:t>
                      </a:r>
                    </a:p>
                  </a:txBody>
                  <a:tcPr/>
                </a:tc>
                <a:extLst>
                  <a:ext uri="{0D108BD9-81ED-4DB2-BD59-A6C34878D82A}">
                    <a16:rowId xmlns:a16="http://schemas.microsoft.com/office/drawing/2014/main" val="3056073106"/>
                  </a:ext>
                </a:extLst>
              </a:tr>
              <a:tr h="972872">
                <a:tc>
                  <a:txBody>
                    <a:bodyPr/>
                    <a:lstStyle/>
                    <a:p>
                      <a:r>
                        <a:rPr lang="de-DE" sz="2000" b="1"/>
                        <a:t>Gesamte Projektkosten</a:t>
                      </a:r>
                    </a:p>
                  </a:txBody>
                  <a:tcPr>
                    <a:solidFill>
                      <a:srgbClr val="92D050"/>
                    </a:solidFill>
                  </a:tcPr>
                </a:tc>
                <a:tc>
                  <a:txBody>
                    <a:bodyPr/>
                    <a:lstStyle/>
                    <a:p>
                      <a:endParaRPr lang="de-DE"/>
                    </a:p>
                  </a:txBody>
                  <a:tcPr>
                    <a:solidFill>
                      <a:srgbClr val="92D050"/>
                    </a:solidFill>
                  </a:tcPr>
                </a:tc>
                <a:tc>
                  <a:txBody>
                    <a:bodyPr/>
                    <a:lstStyle/>
                    <a:p>
                      <a:endParaRPr lang="de-DE"/>
                    </a:p>
                  </a:txBody>
                  <a:tcPr>
                    <a:solidFill>
                      <a:srgbClr val="92D050"/>
                    </a:solidFill>
                  </a:tcPr>
                </a:tc>
                <a:tc>
                  <a:txBody>
                    <a:bodyPr/>
                    <a:lstStyle/>
                    <a:p>
                      <a:endParaRPr lang="de-DE"/>
                    </a:p>
                  </a:txBody>
                  <a:tcPr>
                    <a:solidFill>
                      <a:srgbClr val="92D050"/>
                    </a:solidFill>
                  </a:tcPr>
                </a:tc>
                <a:tc>
                  <a:txBody>
                    <a:bodyPr/>
                    <a:lstStyle/>
                    <a:p>
                      <a:endParaRPr lang="de-DE"/>
                    </a:p>
                  </a:txBody>
                  <a:tcPr>
                    <a:solidFill>
                      <a:srgbClr val="92D050"/>
                    </a:solidFill>
                  </a:tcPr>
                </a:tc>
                <a:tc>
                  <a:txBody>
                    <a:bodyPr/>
                    <a:lstStyle/>
                    <a:p>
                      <a:r>
                        <a:rPr lang="de-DE" sz="2400" b="1"/>
                        <a:t>2,165,00€</a:t>
                      </a:r>
                    </a:p>
                  </a:txBody>
                  <a:tcPr>
                    <a:solidFill>
                      <a:srgbClr val="92D050"/>
                    </a:solidFill>
                  </a:tcPr>
                </a:tc>
                <a:extLst>
                  <a:ext uri="{0D108BD9-81ED-4DB2-BD59-A6C34878D82A}">
                    <a16:rowId xmlns:a16="http://schemas.microsoft.com/office/drawing/2014/main" val="779951895"/>
                  </a:ext>
                </a:extLst>
              </a:tr>
            </a:tbl>
          </a:graphicData>
        </a:graphic>
      </p:graphicFrame>
      <p:sp>
        <p:nvSpPr>
          <p:cNvPr id="5" name="Rechteck 15">
            <a:extLst>
              <a:ext uri="{FF2B5EF4-FFF2-40B4-BE49-F238E27FC236}">
                <a16:creationId xmlns:a16="http://schemas.microsoft.com/office/drawing/2014/main" id="{1D3F53BF-691F-47B9-AD6F-B5326BEF0A2E}"/>
              </a:ext>
            </a:extLst>
          </p:cNvPr>
          <p:cNvSpPr/>
          <p:nvPr/>
        </p:nvSpPr>
        <p:spPr>
          <a:xfrm>
            <a:off x="6883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6" name="Rechteck 28">
            <a:extLst>
              <a:ext uri="{FF2B5EF4-FFF2-40B4-BE49-F238E27FC236}">
                <a16:creationId xmlns:a16="http://schemas.microsoft.com/office/drawing/2014/main" id="{312451EA-CCA0-49D3-BBCC-703F07F262BC}"/>
              </a:ext>
            </a:extLst>
          </p:cNvPr>
          <p:cNvSpPr/>
          <p:nvPr/>
        </p:nvSpPr>
        <p:spPr>
          <a:xfrm>
            <a:off x="6116414"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7" name="Rechteck 29">
            <a:extLst>
              <a:ext uri="{FF2B5EF4-FFF2-40B4-BE49-F238E27FC236}">
                <a16:creationId xmlns:a16="http://schemas.microsoft.com/office/drawing/2014/main" id="{77BC9A55-C3E7-4587-ADA9-D7094855D49C}"/>
              </a:ext>
            </a:extLst>
          </p:cNvPr>
          <p:cNvSpPr/>
          <p:nvPr/>
        </p:nvSpPr>
        <p:spPr>
          <a:xfrm>
            <a:off x="8135481"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8" name="Rechteck 30">
            <a:extLst>
              <a:ext uri="{FF2B5EF4-FFF2-40B4-BE49-F238E27FC236}">
                <a16:creationId xmlns:a16="http://schemas.microsoft.com/office/drawing/2014/main" id="{4691E9B5-07D3-4F62-92D6-9D8711B481C7}"/>
              </a:ext>
            </a:extLst>
          </p:cNvPr>
          <p:cNvSpPr/>
          <p:nvPr/>
        </p:nvSpPr>
        <p:spPr>
          <a:xfrm>
            <a:off x="1014895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9" name="Rechteck 31">
            <a:extLst>
              <a:ext uri="{FF2B5EF4-FFF2-40B4-BE49-F238E27FC236}">
                <a16:creationId xmlns:a16="http://schemas.microsoft.com/office/drawing/2014/main" id="{944D0DBA-1F91-4600-9959-8D3081F38AA7}"/>
              </a:ext>
            </a:extLst>
          </p:cNvPr>
          <p:cNvSpPr/>
          <p:nvPr/>
        </p:nvSpPr>
        <p:spPr>
          <a:xfrm>
            <a:off x="4123589" y="404207"/>
            <a:ext cx="1943427" cy="461665"/>
          </a:xfrm>
          <a:prstGeom prst="rect">
            <a:avLst/>
          </a:prstGeom>
          <a:noFill/>
        </p:spPr>
        <p:txBody>
          <a:bodyPr wrap="square" lIns="91440" tIns="45720" rIns="91440" bIns="45720">
            <a:spAutoFit/>
          </a:bodyPr>
          <a:lstStyle/>
          <a:p>
            <a:pPr algn="ctr"/>
            <a:r>
              <a:rPr lang="de-DE" sz="2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Analysephase</a:t>
            </a:r>
            <a:endParaRPr lang="de-DE" sz="3200" b="1" cap="none" spc="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10" name="Textfeld 32">
            <a:extLst>
              <a:ext uri="{FF2B5EF4-FFF2-40B4-BE49-F238E27FC236}">
                <a16:creationId xmlns:a16="http://schemas.microsoft.com/office/drawing/2014/main" id="{D48E6278-0629-462F-AD02-CA5F2EDEC80D}"/>
              </a:ext>
            </a:extLst>
          </p:cNvPr>
          <p:cNvSpPr txBox="1"/>
          <p:nvPr/>
        </p:nvSpPr>
        <p:spPr>
          <a:xfrm>
            <a:off x="10756544" y="307222"/>
            <a:ext cx="728254" cy="369332"/>
          </a:xfrm>
          <a:prstGeom prst="rect">
            <a:avLst/>
          </a:prstGeom>
          <a:noFill/>
        </p:spPr>
        <p:txBody>
          <a:bodyPr wrap="square" rtlCol="0">
            <a:spAutoFit/>
          </a:bodyPr>
          <a:lstStyle/>
          <a:p>
            <a:r>
              <a:rPr lang="de-DE"/>
              <a:t>Fazit</a:t>
            </a:r>
            <a:endParaRPr lang="de-DE" sz="1600"/>
          </a:p>
        </p:txBody>
      </p:sp>
      <p:sp>
        <p:nvSpPr>
          <p:cNvPr id="11" name="Rechteck 33">
            <a:extLst>
              <a:ext uri="{FF2B5EF4-FFF2-40B4-BE49-F238E27FC236}">
                <a16:creationId xmlns:a16="http://schemas.microsoft.com/office/drawing/2014/main" id="{47029416-BFD6-43CE-A0A7-F9EBE397968A}"/>
              </a:ext>
            </a:extLst>
          </p:cNvPr>
          <p:cNvSpPr/>
          <p:nvPr/>
        </p:nvSpPr>
        <p:spPr>
          <a:xfrm>
            <a:off x="4097347" y="245021"/>
            <a:ext cx="1943427" cy="124402"/>
          </a:xfrm>
          <a:prstGeom prst="rect">
            <a:avLst/>
          </a:prstGeom>
          <a:gradFill>
            <a:gsLst>
              <a:gs pos="46000">
                <a:schemeClr val="accent1">
                  <a:lumMod val="12000"/>
                  <a:lumOff val="88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alpha val="0"/>
              </a:schemeClr>
            </a:solidFill>
          </a:ln>
          <a:effectLst>
            <a:glow rad="88900">
              <a:schemeClr val="accent1">
                <a:lumMod val="20000"/>
                <a:lumOff val="80000"/>
                <a:alpha val="99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2" name="Rechteck 34">
            <a:extLst>
              <a:ext uri="{FF2B5EF4-FFF2-40B4-BE49-F238E27FC236}">
                <a16:creationId xmlns:a16="http://schemas.microsoft.com/office/drawing/2014/main" id="{9E41D28D-1CAD-47BC-8A4B-9558C2FCF7F7}"/>
              </a:ext>
            </a:extLst>
          </p:cNvPr>
          <p:cNvSpPr/>
          <p:nvPr/>
        </p:nvSpPr>
        <p:spPr>
          <a:xfrm>
            <a:off x="2078280"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6" name="Textfeld 38">
            <a:extLst>
              <a:ext uri="{FF2B5EF4-FFF2-40B4-BE49-F238E27FC236}">
                <a16:creationId xmlns:a16="http://schemas.microsoft.com/office/drawing/2014/main" id="{0B127461-3F14-480C-A343-D8A7FE37996C}"/>
              </a:ext>
            </a:extLst>
          </p:cNvPr>
          <p:cNvSpPr txBox="1"/>
          <p:nvPr/>
        </p:nvSpPr>
        <p:spPr>
          <a:xfrm>
            <a:off x="283135" y="307222"/>
            <a:ext cx="1490433" cy="369332"/>
          </a:xfrm>
          <a:prstGeom prst="rect">
            <a:avLst/>
          </a:prstGeom>
          <a:noFill/>
        </p:spPr>
        <p:txBody>
          <a:bodyPr wrap="square" rtlCol="0">
            <a:spAutoFit/>
          </a:bodyPr>
          <a:lstStyle/>
          <a:p>
            <a:r>
              <a:rPr lang="de-DE"/>
              <a:t>Vorstellung</a:t>
            </a:r>
          </a:p>
        </p:txBody>
      </p:sp>
      <p:sp>
        <p:nvSpPr>
          <p:cNvPr id="17" name="Textfeld 16">
            <a:extLst>
              <a:ext uri="{FF2B5EF4-FFF2-40B4-BE49-F238E27FC236}">
                <a16:creationId xmlns:a16="http://schemas.microsoft.com/office/drawing/2014/main" id="{7D2F86CC-7DAC-45EF-83DC-D501BEC5C89D}"/>
              </a:ext>
            </a:extLst>
          </p:cNvPr>
          <p:cNvSpPr txBox="1"/>
          <p:nvPr/>
        </p:nvSpPr>
        <p:spPr>
          <a:xfrm>
            <a:off x="8155565" y="302621"/>
            <a:ext cx="2208670" cy="646331"/>
          </a:xfrm>
          <a:prstGeom prst="rect">
            <a:avLst/>
          </a:prstGeom>
          <a:noFill/>
        </p:spPr>
        <p:txBody>
          <a:bodyPr wrap="square" rtlCol="0">
            <a:spAutoFit/>
          </a:bodyPr>
          <a:lstStyle/>
          <a:p>
            <a:r>
              <a:rPr lang="de-DE"/>
              <a:t>Implementierungs-</a:t>
            </a:r>
          </a:p>
          <a:p>
            <a:r>
              <a:rPr lang="de-DE"/>
              <a:t>phase</a:t>
            </a:r>
            <a:endParaRPr lang="de-DE" sz="1600"/>
          </a:p>
        </p:txBody>
      </p:sp>
      <p:sp>
        <p:nvSpPr>
          <p:cNvPr id="18" name="Textfeld 17">
            <a:extLst>
              <a:ext uri="{FF2B5EF4-FFF2-40B4-BE49-F238E27FC236}">
                <a16:creationId xmlns:a16="http://schemas.microsoft.com/office/drawing/2014/main" id="{3B401DE2-E596-4806-9A7C-A2DF7C83BC07}"/>
              </a:ext>
            </a:extLst>
          </p:cNvPr>
          <p:cNvSpPr txBox="1"/>
          <p:nvPr/>
        </p:nvSpPr>
        <p:spPr>
          <a:xfrm>
            <a:off x="2235510" y="307222"/>
            <a:ext cx="1762801" cy="369332"/>
          </a:xfrm>
          <a:prstGeom prst="rect">
            <a:avLst/>
          </a:prstGeom>
          <a:noFill/>
        </p:spPr>
        <p:txBody>
          <a:bodyPr wrap="square" rtlCol="0">
            <a:spAutoFit/>
          </a:bodyPr>
          <a:lstStyle/>
          <a:p>
            <a:r>
              <a:rPr lang="de-DE"/>
              <a:t>Projekt-Planung</a:t>
            </a:r>
            <a:endParaRPr lang="de-DE" sz="2000"/>
          </a:p>
        </p:txBody>
      </p:sp>
      <p:sp>
        <p:nvSpPr>
          <p:cNvPr id="19" name="Textfeld 13">
            <a:extLst>
              <a:ext uri="{FF2B5EF4-FFF2-40B4-BE49-F238E27FC236}">
                <a16:creationId xmlns:a16="http://schemas.microsoft.com/office/drawing/2014/main" id="{EA05B36C-6A95-439E-B084-09341F5B017C}"/>
              </a:ext>
            </a:extLst>
          </p:cNvPr>
          <p:cNvSpPr txBox="1"/>
          <p:nvPr/>
        </p:nvSpPr>
        <p:spPr>
          <a:xfrm>
            <a:off x="6222903" y="313448"/>
            <a:ext cx="1625829" cy="369332"/>
          </a:xfrm>
          <a:prstGeom prst="rect">
            <a:avLst/>
          </a:prstGeom>
          <a:noFill/>
        </p:spPr>
        <p:txBody>
          <a:bodyPr wrap="square" rtlCol="0">
            <a:spAutoFit/>
          </a:bodyPr>
          <a:lstStyle/>
          <a:p>
            <a:r>
              <a:rPr lang="de-DE"/>
              <a:t>Entwurf</a:t>
            </a:r>
            <a:r>
              <a:rPr lang="en-DE"/>
              <a:t>s</a:t>
            </a:r>
            <a:r>
              <a:rPr lang="de-DE"/>
              <a:t>phase</a:t>
            </a:r>
          </a:p>
        </p:txBody>
      </p:sp>
    </p:spTree>
    <p:extLst>
      <p:ext uri="{BB962C8B-B14F-4D97-AF65-F5344CB8AC3E}">
        <p14:creationId xmlns:p14="http://schemas.microsoft.com/office/powerpoint/2010/main" val="2376575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45FC4E26-7B30-4845-9104-281E62B85775}"/>
              </a:ext>
            </a:extLst>
          </p:cNvPr>
          <p:cNvSpPr txBox="1"/>
          <p:nvPr/>
        </p:nvSpPr>
        <p:spPr>
          <a:xfrm>
            <a:off x="-145774" y="1202855"/>
            <a:ext cx="5530773" cy="646331"/>
          </a:xfrm>
          <a:prstGeom prst="rect">
            <a:avLst/>
          </a:prstGeom>
          <a:noFill/>
        </p:spPr>
        <p:txBody>
          <a:bodyPr wrap="square">
            <a:spAutoFit/>
          </a:bodyPr>
          <a:lstStyle/>
          <a:p>
            <a:pPr marL="742950" lvl="1" indent="-285750">
              <a:buFont typeface="Wingdings" panose="05000000000000000000" pitchFamily="2" charset="2"/>
              <a:buChar char="Ø"/>
            </a:pPr>
            <a:r>
              <a:rPr lang="de-DE" sz="3600" b="1"/>
              <a:t>  </a:t>
            </a:r>
            <a:r>
              <a:rPr lang="de-DE" sz="3200" b="1">
                <a:latin typeface="+mj-lt"/>
              </a:rPr>
              <a:t>Wirtschaftlichkeitsanalyse </a:t>
            </a:r>
            <a:endParaRPr lang="de-DE" sz="2000" b="1">
              <a:latin typeface="+mj-lt"/>
            </a:endParaRPr>
          </a:p>
        </p:txBody>
      </p:sp>
      <p:sp>
        <p:nvSpPr>
          <p:cNvPr id="28" name="Content Placeholder 27">
            <a:extLst>
              <a:ext uri="{FF2B5EF4-FFF2-40B4-BE49-F238E27FC236}">
                <a16:creationId xmlns:a16="http://schemas.microsoft.com/office/drawing/2014/main" id="{EF973BA8-E820-4E4D-AB63-8BFAD1ECD506}"/>
              </a:ext>
            </a:extLst>
          </p:cNvPr>
          <p:cNvSpPr>
            <a:spLocks noGrp="1"/>
          </p:cNvSpPr>
          <p:nvPr>
            <p:ph idx="1"/>
          </p:nvPr>
        </p:nvSpPr>
        <p:spPr>
          <a:xfrm>
            <a:off x="1097411" y="2345635"/>
            <a:ext cx="6065389" cy="3811450"/>
          </a:xfrm>
        </p:spPr>
        <p:txBody>
          <a:bodyPr>
            <a:normAutofit/>
          </a:bodyPr>
          <a:lstStyle/>
          <a:p>
            <a:pPr marL="0" indent="0">
              <a:buNone/>
            </a:pPr>
            <a:r>
              <a:rPr lang="en-CA" sz="1800" i="1">
                <a:latin typeface="Arial Nova Cond" panose="020B0506020202020204" pitchFamily="34" charset="0"/>
              </a:rPr>
              <a:t>V</a:t>
            </a:r>
            <a:r>
              <a:rPr lang="en-DE" sz="1800" i="1">
                <a:latin typeface="Arial Nova Cond" panose="020B0506020202020204" pitchFamily="34" charset="0"/>
              </a:rPr>
              <a:t>orbreitungs </a:t>
            </a:r>
            <a:r>
              <a:rPr lang="de-DE" sz="1800" i="1">
                <a:latin typeface="Arial Nova Cond" panose="020B0506020202020204" pitchFamily="34" charset="0"/>
              </a:rPr>
              <a:t>Z</a:t>
            </a:r>
            <a:r>
              <a:rPr lang="en-DE" sz="1800" i="1">
                <a:latin typeface="Arial Nova Cond" panose="020B0506020202020204" pitchFamily="34" charset="0"/>
              </a:rPr>
              <a:t>eit: </a:t>
            </a:r>
          </a:p>
          <a:p>
            <a:pPr marL="0" indent="0">
              <a:buNone/>
            </a:pPr>
            <a:r>
              <a:rPr lang="en-CA" sz="1800" i="1">
                <a:latin typeface="Arial Nova Cond" panose="020B0506020202020204" pitchFamily="34" charset="0"/>
              </a:rPr>
              <a:t>A</a:t>
            </a:r>
            <a:r>
              <a:rPr lang="en-DE" sz="1800" i="1">
                <a:latin typeface="Arial Nova Cond" panose="020B0506020202020204" pitchFamily="34" charset="0"/>
              </a:rPr>
              <a:t>lte </a:t>
            </a:r>
            <a:r>
              <a:rPr lang="de-DE" sz="1800" i="1">
                <a:latin typeface="Arial Nova Cond" panose="020B0506020202020204" pitchFamily="34" charset="0"/>
              </a:rPr>
              <a:t>Z</a:t>
            </a:r>
            <a:r>
              <a:rPr lang="en-DE" sz="1800" i="1">
                <a:latin typeface="Arial Nova Cond" panose="020B0506020202020204" pitchFamily="34" charset="0"/>
              </a:rPr>
              <a:t>eit </a:t>
            </a:r>
            <a:r>
              <a:rPr lang="en-DE" sz="1800" b="1" i="1">
                <a:solidFill>
                  <a:srgbClr val="FF0000"/>
                </a:solidFill>
                <a:latin typeface="Arial Nova Cond" panose="020B0506020202020204" pitchFamily="34" charset="0"/>
              </a:rPr>
              <a:t>– </a:t>
            </a:r>
            <a:r>
              <a:rPr lang="en-DE" sz="1800" i="1">
                <a:latin typeface="Arial Nova Cond" panose="020B0506020202020204" pitchFamily="34" charset="0"/>
              </a:rPr>
              <a:t>Neue </a:t>
            </a:r>
            <a:r>
              <a:rPr lang="de-DE" sz="1800" i="1">
                <a:latin typeface="Arial Nova Cond" panose="020B0506020202020204" pitchFamily="34" charset="0"/>
              </a:rPr>
              <a:t>Z</a:t>
            </a:r>
            <a:r>
              <a:rPr lang="en-DE" sz="1800" i="1">
                <a:latin typeface="Arial Nova Cond" panose="020B0506020202020204" pitchFamily="34" charset="0"/>
              </a:rPr>
              <a:t>eit </a:t>
            </a:r>
            <a:r>
              <a:rPr lang="en-DE" sz="1800" b="1" i="1">
                <a:solidFill>
                  <a:srgbClr val="7030A0"/>
                </a:solidFill>
                <a:latin typeface="Arial Nova Cond" panose="020B0506020202020204" pitchFamily="34" charset="0"/>
              </a:rPr>
              <a:t>=</a:t>
            </a:r>
            <a:r>
              <a:rPr lang="en-DE" sz="1800" i="1">
                <a:latin typeface="Arial Nova Cond" panose="020B0506020202020204" pitchFamily="34" charset="0"/>
              </a:rPr>
              <a:t> Monatliche zeitsparung </a:t>
            </a:r>
          </a:p>
          <a:p>
            <a:pPr marL="0" indent="0">
              <a:buNone/>
            </a:pPr>
            <a:endParaRPr lang="en-DE" sz="1800" i="1">
              <a:latin typeface="Arial Nova Cond" panose="020B0506020202020204" pitchFamily="34" charset="0"/>
            </a:endParaRPr>
          </a:p>
          <a:p>
            <a:pPr marL="0" indent="0">
              <a:buNone/>
            </a:pPr>
            <a:r>
              <a:rPr lang="en-DE" sz="1800" i="1">
                <a:solidFill>
                  <a:srgbClr val="7030A0"/>
                </a:solidFill>
                <a:latin typeface="Georgia" panose="02040502050405020303" pitchFamily="18" charset="0"/>
              </a:rPr>
              <a:t>394</a:t>
            </a:r>
            <a:r>
              <a:rPr lang="en-DE" sz="1800" i="1">
                <a:latin typeface="Georgia" panose="02040502050405020303" pitchFamily="18" charset="0"/>
              </a:rPr>
              <a:t> Min</a:t>
            </a:r>
            <a:r>
              <a:rPr lang="en-DE" sz="1800" i="1">
                <a:solidFill>
                  <a:srgbClr val="FF0000"/>
                </a:solidFill>
                <a:latin typeface="Georgia" panose="02040502050405020303" pitchFamily="18" charset="0"/>
              </a:rPr>
              <a:t> </a:t>
            </a:r>
            <a:r>
              <a:rPr lang="en-DE" sz="1800" b="1" i="1">
                <a:solidFill>
                  <a:srgbClr val="FF0000"/>
                </a:solidFill>
                <a:latin typeface="Georgia" panose="02040502050405020303" pitchFamily="18" charset="0"/>
              </a:rPr>
              <a:t>–</a:t>
            </a:r>
            <a:r>
              <a:rPr lang="en-DE" sz="1800" i="1">
                <a:latin typeface="Georgia" panose="02040502050405020303" pitchFamily="18" charset="0"/>
              </a:rPr>
              <a:t> </a:t>
            </a:r>
            <a:r>
              <a:rPr lang="en-DE" sz="1800" i="1">
                <a:solidFill>
                  <a:srgbClr val="7030A0"/>
                </a:solidFill>
                <a:latin typeface="Georgia" panose="02040502050405020303" pitchFamily="18" charset="0"/>
              </a:rPr>
              <a:t>24.67</a:t>
            </a:r>
            <a:r>
              <a:rPr lang="en-DE" sz="1800" i="1">
                <a:latin typeface="Georgia" panose="02040502050405020303" pitchFamily="18" charset="0"/>
              </a:rPr>
              <a:t> Min </a:t>
            </a:r>
            <a:r>
              <a:rPr lang="en-CA" sz="1400" b="1">
                <a:solidFill>
                  <a:srgbClr val="00B0F0"/>
                </a:solidFill>
              </a:rPr>
              <a:t>≈</a:t>
            </a:r>
            <a:r>
              <a:rPr lang="en-CA" sz="1200"/>
              <a:t> </a:t>
            </a:r>
            <a:r>
              <a:rPr lang="en-DE" sz="1800" b="1" i="1">
                <a:solidFill>
                  <a:srgbClr val="00B050"/>
                </a:solidFill>
                <a:latin typeface="Georgia" panose="02040502050405020303" pitchFamily="18" charset="0"/>
              </a:rPr>
              <a:t>370</a:t>
            </a:r>
            <a:r>
              <a:rPr lang="en-DE" sz="1800" i="1">
                <a:solidFill>
                  <a:srgbClr val="00B050"/>
                </a:solidFill>
                <a:latin typeface="Georgia" panose="02040502050405020303" pitchFamily="18" charset="0"/>
              </a:rPr>
              <a:t> </a:t>
            </a:r>
            <a:r>
              <a:rPr lang="en-DE" sz="1800" i="1" u="sng">
                <a:solidFill>
                  <a:srgbClr val="00B050"/>
                </a:solidFill>
                <a:latin typeface="Georgia" panose="02040502050405020303" pitchFamily="18" charset="0"/>
              </a:rPr>
              <a:t>Min/Monat</a:t>
            </a:r>
          </a:p>
          <a:p>
            <a:pPr marL="0" indent="0">
              <a:buNone/>
            </a:pPr>
            <a:r>
              <a:rPr lang="en-CA" sz="1800" b="1">
                <a:solidFill>
                  <a:srgbClr val="00B0F0"/>
                </a:solidFill>
              </a:rPr>
              <a:t>≈</a:t>
            </a:r>
            <a:r>
              <a:rPr lang="en-DE" sz="1800" b="1">
                <a:solidFill>
                  <a:srgbClr val="00B0F0"/>
                </a:solidFill>
              </a:rPr>
              <a:t> </a:t>
            </a:r>
            <a:r>
              <a:rPr lang="en-DE" sz="1800" b="1">
                <a:solidFill>
                  <a:srgbClr val="00B050"/>
                </a:solidFill>
                <a:latin typeface="Georgia" panose="02040502050405020303" pitchFamily="18" charset="0"/>
              </a:rPr>
              <a:t>75 </a:t>
            </a:r>
            <a:r>
              <a:rPr lang="en-DE" sz="1800" i="1" u="sng">
                <a:solidFill>
                  <a:srgbClr val="00B050"/>
                </a:solidFill>
                <a:latin typeface="Georgia" panose="02040502050405020303" pitchFamily="18" charset="0"/>
              </a:rPr>
              <a:t>Stunden/jahr</a:t>
            </a:r>
          </a:p>
          <a:p>
            <a:pPr marL="0" indent="0">
              <a:buNone/>
            </a:pPr>
            <a:endParaRPr lang="en-DE" sz="1800" i="1">
              <a:latin typeface="Georgia" panose="02040502050405020303" pitchFamily="18" charset="0"/>
            </a:endParaRPr>
          </a:p>
          <a:p>
            <a:pPr marL="0" indent="0">
              <a:buNone/>
            </a:pPr>
            <a:r>
              <a:rPr lang="en-DE" sz="1800" i="1">
                <a:solidFill>
                  <a:srgbClr val="7030A0"/>
                </a:solidFill>
                <a:latin typeface="Georgia" panose="02040502050405020303" pitchFamily="18" charset="0"/>
              </a:rPr>
              <a:t>75 </a:t>
            </a:r>
            <a:r>
              <a:rPr lang="en-DE" sz="1800" i="1">
                <a:solidFill>
                  <a:srgbClr val="FF0000"/>
                </a:solidFill>
                <a:latin typeface="Georgia" panose="02040502050405020303" pitchFamily="18" charset="0"/>
              </a:rPr>
              <a:t>x </a:t>
            </a:r>
            <a:r>
              <a:rPr lang="en-DE" sz="1800" i="1">
                <a:latin typeface="Georgia" panose="02040502050405020303" pitchFamily="18" charset="0"/>
              </a:rPr>
              <a:t>(</a:t>
            </a:r>
            <a:r>
              <a:rPr lang="en-DE" sz="1800" i="1">
                <a:solidFill>
                  <a:srgbClr val="7030A0"/>
                </a:solidFill>
                <a:latin typeface="Georgia" panose="02040502050405020303" pitchFamily="18" charset="0"/>
              </a:rPr>
              <a:t>40</a:t>
            </a:r>
            <a:r>
              <a:rPr lang="en-DE" sz="1800" i="1">
                <a:latin typeface="Georgia" panose="02040502050405020303" pitchFamily="18" charset="0"/>
              </a:rPr>
              <a:t>€+</a:t>
            </a:r>
            <a:r>
              <a:rPr lang="en-DE" sz="1800" i="1">
                <a:solidFill>
                  <a:srgbClr val="7030A0"/>
                </a:solidFill>
                <a:latin typeface="Georgia" panose="02040502050405020303" pitchFamily="18" charset="0"/>
              </a:rPr>
              <a:t>15</a:t>
            </a:r>
            <a:r>
              <a:rPr lang="en-DE" sz="1800" i="1">
                <a:latin typeface="Georgia" panose="02040502050405020303" pitchFamily="18" charset="0"/>
              </a:rPr>
              <a:t>€) </a:t>
            </a:r>
            <a:r>
              <a:rPr lang="en-DE" sz="1800" b="1" i="1">
                <a:solidFill>
                  <a:srgbClr val="FF0000"/>
                </a:solidFill>
                <a:latin typeface="Georgia" panose="02040502050405020303" pitchFamily="18" charset="0"/>
              </a:rPr>
              <a:t>–</a:t>
            </a:r>
            <a:r>
              <a:rPr lang="en-DE" sz="1800" i="1">
                <a:latin typeface="Georgia" panose="02040502050405020303" pitchFamily="18" charset="0"/>
              </a:rPr>
              <a:t> Projektkosten = </a:t>
            </a:r>
            <a:r>
              <a:rPr lang="en-DE" sz="1800" i="1">
                <a:solidFill>
                  <a:srgbClr val="7030A0"/>
                </a:solidFill>
                <a:latin typeface="Georgia" panose="02040502050405020303" pitchFamily="18" charset="0"/>
              </a:rPr>
              <a:t>0.55 </a:t>
            </a:r>
            <a:r>
              <a:rPr lang="en-DE" sz="1800" i="1">
                <a:latin typeface="Georgia" panose="02040502050405020303" pitchFamily="18" charset="0"/>
              </a:rPr>
              <a:t>Jhr </a:t>
            </a:r>
            <a:r>
              <a:rPr lang="en-CA" sz="1800" b="1">
                <a:solidFill>
                  <a:srgbClr val="00B0F0"/>
                </a:solidFill>
              </a:rPr>
              <a:t>≈</a:t>
            </a:r>
            <a:r>
              <a:rPr lang="en-DE" sz="1800" b="1">
                <a:solidFill>
                  <a:srgbClr val="00B0F0"/>
                </a:solidFill>
              </a:rPr>
              <a:t> </a:t>
            </a:r>
            <a:r>
              <a:rPr lang="en-DE" sz="1800" b="1">
                <a:solidFill>
                  <a:srgbClr val="00B050"/>
                </a:solidFill>
                <a:latin typeface="Georgia" panose="02040502050405020303" pitchFamily="18" charset="0"/>
              </a:rPr>
              <a:t>6</a:t>
            </a:r>
            <a:r>
              <a:rPr lang="en-DE" sz="1800" b="1">
                <a:solidFill>
                  <a:srgbClr val="00B050"/>
                </a:solidFill>
              </a:rPr>
              <a:t> </a:t>
            </a:r>
            <a:r>
              <a:rPr lang="en-DE" sz="1800" i="1">
                <a:solidFill>
                  <a:srgbClr val="00B050"/>
                </a:solidFill>
                <a:latin typeface="Georgia" panose="02040502050405020303" pitchFamily="18" charset="0"/>
              </a:rPr>
              <a:t>Monate</a:t>
            </a:r>
          </a:p>
          <a:p>
            <a:pPr marL="0" indent="0">
              <a:buNone/>
            </a:pPr>
            <a:r>
              <a:rPr lang="en-DE" sz="1800" b="1" i="1">
                <a:latin typeface="Georgia" panose="02040502050405020303" pitchFamily="18" charset="0"/>
              </a:rPr>
              <a:t>oder stundensatz:</a:t>
            </a:r>
          </a:p>
          <a:p>
            <a:pPr marL="0" indent="0">
              <a:buNone/>
            </a:pPr>
            <a:r>
              <a:rPr lang="en-DE" sz="1800" i="1">
                <a:latin typeface="Georgia" panose="02040502050405020303" pitchFamily="18" charset="0"/>
              </a:rPr>
              <a:t>Projektkosten </a:t>
            </a:r>
            <a:r>
              <a:rPr lang="en-DE" sz="1800" i="1">
                <a:solidFill>
                  <a:srgbClr val="FF0000"/>
                </a:solidFill>
                <a:latin typeface="Georgia" panose="02040502050405020303" pitchFamily="18" charset="0"/>
              </a:rPr>
              <a:t>/</a:t>
            </a:r>
            <a:r>
              <a:rPr lang="en-DE" sz="1800" i="1">
                <a:latin typeface="Georgia" panose="02040502050405020303" pitchFamily="18" charset="0"/>
              </a:rPr>
              <a:t> (</a:t>
            </a:r>
            <a:r>
              <a:rPr lang="en-DE" sz="1800" i="1">
                <a:solidFill>
                  <a:srgbClr val="7030A0"/>
                </a:solidFill>
                <a:latin typeface="Georgia" panose="02040502050405020303" pitchFamily="18" charset="0"/>
              </a:rPr>
              <a:t>40</a:t>
            </a:r>
            <a:r>
              <a:rPr lang="en-DE" sz="1800" i="1">
                <a:latin typeface="Georgia" panose="02040502050405020303" pitchFamily="18" charset="0"/>
              </a:rPr>
              <a:t>€+</a:t>
            </a:r>
            <a:r>
              <a:rPr lang="en-DE" sz="1800" i="1">
                <a:solidFill>
                  <a:srgbClr val="7030A0"/>
                </a:solidFill>
                <a:latin typeface="Georgia" panose="02040502050405020303" pitchFamily="18" charset="0"/>
              </a:rPr>
              <a:t>15</a:t>
            </a:r>
            <a:r>
              <a:rPr lang="en-DE" sz="1800" i="1">
                <a:latin typeface="Georgia" panose="02040502050405020303" pitchFamily="18" charset="0"/>
              </a:rPr>
              <a:t>€) </a:t>
            </a:r>
            <a:r>
              <a:rPr lang="en-CA" sz="1800" b="1">
                <a:solidFill>
                  <a:srgbClr val="00B0F0"/>
                </a:solidFill>
              </a:rPr>
              <a:t>≈</a:t>
            </a:r>
            <a:r>
              <a:rPr lang="en-DE" sz="1800" b="1">
                <a:solidFill>
                  <a:srgbClr val="00B0F0"/>
                </a:solidFill>
              </a:rPr>
              <a:t> </a:t>
            </a:r>
            <a:r>
              <a:rPr lang="en-DE" sz="1800" b="1" i="1">
                <a:solidFill>
                  <a:srgbClr val="00B050"/>
                </a:solidFill>
                <a:latin typeface="Georgia" panose="02040502050405020303" pitchFamily="18" charset="0"/>
              </a:rPr>
              <a:t>40 </a:t>
            </a:r>
            <a:r>
              <a:rPr lang="en-DE" sz="1800" i="1">
                <a:solidFill>
                  <a:srgbClr val="00B050"/>
                </a:solidFill>
                <a:latin typeface="Georgia" panose="02040502050405020303" pitchFamily="18" charset="0"/>
              </a:rPr>
              <a:t>h</a:t>
            </a:r>
            <a:endParaRPr lang="en-CA" sz="1800" i="1">
              <a:solidFill>
                <a:srgbClr val="00B050"/>
              </a:solidFill>
              <a:latin typeface="Georgia" panose="02040502050405020303" pitchFamily="18" charset="0"/>
            </a:endParaRPr>
          </a:p>
        </p:txBody>
      </p:sp>
      <p:sp>
        <p:nvSpPr>
          <p:cNvPr id="29" name="Rechteck 15">
            <a:extLst>
              <a:ext uri="{FF2B5EF4-FFF2-40B4-BE49-F238E27FC236}">
                <a16:creationId xmlns:a16="http://schemas.microsoft.com/office/drawing/2014/main" id="{D3F69890-B211-4A8D-9426-6E5045F97EAC}"/>
              </a:ext>
            </a:extLst>
          </p:cNvPr>
          <p:cNvSpPr/>
          <p:nvPr/>
        </p:nvSpPr>
        <p:spPr>
          <a:xfrm>
            <a:off x="6883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0" name="Rechteck 28">
            <a:extLst>
              <a:ext uri="{FF2B5EF4-FFF2-40B4-BE49-F238E27FC236}">
                <a16:creationId xmlns:a16="http://schemas.microsoft.com/office/drawing/2014/main" id="{8CDCB56C-7199-4DE4-8BDF-0E1228696DE2}"/>
              </a:ext>
            </a:extLst>
          </p:cNvPr>
          <p:cNvSpPr/>
          <p:nvPr/>
        </p:nvSpPr>
        <p:spPr>
          <a:xfrm>
            <a:off x="6116414"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1" name="Rechteck 29">
            <a:extLst>
              <a:ext uri="{FF2B5EF4-FFF2-40B4-BE49-F238E27FC236}">
                <a16:creationId xmlns:a16="http://schemas.microsoft.com/office/drawing/2014/main" id="{2E9223B5-2C05-464E-B65F-3E56E3C1E80D}"/>
              </a:ext>
            </a:extLst>
          </p:cNvPr>
          <p:cNvSpPr/>
          <p:nvPr/>
        </p:nvSpPr>
        <p:spPr>
          <a:xfrm>
            <a:off x="8135481"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2" name="Rechteck 30">
            <a:extLst>
              <a:ext uri="{FF2B5EF4-FFF2-40B4-BE49-F238E27FC236}">
                <a16:creationId xmlns:a16="http://schemas.microsoft.com/office/drawing/2014/main" id="{DC95F1EC-AA47-4E7B-AE62-AC1687E20207}"/>
              </a:ext>
            </a:extLst>
          </p:cNvPr>
          <p:cNvSpPr/>
          <p:nvPr/>
        </p:nvSpPr>
        <p:spPr>
          <a:xfrm>
            <a:off x="1014895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3" name="Rechteck 31">
            <a:extLst>
              <a:ext uri="{FF2B5EF4-FFF2-40B4-BE49-F238E27FC236}">
                <a16:creationId xmlns:a16="http://schemas.microsoft.com/office/drawing/2014/main" id="{B762C92C-E8CE-4A3D-9C6D-1661DE6A2796}"/>
              </a:ext>
            </a:extLst>
          </p:cNvPr>
          <p:cNvSpPr/>
          <p:nvPr/>
        </p:nvSpPr>
        <p:spPr>
          <a:xfrm>
            <a:off x="4123589" y="404207"/>
            <a:ext cx="1943427" cy="461665"/>
          </a:xfrm>
          <a:prstGeom prst="rect">
            <a:avLst/>
          </a:prstGeom>
          <a:noFill/>
        </p:spPr>
        <p:txBody>
          <a:bodyPr wrap="square" lIns="91440" tIns="45720" rIns="91440" bIns="45720">
            <a:spAutoFit/>
          </a:bodyPr>
          <a:lstStyle/>
          <a:p>
            <a:pPr algn="ctr"/>
            <a:r>
              <a:rPr lang="de-DE" sz="2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Analysephase</a:t>
            </a:r>
            <a:endParaRPr lang="de-DE" sz="3200" b="1" cap="none" spc="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34" name="Textfeld 32">
            <a:extLst>
              <a:ext uri="{FF2B5EF4-FFF2-40B4-BE49-F238E27FC236}">
                <a16:creationId xmlns:a16="http://schemas.microsoft.com/office/drawing/2014/main" id="{51EE50B5-D9A0-4E76-B9A2-51182CAC988B}"/>
              </a:ext>
            </a:extLst>
          </p:cNvPr>
          <p:cNvSpPr txBox="1"/>
          <p:nvPr/>
        </p:nvSpPr>
        <p:spPr>
          <a:xfrm>
            <a:off x="10756544" y="307222"/>
            <a:ext cx="728254" cy="369332"/>
          </a:xfrm>
          <a:prstGeom prst="rect">
            <a:avLst/>
          </a:prstGeom>
          <a:noFill/>
        </p:spPr>
        <p:txBody>
          <a:bodyPr wrap="square" rtlCol="0">
            <a:spAutoFit/>
          </a:bodyPr>
          <a:lstStyle/>
          <a:p>
            <a:r>
              <a:rPr lang="de-DE"/>
              <a:t>Fazit</a:t>
            </a:r>
            <a:endParaRPr lang="de-DE" sz="1600"/>
          </a:p>
        </p:txBody>
      </p:sp>
      <p:sp>
        <p:nvSpPr>
          <p:cNvPr id="35" name="Rechteck 33">
            <a:extLst>
              <a:ext uri="{FF2B5EF4-FFF2-40B4-BE49-F238E27FC236}">
                <a16:creationId xmlns:a16="http://schemas.microsoft.com/office/drawing/2014/main" id="{849A4F16-B00E-4249-BF2C-E92B17C17CA9}"/>
              </a:ext>
            </a:extLst>
          </p:cNvPr>
          <p:cNvSpPr/>
          <p:nvPr/>
        </p:nvSpPr>
        <p:spPr>
          <a:xfrm>
            <a:off x="4097347" y="245021"/>
            <a:ext cx="1943427" cy="124402"/>
          </a:xfrm>
          <a:prstGeom prst="rect">
            <a:avLst/>
          </a:prstGeom>
          <a:gradFill>
            <a:gsLst>
              <a:gs pos="46000">
                <a:schemeClr val="accent1">
                  <a:lumMod val="12000"/>
                  <a:lumOff val="88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alpha val="0"/>
              </a:schemeClr>
            </a:solidFill>
          </a:ln>
          <a:effectLst>
            <a:glow rad="88900">
              <a:schemeClr val="accent1">
                <a:lumMod val="20000"/>
                <a:lumOff val="80000"/>
                <a:alpha val="99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6" name="Rechteck 34">
            <a:extLst>
              <a:ext uri="{FF2B5EF4-FFF2-40B4-BE49-F238E27FC236}">
                <a16:creationId xmlns:a16="http://schemas.microsoft.com/office/drawing/2014/main" id="{6FD1B9A3-1240-4153-A7CD-1EAECEDB2106}"/>
              </a:ext>
            </a:extLst>
          </p:cNvPr>
          <p:cNvSpPr/>
          <p:nvPr/>
        </p:nvSpPr>
        <p:spPr>
          <a:xfrm>
            <a:off x="2078280"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40" name="Textfeld 38">
            <a:extLst>
              <a:ext uri="{FF2B5EF4-FFF2-40B4-BE49-F238E27FC236}">
                <a16:creationId xmlns:a16="http://schemas.microsoft.com/office/drawing/2014/main" id="{EA44209D-FE42-4737-A60A-96E923705705}"/>
              </a:ext>
            </a:extLst>
          </p:cNvPr>
          <p:cNvSpPr txBox="1"/>
          <p:nvPr/>
        </p:nvSpPr>
        <p:spPr>
          <a:xfrm>
            <a:off x="283135" y="307222"/>
            <a:ext cx="1490433" cy="369332"/>
          </a:xfrm>
          <a:prstGeom prst="rect">
            <a:avLst/>
          </a:prstGeom>
          <a:noFill/>
        </p:spPr>
        <p:txBody>
          <a:bodyPr wrap="square" rtlCol="0">
            <a:spAutoFit/>
          </a:bodyPr>
          <a:lstStyle/>
          <a:p>
            <a:r>
              <a:rPr lang="de-DE"/>
              <a:t>Vorstellung</a:t>
            </a:r>
          </a:p>
        </p:txBody>
      </p:sp>
      <p:pic>
        <p:nvPicPr>
          <p:cNvPr id="44" name="Picture 43">
            <a:extLst>
              <a:ext uri="{FF2B5EF4-FFF2-40B4-BE49-F238E27FC236}">
                <a16:creationId xmlns:a16="http://schemas.microsoft.com/office/drawing/2014/main" id="{5BC3B095-E4B3-42FE-BBD7-18C96FD727E3}"/>
              </a:ext>
            </a:extLst>
          </p:cNvPr>
          <p:cNvPicPr>
            <a:picLocks noChangeAspect="1"/>
          </p:cNvPicPr>
          <p:nvPr/>
        </p:nvPicPr>
        <p:blipFill>
          <a:blip r:embed="rId3"/>
          <a:stretch>
            <a:fillRect/>
          </a:stretch>
        </p:blipFill>
        <p:spPr>
          <a:xfrm>
            <a:off x="7569177" y="2524539"/>
            <a:ext cx="3915621" cy="2733699"/>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
        <p:nvSpPr>
          <p:cNvPr id="17" name="Textfeld 16">
            <a:extLst>
              <a:ext uri="{FF2B5EF4-FFF2-40B4-BE49-F238E27FC236}">
                <a16:creationId xmlns:a16="http://schemas.microsoft.com/office/drawing/2014/main" id="{1CC9FF65-18AF-4E3D-AC0E-2281AB584014}"/>
              </a:ext>
            </a:extLst>
          </p:cNvPr>
          <p:cNvSpPr txBox="1"/>
          <p:nvPr/>
        </p:nvSpPr>
        <p:spPr>
          <a:xfrm>
            <a:off x="8155565" y="302621"/>
            <a:ext cx="2208670" cy="646331"/>
          </a:xfrm>
          <a:prstGeom prst="rect">
            <a:avLst/>
          </a:prstGeom>
          <a:noFill/>
        </p:spPr>
        <p:txBody>
          <a:bodyPr wrap="square" rtlCol="0">
            <a:spAutoFit/>
          </a:bodyPr>
          <a:lstStyle/>
          <a:p>
            <a:r>
              <a:rPr lang="de-DE"/>
              <a:t>Implementierungs-</a:t>
            </a:r>
          </a:p>
          <a:p>
            <a:r>
              <a:rPr lang="de-DE"/>
              <a:t>phase</a:t>
            </a:r>
            <a:endParaRPr lang="de-DE" sz="1600"/>
          </a:p>
        </p:txBody>
      </p:sp>
      <p:sp>
        <p:nvSpPr>
          <p:cNvPr id="18" name="Textfeld 17">
            <a:extLst>
              <a:ext uri="{FF2B5EF4-FFF2-40B4-BE49-F238E27FC236}">
                <a16:creationId xmlns:a16="http://schemas.microsoft.com/office/drawing/2014/main" id="{80C9B7E3-AA89-4C09-A283-B2B859132DBE}"/>
              </a:ext>
            </a:extLst>
          </p:cNvPr>
          <p:cNvSpPr txBox="1"/>
          <p:nvPr/>
        </p:nvSpPr>
        <p:spPr>
          <a:xfrm>
            <a:off x="2235510" y="307222"/>
            <a:ext cx="1762801" cy="369332"/>
          </a:xfrm>
          <a:prstGeom prst="rect">
            <a:avLst/>
          </a:prstGeom>
          <a:noFill/>
        </p:spPr>
        <p:txBody>
          <a:bodyPr wrap="square" rtlCol="0">
            <a:spAutoFit/>
          </a:bodyPr>
          <a:lstStyle/>
          <a:p>
            <a:r>
              <a:rPr lang="de-DE"/>
              <a:t>Projekt-Planung</a:t>
            </a:r>
            <a:endParaRPr lang="de-DE" sz="2000"/>
          </a:p>
        </p:txBody>
      </p:sp>
      <p:sp>
        <p:nvSpPr>
          <p:cNvPr id="19" name="Textfeld 13">
            <a:extLst>
              <a:ext uri="{FF2B5EF4-FFF2-40B4-BE49-F238E27FC236}">
                <a16:creationId xmlns:a16="http://schemas.microsoft.com/office/drawing/2014/main" id="{F1CC80F7-CEE2-4BBA-A6A1-4E0CAC678CF8}"/>
              </a:ext>
            </a:extLst>
          </p:cNvPr>
          <p:cNvSpPr txBox="1"/>
          <p:nvPr/>
        </p:nvSpPr>
        <p:spPr>
          <a:xfrm>
            <a:off x="6222903" y="313448"/>
            <a:ext cx="1625829" cy="369332"/>
          </a:xfrm>
          <a:prstGeom prst="rect">
            <a:avLst/>
          </a:prstGeom>
          <a:noFill/>
        </p:spPr>
        <p:txBody>
          <a:bodyPr wrap="square" rtlCol="0">
            <a:spAutoFit/>
          </a:bodyPr>
          <a:lstStyle/>
          <a:p>
            <a:r>
              <a:rPr lang="de-DE"/>
              <a:t>Entwurf</a:t>
            </a:r>
            <a:r>
              <a:rPr lang="en-DE"/>
              <a:t>s</a:t>
            </a:r>
            <a:r>
              <a:rPr lang="de-DE"/>
              <a:t>phase</a:t>
            </a:r>
          </a:p>
        </p:txBody>
      </p:sp>
    </p:spTree>
    <p:extLst>
      <p:ext uri="{BB962C8B-B14F-4D97-AF65-F5344CB8AC3E}">
        <p14:creationId xmlns:p14="http://schemas.microsoft.com/office/powerpoint/2010/main" val="2785647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hteck 18">
            <a:extLst>
              <a:ext uri="{FF2B5EF4-FFF2-40B4-BE49-F238E27FC236}">
                <a16:creationId xmlns:a16="http://schemas.microsoft.com/office/drawing/2014/main" id="{DF976917-533A-4461-99B4-7DDFA94EB97B}"/>
              </a:ext>
            </a:extLst>
          </p:cNvPr>
          <p:cNvSpPr/>
          <p:nvPr/>
        </p:nvSpPr>
        <p:spPr>
          <a:xfrm>
            <a:off x="4097347" y="130220"/>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23" name="Rechteck 22">
            <a:extLst>
              <a:ext uri="{FF2B5EF4-FFF2-40B4-BE49-F238E27FC236}">
                <a16:creationId xmlns:a16="http://schemas.microsoft.com/office/drawing/2014/main" id="{56C2038A-241B-42B3-9E15-A6EA37ED10AB}"/>
              </a:ext>
            </a:extLst>
          </p:cNvPr>
          <p:cNvSpPr/>
          <p:nvPr/>
        </p:nvSpPr>
        <p:spPr>
          <a:xfrm>
            <a:off x="2078279" y="129804"/>
            <a:ext cx="1943427" cy="124402"/>
          </a:xfrm>
          <a:prstGeom prst="rect">
            <a:avLst/>
          </a:prstGeom>
          <a:no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6" name="Textfeld 25">
            <a:extLst>
              <a:ext uri="{FF2B5EF4-FFF2-40B4-BE49-F238E27FC236}">
                <a16:creationId xmlns:a16="http://schemas.microsoft.com/office/drawing/2014/main" id="{7BC7485F-7E54-47E9-9AB9-2A77F03B7A2C}"/>
              </a:ext>
            </a:extLst>
          </p:cNvPr>
          <p:cNvSpPr txBox="1"/>
          <p:nvPr/>
        </p:nvSpPr>
        <p:spPr>
          <a:xfrm>
            <a:off x="10756544" y="307222"/>
            <a:ext cx="728254" cy="369332"/>
          </a:xfrm>
          <a:prstGeom prst="rect">
            <a:avLst/>
          </a:prstGeom>
          <a:noFill/>
        </p:spPr>
        <p:txBody>
          <a:bodyPr wrap="square" rtlCol="0">
            <a:spAutoFit/>
          </a:bodyPr>
          <a:lstStyle/>
          <a:p>
            <a:r>
              <a:rPr lang="de-DE"/>
              <a:t>Fazit</a:t>
            </a:r>
            <a:endParaRPr lang="de-DE" sz="1600"/>
          </a:p>
        </p:txBody>
      </p:sp>
      <p:sp>
        <p:nvSpPr>
          <p:cNvPr id="27" name="Textfeld 26">
            <a:extLst>
              <a:ext uri="{FF2B5EF4-FFF2-40B4-BE49-F238E27FC236}">
                <a16:creationId xmlns:a16="http://schemas.microsoft.com/office/drawing/2014/main" id="{DC5FE08D-D72D-4245-8A81-D17D78E06261}"/>
              </a:ext>
            </a:extLst>
          </p:cNvPr>
          <p:cNvSpPr txBox="1"/>
          <p:nvPr/>
        </p:nvSpPr>
        <p:spPr>
          <a:xfrm>
            <a:off x="6086968" y="427023"/>
            <a:ext cx="2106723" cy="461665"/>
          </a:xfrm>
          <a:prstGeom prst="rect">
            <a:avLst/>
          </a:prstGeom>
          <a:noFill/>
        </p:spPr>
        <p:txBody>
          <a:bodyPr wrap="square" rtlCol="0">
            <a:spAutoFit/>
          </a:bodyPr>
          <a:lstStyle/>
          <a:p>
            <a:r>
              <a:rPr lang="de-DE" sz="2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Entwurf</a:t>
            </a:r>
            <a:r>
              <a:rPr lang="en-DE" sz="2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s</a:t>
            </a:r>
            <a:r>
              <a:rPr lang="de-DE" sz="2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phase</a:t>
            </a:r>
            <a:endParaRPr lang="de-DE"/>
          </a:p>
        </p:txBody>
      </p:sp>
      <p:sp>
        <p:nvSpPr>
          <p:cNvPr id="31" name="Rechteck 30">
            <a:extLst>
              <a:ext uri="{FF2B5EF4-FFF2-40B4-BE49-F238E27FC236}">
                <a16:creationId xmlns:a16="http://schemas.microsoft.com/office/drawing/2014/main" id="{A06149F0-C562-4F5D-847C-B42DEE9678EC}"/>
              </a:ext>
            </a:extLst>
          </p:cNvPr>
          <p:cNvSpPr/>
          <p:nvPr/>
        </p:nvSpPr>
        <p:spPr>
          <a:xfrm>
            <a:off x="6126039" y="254206"/>
            <a:ext cx="1943427" cy="124402"/>
          </a:xfrm>
          <a:prstGeom prst="rect">
            <a:avLst/>
          </a:prstGeom>
          <a:gradFill>
            <a:gsLst>
              <a:gs pos="46000">
                <a:schemeClr val="accent1">
                  <a:lumMod val="12000"/>
                  <a:lumOff val="88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alpha val="0"/>
              </a:schemeClr>
            </a:solidFill>
          </a:ln>
          <a:effectLst>
            <a:glow rad="88900">
              <a:schemeClr val="accent1">
                <a:lumMod val="20000"/>
                <a:lumOff val="80000"/>
                <a:alpha val="99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4" name="Rechteck 33">
            <a:extLst>
              <a:ext uri="{FF2B5EF4-FFF2-40B4-BE49-F238E27FC236}">
                <a16:creationId xmlns:a16="http://schemas.microsoft.com/office/drawing/2014/main" id="{97A951C4-3DAB-4ABD-AB39-EE087B71A05C}"/>
              </a:ext>
            </a:extLst>
          </p:cNvPr>
          <p:cNvSpPr/>
          <p:nvPr/>
        </p:nvSpPr>
        <p:spPr>
          <a:xfrm>
            <a:off x="6883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5" name="Rechteck 34">
            <a:extLst>
              <a:ext uri="{FF2B5EF4-FFF2-40B4-BE49-F238E27FC236}">
                <a16:creationId xmlns:a16="http://schemas.microsoft.com/office/drawing/2014/main" id="{7AFC898F-C820-46CB-8D2F-CB11149DED1B}"/>
              </a:ext>
            </a:extLst>
          </p:cNvPr>
          <p:cNvSpPr/>
          <p:nvPr/>
        </p:nvSpPr>
        <p:spPr>
          <a:xfrm>
            <a:off x="2078280"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41" name="Rechteck 40">
            <a:extLst>
              <a:ext uri="{FF2B5EF4-FFF2-40B4-BE49-F238E27FC236}">
                <a16:creationId xmlns:a16="http://schemas.microsoft.com/office/drawing/2014/main" id="{E4546D74-05FC-4378-9B0E-ABA6E082F10A}"/>
              </a:ext>
            </a:extLst>
          </p:cNvPr>
          <p:cNvSpPr/>
          <p:nvPr/>
        </p:nvSpPr>
        <p:spPr>
          <a:xfrm>
            <a:off x="8135481"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42" name="Rechteck 41">
            <a:extLst>
              <a:ext uri="{FF2B5EF4-FFF2-40B4-BE49-F238E27FC236}">
                <a16:creationId xmlns:a16="http://schemas.microsoft.com/office/drawing/2014/main" id="{B557E731-4507-42A8-8121-A664E489F8A0}"/>
              </a:ext>
            </a:extLst>
          </p:cNvPr>
          <p:cNvSpPr/>
          <p:nvPr/>
        </p:nvSpPr>
        <p:spPr>
          <a:xfrm>
            <a:off x="1014895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44" name="Textfeld 43">
            <a:extLst>
              <a:ext uri="{FF2B5EF4-FFF2-40B4-BE49-F238E27FC236}">
                <a16:creationId xmlns:a16="http://schemas.microsoft.com/office/drawing/2014/main" id="{D61A09D6-B2C6-49D2-B5A1-393EFDD37E33}"/>
              </a:ext>
            </a:extLst>
          </p:cNvPr>
          <p:cNvSpPr txBox="1"/>
          <p:nvPr/>
        </p:nvSpPr>
        <p:spPr>
          <a:xfrm>
            <a:off x="4297423" y="307222"/>
            <a:ext cx="1490433" cy="369332"/>
          </a:xfrm>
          <a:prstGeom prst="rect">
            <a:avLst/>
          </a:prstGeom>
          <a:noFill/>
        </p:spPr>
        <p:txBody>
          <a:bodyPr wrap="square" rtlCol="0">
            <a:spAutoFit/>
          </a:bodyPr>
          <a:lstStyle/>
          <a:p>
            <a:r>
              <a:rPr lang="de-DE"/>
              <a:t>Analysephase</a:t>
            </a:r>
          </a:p>
        </p:txBody>
      </p:sp>
      <p:sp>
        <p:nvSpPr>
          <p:cNvPr id="46" name="Textfeld 45">
            <a:extLst>
              <a:ext uri="{FF2B5EF4-FFF2-40B4-BE49-F238E27FC236}">
                <a16:creationId xmlns:a16="http://schemas.microsoft.com/office/drawing/2014/main" id="{181D10A6-C46B-48F6-92BD-9A7B6A808DE6}"/>
              </a:ext>
            </a:extLst>
          </p:cNvPr>
          <p:cNvSpPr txBox="1"/>
          <p:nvPr/>
        </p:nvSpPr>
        <p:spPr>
          <a:xfrm>
            <a:off x="283135" y="307222"/>
            <a:ext cx="1490433" cy="369332"/>
          </a:xfrm>
          <a:prstGeom prst="rect">
            <a:avLst/>
          </a:prstGeom>
          <a:noFill/>
        </p:spPr>
        <p:txBody>
          <a:bodyPr wrap="square" rtlCol="0">
            <a:spAutoFit/>
          </a:bodyPr>
          <a:lstStyle/>
          <a:p>
            <a:r>
              <a:rPr lang="de-DE"/>
              <a:t>Vorstellung</a:t>
            </a:r>
          </a:p>
        </p:txBody>
      </p:sp>
      <p:pic>
        <p:nvPicPr>
          <p:cNvPr id="2050" name="Picture 2" descr="Easily add Swagger UI to a plain Flask API project with an OpenAPI ...">
            <a:extLst>
              <a:ext uri="{FF2B5EF4-FFF2-40B4-BE49-F238E27FC236}">
                <a16:creationId xmlns:a16="http://schemas.microsoft.com/office/drawing/2014/main" id="{785A67CB-D23B-44C0-A258-CFAF3804DF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930" y="2312678"/>
            <a:ext cx="6615644" cy="277857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26" name="Picture 2" descr="Introducing the new swagger editor">
            <a:extLst>
              <a:ext uri="{FF2B5EF4-FFF2-40B4-BE49-F238E27FC236}">
                <a16:creationId xmlns:a16="http://schemas.microsoft.com/office/drawing/2014/main" id="{017C566C-5D51-42C8-8F00-866EC75391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7923" y="3377312"/>
            <a:ext cx="5476875" cy="2857500"/>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
        <p:nvSpPr>
          <p:cNvPr id="2" name="Textfeld 1">
            <a:extLst>
              <a:ext uri="{FF2B5EF4-FFF2-40B4-BE49-F238E27FC236}">
                <a16:creationId xmlns:a16="http://schemas.microsoft.com/office/drawing/2014/main" id="{0CACB0B2-8851-4C02-A6A8-D6EC396E97F3}"/>
              </a:ext>
            </a:extLst>
          </p:cNvPr>
          <p:cNvSpPr txBox="1"/>
          <p:nvPr/>
        </p:nvSpPr>
        <p:spPr>
          <a:xfrm>
            <a:off x="381359" y="1086749"/>
            <a:ext cx="5337266" cy="954107"/>
          </a:xfrm>
          <a:prstGeom prst="rect">
            <a:avLst/>
          </a:prstGeom>
          <a:noFill/>
        </p:spPr>
        <p:txBody>
          <a:bodyPr wrap="square" rtlCol="0">
            <a:spAutoFit/>
          </a:bodyPr>
          <a:lstStyle/>
          <a:p>
            <a:pPr marL="457200" indent="-457200">
              <a:buFont typeface="Wingdings" panose="05000000000000000000" pitchFamily="2" charset="2"/>
              <a:buChar char="Ø"/>
            </a:pPr>
            <a:r>
              <a:rPr lang="de-DE" sz="2800" b="1"/>
              <a:t>Verwendung Swagger-UI (grafische Benutzeroberfläche) </a:t>
            </a:r>
          </a:p>
        </p:txBody>
      </p:sp>
      <p:sp>
        <p:nvSpPr>
          <p:cNvPr id="18" name="Textfeld 17">
            <a:extLst>
              <a:ext uri="{FF2B5EF4-FFF2-40B4-BE49-F238E27FC236}">
                <a16:creationId xmlns:a16="http://schemas.microsoft.com/office/drawing/2014/main" id="{91D3BE52-2191-473F-B588-A14D458ADCD7}"/>
              </a:ext>
            </a:extLst>
          </p:cNvPr>
          <p:cNvSpPr txBox="1"/>
          <p:nvPr/>
        </p:nvSpPr>
        <p:spPr>
          <a:xfrm>
            <a:off x="8155565" y="302621"/>
            <a:ext cx="2208670" cy="646331"/>
          </a:xfrm>
          <a:prstGeom prst="rect">
            <a:avLst/>
          </a:prstGeom>
          <a:noFill/>
        </p:spPr>
        <p:txBody>
          <a:bodyPr wrap="square" rtlCol="0">
            <a:spAutoFit/>
          </a:bodyPr>
          <a:lstStyle/>
          <a:p>
            <a:r>
              <a:rPr lang="de-DE"/>
              <a:t>Implementierungs-</a:t>
            </a:r>
          </a:p>
          <a:p>
            <a:r>
              <a:rPr lang="de-DE"/>
              <a:t>phase</a:t>
            </a:r>
            <a:endParaRPr lang="de-DE" sz="1600"/>
          </a:p>
        </p:txBody>
      </p:sp>
      <p:sp>
        <p:nvSpPr>
          <p:cNvPr id="20" name="Textfeld 19">
            <a:extLst>
              <a:ext uri="{FF2B5EF4-FFF2-40B4-BE49-F238E27FC236}">
                <a16:creationId xmlns:a16="http://schemas.microsoft.com/office/drawing/2014/main" id="{65A8720D-8C1B-46AB-9AA9-C857BBCFABE0}"/>
              </a:ext>
            </a:extLst>
          </p:cNvPr>
          <p:cNvSpPr txBox="1"/>
          <p:nvPr/>
        </p:nvSpPr>
        <p:spPr>
          <a:xfrm>
            <a:off x="2235510" y="307222"/>
            <a:ext cx="1762801" cy="369332"/>
          </a:xfrm>
          <a:prstGeom prst="rect">
            <a:avLst/>
          </a:prstGeom>
          <a:noFill/>
        </p:spPr>
        <p:txBody>
          <a:bodyPr wrap="square" rtlCol="0">
            <a:spAutoFit/>
          </a:bodyPr>
          <a:lstStyle/>
          <a:p>
            <a:r>
              <a:rPr lang="de-DE"/>
              <a:t>Projekt-Planung</a:t>
            </a:r>
            <a:endParaRPr lang="de-DE" sz="2000"/>
          </a:p>
        </p:txBody>
      </p:sp>
    </p:spTree>
    <p:extLst>
      <p:ext uri="{BB962C8B-B14F-4D97-AF65-F5344CB8AC3E}">
        <p14:creationId xmlns:p14="http://schemas.microsoft.com/office/powerpoint/2010/main" val="823502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31B574C9-A798-46F1-AE97-2708B12BD641}"/>
              </a:ext>
            </a:extLst>
          </p:cNvPr>
          <p:cNvPicPr>
            <a:picLocks noChangeAspect="1"/>
          </p:cNvPicPr>
          <p:nvPr/>
        </p:nvPicPr>
        <p:blipFill>
          <a:blip r:embed="rId3"/>
          <a:stretch>
            <a:fillRect/>
          </a:stretch>
        </p:blipFill>
        <p:spPr>
          <a:xfrm>
            <a:off x="484" y="0"/>
            <a:ext cx="12191032" cy="6858000"/>
          </a:xfrm>
          <a:prstGeom prst="rect">
            <a:avLst/>
          </a:prstGeom>
        </p:spPr>
      </p:pic>
      <p:pic>
        <p:nvPicPr>
          <p:cNvPr id="17" name="Grafik 16">
            <a:extLst>
              <a:ext uri="{FF2B5EF4-FFF2-40B4-BE49-F238E27FC236}">
                <a16:creationId xmlns:a16="http://schemas.microsoft.com/office/drawing/2014/main" id="{2690FE1E-A181-49D7-ADD6-DC0CC2578C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1174" y="1056835"/>
            <a:ext cx="4737635" cy="5670944"/>
          </a:xfrm>
          <a:prstGeom prst="rect">
            <a:avLst/>
          </a:prstGeom>
        </p:spPr>
      </p:pic>
      <p:pic>
        <p:nvPicPr>
          <p:cNvPr id="23" name="Grafik 22">
            <a:extLst>
              <a:ext uri="{FF2B5EF4-FFF2-40B4-BE49-F238E27FC236}">
                <a16:creationId xmlns:a16="http://schemas.microsoft.com/office/drawing/2014/main" id="{CCFA0A2C-172F-4BFF-BDC9-CBA44C91D8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92333" y="1056835"/>
            <a:ext cx="4476298" cy="5695578"/>
          </a:xfrm>
          <a:prstGeom prst="rect">
            <a:avLst/>
          </a:prstGeom>
        </p:spPr>
      </p:pic>
      <p:sp>
        <p:nvSpPr>
          <p:cNvPr id="5" name="Rechteck 4">
            <a:extLst>
              <a:ext uri="{FF2B5EF4-FFF2-40B4-BE49-F238E27FC236}">
                <a16:creationId xmlns:a16="http://schemas.microsoft.com/office/drawing/2014/main" id="{1BC39131-B0C9-4550-897B-3FD9262BEB8D}"/>
              </a:ext>
            </a:extLst>
          </p:cNvPr>
          <p:cNvSpPr/>
          <p:nvPr/>
        </p:nvSpPr>
        <p:spPr>
          <a:xfrm>
            <a:off x="4097347" y="130220"/>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6" name="Rechteck 5">
            <a:extLst>
              <a:ext uri="{FF2B5EF4-FFF2-40B4-BE49-F238E27FC236}">
                <a16:creationId xmlns:a16="http://schemas.microsoft.com/office/drawing/2014/main" id="{67005E70-D10E-46E3-AFF3-DB3B2F19E709}"/>
              </a:ext>
            </a:extLst>
          </p:cNvPr>
          <p:cNvSpPr/>
          <p:nvPr/>
        </p:nvSpPr>
        <p:spPr>
          <a:xfrm>
            <a:off x="2078279" y="129804"/>
            <a:ext cx="1943427" cy="124402"/>
          </a:xfrm>
          <a:prstGeom prst="rect">
            <a:avLst/>
          </a:prstGeom>
          <a:no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7" name="Textfeld 6">
            <a:extLst>
              <a:ext uri="{FF2B5EF4-FFF2-40B4-BE49-F238E27FC236}">
                <a16:creationId xmlns:a16="http://schemas.microsoft.com/office/drawing/2014/main" id="{1F53B321-DD08-41D6-B72F-6CE6D03AC158}"/>
              </a:ext>
            </a:extLst>
          </p:cNvPr>
          <p:cNvSpPr txBox="1"/>
          <p:nvPr/>
        </p:nvSpPr>
        <p:spPr>
          <a:xfrm>
            <a:off x="10756544" y="307222"/>
            <a:ext cx="728254" cy="369332"/>
          </a:xfrm>
          <a:prstGeom prst="rect">
            <a:avLst/>
          </a:prstGeom>
          <a:noFill/>
        </p:spPr>
        <p:txBody>
          <a:bodyPr wrap="square" rtlCol="0">
            <a:spAutoFit/>
          </a:bodyPr>
          <a:lstStyle/>
          <a:p>
            <a:r>
              <a:rPr lang="de-DE"/>
              <a:t>Fazit</a:t>
            </a:r>
            <a:endParaRPr lang="de-DE" sz="1600"/>
          </a:p>
        </p:txBody>
      </p:sp>
      <p:sp>
        <p:nvSpPr>
          <p:cNvPr id="9" name="Rechteck 8">
            <a:extLst>
              <a:ext uri="{FF2B5EF4-FFF2-40B4-BE49-F238E27FC236}">
                <a16:creationId xmlns:a16="http://schemas.microsoft.com/office/drawing/2014/main" id="{8192A33D-86EE-4476-9271-6ADCAD5653D0}"/>
              </a:ext>
            </a:extLst>
          </p:cNvPr>
          <p:cNvSpPr/>
          <p:nvPr/>
        </p:nvSpPr>
        <p:spPr>
          <a:xfrm>
            <a:off x="6126039" y="254206"/>
            <a:ext cx="1943427" cy="124402"/>
          </a:xfrm>
          <a:prstGeom prst="rect">
            <a:avLst/>
          </a:prstGeom>
          <a:gradFill>
            <a:gsLst>
              <a:gs pos="46000">
                <a:schemeClr val="accent1">
                  <a:lumMod val="12000"/>
                  <a:lumOff val="88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alpha val="0"/>
              </a:schemeClr>
            </a:solidFill>
          </a:ln>
          <a:effectLst>
            <a:glow rad="88900">
              <a:schemeClr val="accent1">
                <a:lumMod val="20000"/>
                <a:lumOff val="80000"/>
                <a:alpha val="99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0" name="Rechteck 9">
            <a:extLst>
              <a:ext uri="{FF2B5EF4-FFF2-40B4-BE49-F238E27FC236}">
                <a16:creationId xmlns:a16="http://schemas.microsoft.com/office/drawing/2014/main" id="{76972133-F660-4F69-A823-E111088BB567}"/>
              </a:ext>
            </a:extLst>
          </p:cNvPr>
          <p:cNvSpPr/>
          <p:nvPr/>
        </p:nvSpPr>
        <p:spPr>
          <a:xfrm>
            <a:off x="6883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1" name="Rechteck 10">
            <a:extLst>
              <a:ext uri="{FF2B5EF4-FFF2-40B4-BE49-F238E27FC236}">
                <a16:creationId xmlns:a16="http://schemas.microsoft.com/office/drawing/2014/main" id="{AD46BCD4-F77A-4B82-B39D-C60774702ACB}"/>
              </a:ext>
            </a:extLst>
          </p:cNvPr>
          <p:cNvSpPr/>
          <p:nvPr/>
        </p:nvSpPr>
        <p:spPr>
          <a:xfrm>
            <a:off x="2078280"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2" name="Rechteck 11">
            <a:extLst>
              <a:ext uri="{FF2B5EF4-FFF2-40B4-BE49-F238E27FC236}">
                <a16:creationId xmlns:a16="http://schemas.microsoft.com/office/drawing/2014/main" id="{57EAA5AB-52FC-45EC-AAE2-054AD485197A}"/>
              </a:ext>
            </a:extLst>
          </p:cNvPr>
          <p:cNvSpPr/>
          <p:nvPr/>
        </p:nvSpPr>
        <p:spPr>
          <a:xfrm>
            <a:off x="8135481"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3" name="Rechteck 12">
            <a:extLst>
              <a:ext uri="{FF2B5EF4-FFF2-40B4-BE49-F238E27FC236}">
                <a16:creationId xmlns:a16="http://schemas.microsoft.com/office/drawing/2014/main" id="{A2F96A66-0A1A-46D3-9692-B453B8730752}"/>
              </a:ext>
            </a:extLst>
          </p:cNvPr>
          <p:cNvSpPr/>
          <p:nvPr/>
        </p:nvSpPr>
        <p:spPr>
          <a:xfrm>
            <a:off x="1014895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5" name="Textfeld 14">
            <a:extLst>
              <a:ext uri="{FF2B5EF4-FFF2-40B4-BE49-F238E27FC236}">
                <a16:creationId xmlns:a16="http://schemas.microsoft.com/office/drawing/2014/main" id="{BB7D0CAD-DD41-4244-9778-32D2888FA893}"/>
              </a:ext>
            </a:extLst>
          </p:cNvPr>
          <p:cNvSpPr txBox="1"/>
          <p:nvPr/>
        </p:nvSpPr>
        <p:spPr>
          <a:xfrm>
            <a:off x="4297423" y="307222"/>
            <a:ext cx="1490433" cy="369332"/>
          </a:xfrm>
          <a:prstGeom prst="rect">
            <a:avLst/>
          </a:prstGeom>
          <a:noFill/>
        </p:spPr>
        <p:txBody>
          <a:bodyPr wrap="square" rtlCol="0">
            <a:spAutoFit/>
          </a:bodyPr>
          <a:lstStyle/>
          <a:p>
            <a:r>
              <a:rPr lang="de-DE"/>
              <a:t>Analysephase</a:t>
            </a:r>
          </a:p>
        </p:txBody>
      </p:sp>
      <p:sp>
        <p:nvSpPr>
          <p:cNvPr id="18" name="Textfeld 17">
            <a:extLst>
              <a:ext uri="{FF2B5EF4-FFF2-40B4-BE49-F238E27FC236}">
                <a16:creationId xmlns:a16="http://schemas.microsoft.com/office/drawing/2014/main" id="{1D3B6493-600A-4158-96A0-D95456FF2C9D}"/>
              </a:ext>
            </a:extLst>
          </p:cNvPr>
          <p:cNvSpPr txBox="1"/>
          <p:nvPr/>
        </p:nvSpPr>
        <p:spPr>
          <a:xfrm>
            <a:off x="283135" y="307222"/>
            <a:ext cx="1490433" cy="369332"/>
          </a:xfrm>
          <a:prstGeom prst="rect">
            <a:avLst/>
          </a:prstGeom>
          <a:noFill/>
        </p:spPr>
        <p:txBody>
          <a:bodyPr wrap="square" rtlCol="0">
            <a:spAutoFit/>
          </a:bodyPr>
          <a:lstStyle/>
          <a:p>
            <a:r>
              <a:rPr lang="de-DE"/>
              <a:t>Vorstellung</a:t>
            </a:r>
          </a:p>
        </p:txBody>
      </p:sp>
      <p:sp>
        <p:nvSpPr>
          <p:cNvPr id="19" name="Textfeld 18">
            <a:extLst>
              <a:ext uri="{FF2B5EF4-FFF2-40B4-BE49-F238E27FC236}">
                <a16:creationId xmlns:a16="http://schemas.microsoft.com/office/drawing/2014/main" id="{FC439CA9-6DA0-4B8C-82C7-7839982BCBCA}"/>
              </a:ext>
            </a:extLst>
          </p:cNvPr>
          <p:cNvSpPr txBox="1"/>
          <p:nvPr/>
        </p:nvSpPr>
        <p:spPr>
          <a:xfrm>
            <a:off x="8155565" y="302621"/>
            <a:ext cx="2208670" cy="646331"/>
          </a:xfrm>
          <a:prstGeom prst="rect">
            <a:avLst/>
          </a:prstGeom>
          <a:noFill/>
        </p:spPr>
        <p:txBody>
          <a:bodyPr wrap="square" rtlCol="0">
            <a:spAutoFit/>
          </a:bodyPr>
          <a:lstStyle/>
          <a:p>
            <a:r>
              <a:rPr lang="de-DE"/>
              <a:t>Implementierungs-</a:t>
            </a:r>
          </a:p>
          <a:p>
            <a:r>
              <a:rPr lang="de-DE"/>
              <a:t>phase</a:t>
            </a:r>
            <a:endParaRPr lang="de-DE" sz="1600"/>
          </a:p>
        </p:txBody>
      </p:sp>
      <p:sp>
        <p:nvSpPr>
          <p:cNvPr id="20" name="Textfeld 19">
            <a:extLst>
              <a:ext uri="{FF2B5EF4-FFF2-40B4-BE49-F238E27FC236}">
                <a16:creationId xmlns:a16="http://schemas.microsoft.com/office/drawing/2014/main" id="{67014CF5-366B-4503-B4BA-7E2750729F7D}"/>
              </a:ext>
            </a:extLst>
          </p:cNvPr>
          <p:cNvSpPr txBox="1"/>
          <p:nvPr/>
        </p:nvSpPr>
        <p:spPr>
          <a:xfrm>
            <a:off x="2235510" y="307222"/>
            <a:ext cx="1762801" cy="369332"/>
          </a:xfrm>
          <a:prstGeom prst="rect">
            <a:avLst/>
          </a:prstGeom>
          <a:noFill/>
        </p:spPr>
        <p:txBody>
          <a:bodyPr wrap="square" rtlCol="0">
            <a:spAutoFit/>
          </a:bodyPr>
          <a:lstStyle/>
          <a:p>
            <a:r>
              <a:rPr lang="de-DE"/>
              <a:t>Projekt-Planung</a:t>
            </a:r>
            <a:endParaRPr lang="de-DE" sz="2000"/>
          </a:p>
        </p:txBody>
      </p:sp>
      <p:sp>
        <p:nvSpPr>
          <p:cNvPr id="21" name="Textfeld 26">
            <a:extLst>
              <a:ext uri="{FF2B5EF4-FFF2-40B4-BE49-F238E27FC236}">
                <a16:creationId xmlns:a16="http://schemas.microsoft.com/office/drawing/2014/main" id="{A6D19552-DA02-4036-AE0E-48A7C39A0787}"/>
              </a:ext>
            </a:extLst>
          </p:cNvPr>
          <p:cNvSpPr txBox="1"/>
          <p:nvPr/>
        </p:nvSpPr>
        <p:spPr>
          <a:xfrm>
            <a:off x="6086968" y="427023"/>
            <a:ext cx="2106723" cy="461665"/>
          </a:xfrm>
          <a:prstGeom prst="rect">
            <a:avLst/>
          </a:prstGeom>
          <a:noFill/>
        </p:spPr>
        <p:txBody>
          <a:bodyPr wrap="square" rtlCol="0">
            <a:spAutoFit/>
          </a:bodyPr>
          <a:lstStyle/>
          <a:p>
            <a:r>
              <a:rPr lang="de-DE" sz="2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Entwurf</a:t>
            </a:r>
            <a:r>
              <a:rPr lang="en-DE" sz="2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s</a:t>
            </a:r>
            <a:r>
              <a:rPr lang="de-DE" sz="2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phase</a:t>
            </a:r>
            <a:endParaRPr lang="de-DE"/>
          </a:p>
        </p:txBody>
      </p:sp>
    </p:spTree>
    <p:extLst>
      <p:ext uri="{BB962C8B-B14F-4D97-AF65-F5344CB8AC3E}">
        <p14:creationId xmlns:p14="http://schemas.microsoft.com/office/powerpoint/2010/main" val="1347886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AFD56C56-41BF-4ECC-B1D1-452DEA7341C6}"/>
              </a:ext>
            </a:extLst>
          </p:cNvPr>
          <p:cNvSpPr/>
          <p:nvPr/>
        </p:nvSpPr>
        <p:spPr>
          <a:xfrm>
            <a:off x="6883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1" name="Rechteck 10">
            <a:extLst>
              <a:ext uri="{FF2B5EF4-FFF2-40B4-BE49-F238E27FC236}">
                <a16:creationId xmlns:a16="http://schemas.microsoft.com/office/drawing/2014/main" id="{5DA5B511-20D6-4165-8A72-AACE424C10B1}"/>
              </a:ext>
            </a:extLst>
          </p:cNvPr>
          <p:cNvSpPr/>
          <p:nvPr/>
        </p:nvSpPr>
        <p:spPr>
          <a:xfrm>
            <a:off x="2078280"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2" name="Rechteck 11">
            <a:extLst>
              <a:ext uri="{FF2B5EF4-FFF2-40B4-BE49-F238E27FC236}">
                <a16:creationId xmlns:a16="http://schemas.microsoft.com/office/drawing/2014/main" id="{0DD1A15A-11F5-453D-B5D9-C9F92CB7CF44}"/>
              </a:ext>
            </a:extLst>
          </p:cNvPr>
          <p:cNvSpPr/>
          <p:nvPr/>
        </p:nvSpPr>
        <p:spPr>
          <a:xfrm>
            <a:off x="4097347" y="130220"/>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3" name="Rechteck 12">
            <a:extLst>
              <a:ext uri="{FF2B5EF4-FFF2-40B4-BE49-F238E27FC236}">
                <a16:creationId xmlns:a16="http://schemas.microsoft.com/office/drawing/2014/main" id="{BD60C7E8-3DB4-4156-BA87-8A38150FD665}"/>
              </a:ext>
            </a:extLst>
          </p:cNvPr>
          <p:cNvSpPr/>
          <p:nvPr/>
        </p:nvSpPr>
        <p:spPr>
          <a:xfrm>
            <a:off x="6116414"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5" name="Rechteck 14">
            <a:extLst>
              <a:ext uri="{FF2B5EF4-FFF2-40B4-BE49-F238E27FC236}">
                <a16:creationId xmlns:a16="http://schemas.microsoft.com/office/drawing/2014/main" id="{36028D59-43B2-46E0-BE49-001621CE7AAB}"/>
              </a:ext>
            </a:extLst>
          </p:cNvPr>
          <p:cNvSpPr/>
          <p:nvPr/>
        </p:nvSpPr>
        <p:spPr>
          <a:xfrm>
            <a:off x="1014895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6" name="Rechteck 15">
            <a:extLst>
              <a:ext uri="{FF2B5EF4-FFF2-40B4-BE49-F238E27FC236}">
                <a16:creationId xmlns:a16="http://schemas.microsoft.com/office/drawing/2014/main" id="{115CFC26-3BC0-47D2-95D3-068449D81F8B}"/>
              </a:ext>
            </a:extLst>
          </p:cNvPr>
          <p:cNvSpPr/>
          <p:nvPr/>
        </p:nvSpPr>
        <p:spPr>
          <a:xfrm>
            <a:off x="2078279" y="129804"/>
            <a:ext cx="1943427" cy="124402"/>
          </a:xfrm>
          <a:prstGeom prst="rect">
            <a:avLst/>
          </a:prstGeom>
          <a:no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8" name="Textfeld 17">
            <a:extLst>
              <a:ext uri="{FF2B5EF4-FFF2-40B4-BE49-F238E27FC236}">
                <a16:creationId xmlns:a16="http://schemas.microsoft.com/office/drawing/2014/main" id="{54976CA5-60B1-4AC0-B297-E38DF884F139}"/>
              </a:ext>
            </a:extLst>
          </p:cNvPr>
          <p:cNvSpPr txBox="1"/>
          <p:nvPr/>
        </p:nvSpPr>
        <p:spPr>
          <a:xfrm>
            <a:off x="8142280" y="458660"/>
            <a:ext cx="2274784" cy="646331"/>
          </a:xfrm>
          <a:prstGeom prst="rect">
            <a:avLst/>
          </a:prstGeom>
          <a:noFill/>
        </p:spPr>
        <p:txBody>
          <a:bodyPr wrap="square" rtlCol="0">
            <a:spAutoFit/>
          </a:bodyPr>
          <a:lstStyle/>
          <a:p>
            <a:r>
              <a:rPr lang="de-DE" b="1">
                <a:ln w="13462">
                  <a:solidFill>
                    <a:schemeClr val="bg1"/>
                  </a:solidFill>
                  <a:prstDash val="solid"/>
                </a:ln>
                <a:solidFill>
                  <a:schemeClr val="tx1">
                    <a:lumMod val="85000"/>
                    <a:lumOff val="15000"/>
                  </a:schemeClr>
                </a:solidFill>
                <a:effectLst>
                  <a:outerShdw dist="38100" dir="2700000" algn="bl" rotWithShape="0">
                    <a:schemeClr val="accent5"/>
                  </a:outerShdw>
                </a:effectLst>
              </a:rPr>
              <a:t>Implementierungs-</a:t>
            </a:r>
          </a:p>
          <a:p>
            <a:r>
              <a:rPr lang="de-DE" b="1">
                <a:ln w="13462">
                  <a:solidFill>
                    <a:schemeClr val="bg1"/>
                  </a:solidFill>
                  <a:prstDash val="solid"/>
                </a:ln>
                <a:solidFill>
                  <a:schemeClr val="tx1">
                    <a:lumMod val="85000"/>
                    <a:lumOff val="15000"/>
                  </a:schemeClr>
                </a:solidFill>
                <a:effectLst>
                  <a:outerShdw dist="38100" dir="2700000" algn="bl" rotWithShape="0">
                    <a:schemeClr val="accent5"/>
                  </a:outerShdw>
                </a:effectLst>
              </a:rPr>
              <a:t>phase</a:t>
            </a:r>
            <a:endParaRPr lang="de-DE" sz="1600" b="1">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24" name="Rechteck 23">
            <a:extLst>
              <a:ext uri="{FF2B5EF4-FFF2-40B4-BE49-F238E27FC236}">
                <a16:creationId xmlns:a16="http://schemas.microsoft.com/office/drawing/2014/main" id="{CF038FF2-8FA7-4BB1-8F19-553C225071CA}"/>
              </a:ext>
            </a:extLst>
          </p:cNvPr>
          <p:cNvSpPr/>
          <p:nvPr/>
        </p:nvSpPr>
        <p:spPr>
          <a:xfrm>
            <a:off x="8142280" y="254206"/>
            <a:ext cx="1943427" cy="124402"/>
          </a:xfrm>
          <a:prstGeom prst="rect">
            <a:avLst/>
          </a:prstGeom>
          <a:gradFill>
            <a:gsLst>
              <a:gs pos="46000">
                <a:schemeClr val="accent1">
                  <a:lumMod val="12000"/>
                  <a:lumOff val="88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alpha val="0"/>
              </a:schemeClr>
            </a:solidFill>
          </a:ln>
          <a:effectLst>
            <a:glow rad="88900">
              <a:schemeClr val="accent1">
                <a:lumMod val="20000"/>
                <a:lumOff val="80000"/>
                <a:alpha val="99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0" name="Textfeld 29">
            <a:extLst>
              <a:ext uri="{FF2B5EF4-FFF2-40B4-BE49-F238E27FC236}">
                <a16:creationId xmlns:a16="http://schemas.microsoft.com/office/drawing/2014/main" id="{1C30529F-5DD5-4FC6-810A-603BC65F5BA2}"/>
              </a:ext>
            </a:extLst>
          </p:cNvPr>
          <p:cNvSpPr txBox="1"/>
          <p:nvPr/>
        </p:nvSpPr>
        <p:spPr>
          <a:xfrm>
            <a:off x="10756544" y="307222"/>
            <a:ext cx="728254" cy="369332"/>
          </a:xfrm>
          <a:prstGeom prst="rect">
            <a:avLst/>
          </a:prstGeom>
          <a:noFill/>
        </p:spPr>
        <p:txBody>
          <a:bodyPr wrap="square" rtlCol="0">
            <a:spAutoFit/>
          </a:bodyPr>
          <a:lstStyle/>
          <a:p>
            <a:r>
              <a:rPr lang="de-DE"/>
              <a:t>Fazit</a:t>
            </a:r>
            <a:endParaRPr lang="de-DE" sz="1600"/>
          </a:p>
        </p:txBody>
      </p:sp>
      <p:sp>
        <p:nvSpPr>
          <p:cNvPr id="32" name="Textfeld 31">
            <a:extLst>
              <a:ext uri="{FF2B5EF4-FFF2-40B4-BE49-F238E27FC236}">
                <a16:creationId xmlns:a16="http://schemas.microsoft.com/office/drawing/2014/main" id="{403DFDA5-8D0E-4939-BFF0-8CB633DA91F6}"/>
              </a:ext>
            </a:extLst>
          </p:cNvPr>
          <p:cNvSpPr txBox="1"/>
          <p:nvPr/>
        </p:nvSpPr>
        <p:spPr>
          <a:xfrm>
            <a:off x="4297423" y="307222"/>
            <a:ext cx="1490433" cy="369332"/>
          </a:xfrm>
          <a:prstGeom prst="rect">
            <a:avLst/>
          </a:prstGeom>
          <a:noFill/>
        </p:spPr>
        <p:txBody>
          <a:bodyPr wrap="square" rtlCol="0">
            <a:spAutoFit/>
          </a:bodyPr>
          <a:lstStyle/>
          <a:p>
            <a:r>
              <a:rPr lang="de-DE"/>
              <a:t>Analysephase</a:t>
            </a:r>
          </a:p>
        </p:txBody>
      </p:sp>
      <p:sp>
        <p:nvSpPr>
          <p:cNvPr id="34" name="Textfeld 33">
            <a:extLst>
              <a:ext uri="{FF2B5EF4-FFF2-40B4-BE49-F238E27FC236}">
                <a16:creationId xmlns:a16="http://schemas.microsoft.com/office/drawing/2014/main" id="{B0DDDC95-A1ED-4C70-8BB5-E75C26A6FD35}"/>
              </a:ext>
            </a:extLst>
          </p:cNvPr>
          <p:cNvSpPr txBox="1"/>
          <p:nvPr/>
        </p:nvSpPr>
        <p:spPr>
          <a:xfrm>
            <a:off x="283135" y="307222"/>
            <a:ext cx="1490433" cy="369332"/>
          </a:xfrm>
          <a:prstGeom prst="rect">
            <a:avLst/>
          </a:prstGeom>
          <a:noFill/>
        </p:spPr>
        <p:txBody>
          <a:bodyPr wrap="square" rtlCol="0">
            <a:spAutoFit/>
          </a:bodyPr>
          <a:lstStyle/>
          <a:p>
            <a:r>
              <a:rPr lang="de-DE"/>
              <a:t>Vorstellung</a:t>
            </a:r>
          </a:p>
        </p:txBody>
      </p:sp>
      <p:sp>
        <p:nvSpPr>
          <p:cNvPr id="8" name="TextBox 7">
            <a:extLst>
              <a:ext uri="{FF2B5EF4-FFF2-40B4-BE49-F238E27FC236}">
                <a16:creationId xmlns:a16="http://schemas.microsoft.com/office/drawing/2014/main" id="{6C037600-A3EE-426C-9203-26DDD7CDF8BD}"/>
              </a:ext>
            </a:extLst>
          </p:cNvPr>
          <p:cNvSpPr txBox="1"/>
          <p:nvPr/>
        </p:nvSpPr>
        <p:spPr>
          <a:xfrm>
            <a:off x="308731" y="1104991"/>
            <a:ext cx="4365362" cy="646331"/>
          </a:xfrm>
          <a:prstGeom prst="rect">
            <a:avLst/>
          </a:prstGeom>
          <a:noFill/>
        </p:spPr>
        <p:txBody>
          <a:bodyPr wrap="none" rtlCol="0">
            <a:spAutoFit/>
          </a:bodyPr>
          <a:lstStyle/>
          <a:p>
            <a:pPr marL="285750" indent="-285750">
              <a:buFont typeface="Wingdings" panose="05000000000000000000" pitchFamily="2" charset="2"/>
              <a:buChar char="Ø"/>
            </a:pPr>
            <a:r>
              <a:rPr lang="en-DE" sz="3600"/>
              <a:t>Einsetzung der OOP</a:t>
            </a:r>
            <a:endParaRPr lang="en-CA" sz="3600"/>
          </a:p>
        </p:txBody>
      </p:sp>
      <p:pic>
        <p:nvPicPr>
          <p:cNvPr id="1026" name="Picture 2" descr="Object-Oriented Programming - Simple Explanation And All You Need To ...">
            <a:extLst>
              <a:ext uri="{FF2B5EF4-FFF2-40B4-BE49-F238E27FC236}">
                <a16:creationId xmlns:a16="http://schemas.microsoft.com/office/drawing/2014/main" id="{EA9789B8-7CCE-49F0-B6D5-3655283B9AC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106"/>
          <a:stretch/>
        </p:blipFill>
        <p:spPr bwMode="auto">
          <a:xfrm>
            <a:off x="634618" y="2829528"/>
            <a:ext cx="4005896" cy="372125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883A87D1-78FF-4EF2-B048-EAB879DB2F12}"/>
              </a:ext>
            </a:extLst>
          </p:cNvPr>
          <p:cNvPicPr>
            <a:picLocks noChangeAspect="1"/>
          </p:cNvPicPr>
          <p:nvPr/>
        </p:nvPicPr>
        <p:blipFill rotWithShape="1">
          <a:blip r:embed="rId4"/>
          <a:srcRect l="1057"/>
          <a:stretch/>
        </p:blipFill>
        <p:spPr>
          <a:xfrm>
            <a:off x="5317270" y="3950104"/>
            <a:ext cx="5995913" cy="254225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5" name="Arrow: Curved Right 24">
            <a:extLst>
              <a:ext uri="{FF2B5EF4-FFF2-40B4-BE49-F238E27FC236}">
                <a16:creationId xmlns:a16="http://schemas.microsoft.com/office/drawing/2014/main" id="{E4327FAD-A48D-4527-828E-40522FB428C8}"/>
              </a:ext>
            </a:extLst>
          </p:cNvPr>
          <p:cNvSpPr/>
          <p:nvPr/>
        </p:nvSpPr>
        <p:spPr>
          <a:xfrm rot="752045">
            <a:off x="9380160" y="4016200"/>
            <a:ext cx="411354" cy="83289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26" name="Arrow: Curved Up 25">
            <a:extLst>
              <a:ext uri="{FF2B5EF4-FFF2-40B4-BE49-F238E27FC236}">
                <a16:creationId xmlns:a16="http://schemas.microsoft.com/office/drawing/2014/main" id="{CAF5398F-400F-42FA-8144-902DB86AD8D5}"/>
              </a:ext>
            </a:extLst>
          </p:cNvPr>
          <p:cNvSpPr/>
          <p:nvPr/>
        </p:nvSpPr>
        <p:spPr>
          <a:xfrm rot="16994059">
            <a:off x="9706831" y="4350504"/>
            <a:ext cx="839873" cy="37304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pic>
        <p:nvPicPr>
          <p:cNvPr id="35" name="Picture 34">
            <a:extLst>
              <a:ext uri="{FF2B5EF4-FFF2-40B4-BE49-F238E27FC236}">
                <a16:creationId xmlns:a16="http://schemas.microsoft.com/office/drawing/2014/main" id="{6B605ABB-753D-4B26-9B80-E348BAD385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81393" y="1043892"/>
            <a:ext cx="3067668" cy="2906212"/>
          </a:xfrm>
          <a:prstGeom prst="rect">
            <a:avLst/>
          </a:prstGeom>
        </p:spPr>
      </p:pic>
      <p:sp>
        <p:nvSpPr>
          <p:cNvPr id="21" name="Textfeld 20">
            <a:extLst>
              <a:ext uri="{FF2B5EF4-FFF2-40B4-BE49-F238E27FC236}">
                <a16:creationId xmlns:a16="http://schemas.microsoft.com/office/drawing/2014/main" id="{063123FF-7B7D-420B-9AEF-201EA125CD0F}"/>
              </a:ext>
            </a:extLst>
          </p:cNvPr>
          <p:cNvSpPr txBox="1"/>
          <p:nvPr/>
        </p:nvSpPr>
        <p:spPr>
          <a:xfrm>
            <a:off x="2235510" y="307222"/>
            <a:ext cx="1762801" cy="369332"/>
          </a:xfrm>
          <a:prstGeom prst="rect">
            <a:avLst/>
          </a:prstGeom>
          <a:noFill/>
        </p:spPr>
        <p:txBody>
          <a:bodyPr wrap="square" rtlCol="0">
            <a:spAutoFit/>
          </a:bodyPr>
          <a:lstStyle/>
          <a:p>
            <a:r>
              <a:rPr lang="de-DE"/>
              <a:t>Projekt-Planung</a:t>
            </a:r>
            <a:endParaRPr lang="de-DE" sz="2000"/>
          </a:p>
        </p:txBody>
      </p:sp>
      <p:sp>
        <p:nvSpPr>
          <p:cNvPr id="22" name="Textfeld 13">
            <a:extLst>
              <a:ext uri="{FF2B5EF4-FFF2-40B4-BE49-F238E27FC236}">
                <a16:creationId xmlns:a16="http://schemas.microsoft.com/office/drawing/2014/main" id="{25B92073-BFBE-49F8-94BD-0DFDBE28F15B}"/>
              </a:ext>
            </a:extLst>
          </p:cNvPr>
          <p:cNvSpPr txBox="1"/>
          <p:nvPr/>
        </p:nvSpPr>
        <p:spPr>
          <a:xfrm>
            <a:off x="6222903" y="313448"/>
            <a:ext cx="1625829" cy="369332"/>
          </a:xfrm>
          <a:prstGeom prst="rect">
            <a:avLst/>
          </a:prstGeom>
          <a:noFill/>
        </p:spPr>
        <p:txBody>
          <a:bodyPr wrap="square" rtlCol="0">
            <a:spAutoFit/>
          </a:bodyPr>
          <a:lstStyle/>
          <a:p>
            <a:r>
              <a:rPr lang="de-DE"/>
              <a:t>Entwurf</a:t>
            </a:r>
            <a:r>
              <a:rPr lang="en-DE"/>
              <a:t>s</a:t>
            </a:r>
            <a:r>
              <a:rPr lang="de-DE"/>
              <a:t>phase</a:t>
            </a:r>
          </a:p>
        </p:txBody>
      </p:sp>
    </p:spTree>
    <p:extLst>
      <p:ext uri="{BB962C8B-B14F-4D97-AF65-F5344CB8AC3E}">
        <p14:creationId xmlns:p14="http://schemas.microsoft.com/office/powerpoint/2010/main" val="693792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2000" fill="hold"/>
                                        <p:tgtEl>
                                          <p:spTgt spid="3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hteck 9">
            <a:extLst>
              <a:ext uri="{FF2B5EF4-FFF2-40B4-BE49-F238E27FC236}">
                <a16:creationId xmlns:a16="http://schemas.microsoft.com/office/drawing/2014/main" id="{149C3CC5-62C5-445E-8A87-27B1FFCDC186}"/>
              </a:ext>
            </a:extLst>
          </p:cNvPr>
          <p:cNvSpPr/>
          <p:nvPr/>
        </p:nvSpPr>
        <p:spPr>
          <a:xfrm>
            <a:off x="6883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7" name="Rechteck 10">
            <a:extLst>
              <a:ext uri="{FF2B5EF4-FFF2-40B4-BE49-F238E27FC236}">
                <a16:creationId xmlns:a16="http://schemas.microsoft.com/office/drawing/2014/main" id="{2A7CE57D-F519-4251-AD32-67E2DF41891C}"/>
              </a:ext>
            </a:extLst>
          </p:cNvPr>
          <p:cNvSpPr/>
          <p:nvPr/>
        </p:nvSpPr>
        <p:spPr>
          <a:xfrm>
            <a:off x="2078280"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8" name="Rechteck 11">
            <a:extLst>
              <a:ext uri="{FF2B5EF4-FFF2-40B4-BE49-F238E27FC236}">
                <a16:creationId xmlns:a16="http://schemas.microsoft.com/office/drawing/2014/main" id="{B08B3E47-5B4C-4AD2-B1E5-4F1BF22EC5A5}"/>
              </a:ext>
            </a:extLst>
          </p:cNvPr>
          <p:cNvSpPr/>
          <p:nvPr/>
        </p:nvSpPr>
        <p:spPr>
          <a:xfrm>
            <a:off x="4097347" y="130220"/>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9" name="Rechteck 12">
            <a:extLst>
              <a:ext uri="{FF2B5EF4-FFF2-40B4-BE49-F238E27FC236}">
                <a16:creationId xmlns:a16="http://schemas.microsoft.com/office/drawing/2014/main" id="{23BC5416-EF5E-4B1C-8548-B783DD0D24DF}"/>
              </a:ext>
            </a:extLst>
          </p:cNvPr>
          <p:cNvSpPr/>
          <p:nvPr/>
        </p:nvSpPr>
        <p:spPr>
          <a:xfrm>
            <a:off x="6116414"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0" name="Rechteck 14">
            <a:extLst>
              <a:ext uri="{FF2B5EF4-FFF2-40B4-BE49-F238E27FC236}">
                <a16:creationId xmlns:a16="http://schemas.microsoft.com/office/drawing/2014/main" id="{35F00A41-B6E9-4235-9EB9-283A2335B309}"/>
              </a:ext>
            </a:extLst>
          </p:cNvPr>
          <p:cNvSpPr/>
          <p:nvPr/>
        </p:nvSpPr>
        <p:spPr>
          <a:xfrm>
            <a:off x="1014895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1" name="Rechteck 15">
            <a:extLst>
              <a:ext uri="{FF2B5EF4-FFF2-40B4-BE49-F238E27FC236}">
                <a16:creationId xmlns:a16="http://schemas.microsoft.com/office/drawing/2014/main" id="{05A0E354-9AC5-496A-A936-8819F0E75EF0}"/>
              </a:ext>
            </a:extLst>
          </p:cNvPr>
          <p:cNvSpPr/>
          <p:nvPr/>
        </p:nvSpPr>
        <p:spPr>
          <a:xfrm>
            <a:off x="2078279" y="129804"/>
            <a:ext cx="1943427" cy="124402"/>
          </a:xfrm>
          <a:prstGeom prst="rect">
            <a:avLst/>
          </a:prstGeom>
          <a:no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3" name="Rechteck 23">
            <a:extLst>
              <a:ext uri="{FF2B5EF4-FFF2-40B4-BE49-F238E27FC236}">
                <a16:creationId xmlns:a16="http://schemas.microsoft.com/office/drawing/2014/main" id="{92B7484F-CC00-4015-8937-88C9921E36AC}"/>
              </a:ext>
            </a:extLst>
          </p:cNvPr>
          <p:cNvSpPr/>
          <p:nvPr/>
        </p:nvSpPr>
        <p:spPr>
          <a:xfrm>
            <a:off x="8142280" y="254206"/>
            <a:ext cx="1943427" cy="124402"/>
          </a:xfrm>
          <a:prstGeom prst="rect">
            <a:avLst/>
          </a:prstGeom>
          <a:gradFill>
            <a:gsLst>
              <a:gs pos="46000">
                <a:schemeClr val="accent1">
                  <a:lumMod val="12000"/>
                  <a:lumOff val="88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alpha val="0"/>
              </a:schemeClr>
            </a:solidFill>
          </a:ln>
          <a:effectLst>
            <a:glow rad="88900">
              <a:schemeClr val="accent1">
                <a:lumMod val="20000"/>
                <a:lumOff val="80000"/>
                <a:alpha val="99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4" name="Textfeld 29">
            <a:extLst>
              <a:ext uri="{FF2B5EF4-FFF2-40B4-BE49-F238E27FC236}">
                <a16:creationId xmlns:a16="http://schemas.microsoft.com/office/drawing/2014/main" id="{76EDF4B0-A04A-47B6-9B37-C0CEDDF6DD17}"/>
              </a:ext>
            </a:extLst>
          </p:cNvPr>
          <p:cNvSpPr txBox="1"/>
          <p:nvPr/>
        </p:nvSpPr>
        <p:spPr>
          <a:xfrm>
            <a:off x="10756544" y="307222"/>
            <a:ext cx="728254" cy="369332"/>
          </a:xfrm>
          <a:prstGeom prst="rect">
            <a:avLst/>
          </a:prstGeom>
          <a:noFill/>
        </p:spPr>
        <p:txBody>
          <a:bodyPr wrap="square" rtlCol="0">
            <a:spAutoFit/>
          </a:bodyPr>
          <a:lstStyle/>
          <a:p>
            <a:r>
              <a:rPr lang="de-DE"/>
              <a:t>Fazit</a:t>
            </a:r>
            <a:endParaRPr lang="de-DE" sz="1600"/>
          </a:p>
        </p:txBody>
      </p:sp>
      <p:sp>
        <p:nvSpPr>
          <p:cNvPr id="26" name="Textfeld 31">
            <a:extLst>
              <a:ext uri="{FF2B5EF4-FFF2-40B4-BE49-F238E27FC236}">
                <a16:creationId xmlns:a16="http://schemas.microsoft.com/office/drawing/2014/main" id="{489EE1B5-6A4C-4EDF-95AB-D73D70E20AA8}"/>
              </a:ext>
            </a:extLst>
          </p:cNvPr>
          <p:cNvSpPr txBox="1"/>
          <p:nvPr/>
        </p:nvSpPr>
        <p:spPr>
          <a:xfrm>
            <a:off x="4297423" y="307222"/>
            <a:ext cx="1490433" cy="646331"/>
          </a:xfrm>
          <a:prstGeom prst="rect">
            <a:avLst/>
          </a:prstGeom>
          <a:noFill/>
        </p:spPr>
        <p:txBody>
          <a:bodyPr wrap="square" rtlCol="0">
            <a:spAutoFit/>
          </a:bodyPr>
          <a:lstStyle/>
          <a:p>
            <a:r>
              <a:rPr lang="de-DE"/>
              <a:t>Analysephase</a:t>
            </a:r>
          </a:p>
        </p:txBody>
      </p:sp>
      <p:sp>
        <p:nvSpPr>
          <p:cNvPr id="28" name="Textfeld 33">
            <a:extLst>
              <a:ext uri="{FF2B5EF4-FFF2-40B4-BE49-F238E27FC236}">
                <a16:creationId xmlns:a16="http://schemas.microsoft.com/office/drawing/2014/main" id="{368888F8-2848-4A6D-9336-6671455463CB}"/>
              </a:ext>
            </a:extLst>
          </p:cNvPr>
          <p:cNvSpPr txBox="1"/>
          <p:nvPr/>
        </p:nvSpPr>
        <p:spPr>
          <a:xfrm>
            <a:off x="283135" y="307222"/>
            <a:ext cx="1490433" cy="369332"/>
          </a:xfrm>
          <a:prstGeom prst="rect">
            <a:avLst/>
          </a:prstGeom>
          <a:noFill/>
        </p:spPr>
        <p:txBody>
          <a:bodyPr wrap="square" rtlCol="0">
            <a:spAutoFit/>
          </a:bodyPr>
          <a:lstStyle/>
          <a:p>
            <a:r>
              <a:rPr lang="de-DE"/>
              <a:t>Vorstellung</a:t>
            </a:r>
          </a:p>
        </p:txBody>
      </p:sp>
      <p:sp>
        <p:nvSpPr>
          <p:cNvPr id="32" name="TextBox 31">
            <a:extLst>
              <a:ext uri="{FF2B5EF4-FFF2-40B4-BE49-F238E27FC236}">
                <a16:creationId xmlns:a16="http://schemas.microsoft.com/office/drawing/2014/main" id="{7957AD69-3697-41CF-B524-B3676F499584}"/>
              </a:ext>
            </a:extLst>
          </p:cNvPr>
          <p:cNvSpPr txBox="1"/>
          <p:nvPr/>
        </p:nvSpPr>
        <p:spPr>
          <a:xfrm>
            <a:off x="732214" y="2637665"/>
            <a:ext cx="3161443" cy="400110"/>
          </a:xfrm>
          <a:prstGeom prst="rect">
            <a:avLst/>
          </a:prstGeom>
          <a:noFill/>
        </p:spPr>
        <p:txBody>
          <a:bodyPr wrap="none" rtlCol="0">
            <a:spAutoFit/>
          </a:bodyPr>
          <a:lstStyle/>
          <a:p>
            <a:pPr marL="285750" indent="-285750">
              <a:buFont typeface="Wingdings" panose="05000000000000000000" pitchFamily="2" charset="2"/>
              <a:buChar char="Ø"/>
            </a:pPr>
            <a:r>
              <a:rPr lang="en-CA" sz="2000" b="1"/>
              <a:t>E</a:t>
            </a:r>
            <a:r>
              <a:rPr lang="en-DE" sz="2000" b="1"/>
              <a:t>rleichterung des</a:t>
            </a:r>
            <a:r>
              <a:rPr lang="en-DE" b="1"/>
              <a:t> </a:t>
            </a:r>
            <a:r>
              <a:rPr lang="en-CA" sz="2000" b="1"/>
              <a:t>S</a:t>
            </a:r>
            <a:r>
              <a:rPr lang="en-DE" sz="2000" b="1"/>
              <a:t>tartup</a:t>
            </a:r>
            <a:endParaRPr lang="en-CA" b="1"/>
          </a:p>
        </p:txBody>
      </p:sp>
      <p:sp>
        <p:nvSpPr>
          <p:cNvPr id="33" name="TextBox 32">
            <a:extLst>
              <a:ext uri="{FF2B5EF4-FFF2-40B4-BE49-F238E27FC236}">
                <a16:creationId xmlns:a16="http://schemas.microsoft.com/office/drawing/2014/main" id="{0C735AC4-E3D0-4819-A7D0-0F9E8E5581D5}"/>
              </a:ext>
            </a:extLst>
          </p:cNvPr>
          <p:cNvSpPr txBox="1"/>
          <p:nvPr/>
        </p:nvSpPr>
        <p:spPr>
          <a:xfrm>
            <a:off x="732214" y="3402305"/>
            <a:ext cx="4363310" cy="400110"/>
          </a:xfrm>
          <a:prstGeom prst="rect">
            <a:avLst/>
          </a:prstGeom>
          <a:noFill/>
        </p:spPr>
        <p:txBody>
          <a:bodyPr wrap="none" rtlCol="0">
            <a:spAutoFit/>
          </a:bodyPr>
          <a:lstStyle/>
          <a:p>
            <a:pPr marL="285750" indent="-285750">
              <a:buFont typeface="Wingdings" panose="05000000000000000000" pitchFamily="2" charset="2"/>
              <a:buChar char="Ø"/>
            </a:pPr>
            <a:r>
              <a:rPr lang="en-DE" sz="2000" b="1"/>
              <a:t>Implementierung der API</a:t>
            </a:r>
            <a:r>
              <a:rPr lang="en-DE" b="1"/>
              <a:t> </a:t>
            </a:r>
            <a:r>
              <a:rPr lang="en-DE" sz="2000" b="1"/>
              <a:t>Endpunkte</a:t>
            </a:r>
            <a:endParaRPr lang="en-CA" b="1"/>
          </a:p>
        </p:txBody>
      </p:sp>
      <p:sp>
        <p:nvSpPr>
          <p:cNvPr id="34" name="TextBox 33">
            <a:extLst>
              <a:ext uri="{FF2B5EF4-FFF2-40B4-BE49-F238E27FC236}">
                <a16:creationId xmlns:a16="http://schemas.microsoft.com/office/drawing/2014/main" id="{5F8D336C-7CBF-4B83-AEA6-4C2618ECA716}"/>
              </a:ext>
            </a:extLst>
          </p:cNvPr>
          <p:cNvSpPr txBox="1"/>
          <p:nvPr/>
        </p:nvSpPr>
        <p:spPr>
          <a:xfrm>
            <a:off x="732214" y="4166945"/>
            <a:ext cx="3320268" cy="400110"/>
          </a:xfrm>
          <a:prstGeom prst="rect">
            <a:avLst/>
          </a:prstGeom>
          <a:noFill/>
        </p:spPr>
        <p:txBody>
          <a:bodyPr wrap="none" rtlCol="0">
            <a:spAutoFit/>
          </a:bodyPr>
          <a:lstStyle/>
          <a:p>
            <a:pPr marL="285750" indent="-285750">
              <a:buFont typeface="Wingdings" panose="05000000000000000000" pitchFamily="2" charset="2"/>
              <a:buChar char="Ø"/>
            </a:pPr>
            <a:r>
              <a:rPr lang="en-DE" sz="2000" b="1"/>
              <a:t>Einrichtung der Datenbank</a:t>
            </a:r>
            <a:endParaRPr lang="en-CA" sz="2000" b="1"/>
          </a:p>
        </p:txBody>
      </p:sp>
      <p:sp>
        <p:nvSpPr>
          <p:cNvPr id="35" name="TextBox 34">
            <a:extLst>
              <a:ext uri="{FF2B5EF4-FFF2-40B4-BE49-F238E27FC236}">
                <a16:creationId xmlns:a16="http://schemas.microsoft.com/office/drawing/2014/main" id="{753674CD-77BF-4787-9EB3-AC49A6C4CCD9}"/>
              </a:ext>
            </a:extLst>
          </p:cNvPr>
          <p:cNvSpPr txBox="1"/>
          <p:nvPr/>
        </p:nvSpPr>
        <p:spPr>
          <a:xfrm>
            <a:off x="735325" y="4924862"/>
            <a:ext cx="2841804" cy="400110"/>
          </a:xfrm>
          <a:prstGeom prst="rect">
            <a:avLst/>
          </a:prstGeom>
          <a:noFill/>
        </p:spPr>
        <p:txBody>
          <a:bodyPr wrap="none" rtlCol="0">
            <a:spAutoFit/>
          </a:bodyPr>
          <a:lstStyle/>
          <a:p>
            <a:pPr marL="285750" indent="-285750">
              <a:buFont typeface="Wingdings" panose="05000000000000000000" pitchFamily="2" charset="2"/>
              <a:buChar char="Ø"/>
            </a:pPr>
            <a:r>
              <a:rPr lang="en-DE" sz="2000" b="1"/>
              <a:t>Fehler Protokol</a:t>
            </a:r>
            <a:r>
              <a:rPr lang="de-DE" sz="2000" b="1"/>
              <a:t>l</a:t>
            </a:r>
            <a:r>
              <a:rPr lang="en-DE" sz="2000" b="1"/>
              <a:t>ierung</a:t>
            </a:r>
            <a:endParaRPr lang="en-CA" sz="2000" b="1"/>
          </a:p>
        </p:txBody>
      </p:sp>
      <p:sp>
        <p:nvSpPr>
          <p:cNvPr id="37" name="TextBox 36">
            <a:extLst>
              <a:ext uri="{FF2B5EF4-FFF2-40B4-BE49-F238E27FC236}">
                <a16:creationId xmlns:a16="http://schemas.microsoft.com/office/drawing/2014/main" id="{EEB14258-51FB-491D-902D-C0717F4D37F9}"/>
              </a:ext>
            </a:extLst>
          </p:cNvPr>
          <p:cNvSpPr txBox="1"/>
          <p:nvPr/>
        </p:nvSpPr>
        <p:spPr>
          <a:xfrm>
            <a:off x="7548294" y="2331778"/>
            <a:ext cx="2226892" cy="1908215"/>
          </a:xfrm>
          <a:prstGeom prst="rect">
            <a:avLst/>
          </a:prstGeom>
          <a:noFill/>
        </p:spPr>
        <p:txBody>
          <a:bodyPr wrap="none" rtlCol="0">
            <a:spAutoFit/>
          </a:bodyPr>
          <a:lstStyle/>
          <a:p>
            <a:r>
              <a:rPr lang="en-DE" sz="2800" i="1"/>
              <a:t>Tests:</a:t>
            </a:r>
          </a:p>
          <a:p>
            <a:endParaRPr lang="en-DE"/>
          </a:p>
          <a:p>
            <a:r>
              <a:rPr lang="en-DE" b="1" i="1">
                <a:latin typeface="Georgia" panose="02040502050405020303" pitchFamily="18" charset="0"/>
              </a:rPr>
              <a:t>1-</a:t>
            </a:r>
            <a:r>
              <a:rPr lang="en-DE" i="1">
                <a:solidFill>
                  <a:srgbClr val="7030A0"/>
                </a:solidFill>
                <a:latin typeface="Georgia" panose="02040502050405020303" pitchFamily="18" charset="0"/>
              </a:rPr>
              <a:t>Unittest </a:t>
            </a:r>
          </a:p>
          <a:p>
            <a:r>
              <a:rPr lang="en-DE" b="1" i="1">
                <a:latin typeface="Georgia" panose="02040502050405020303" pitchFamily="18" charset="0"/>
              </a:rPr>
              <a:t>2-</a:t>
            </a:r>
            <a:r>
              <a:rPr lang="en-CA" i="1">
                <a:solidFill>
                  <a:srgbClr val="7030A0"/>
                </a:solidFill>
                <a:latin typeface="Georgia" panose="02040502050405020303" pitchFamily="18" charset="0"/>
              </a:rPr>
              <a:t>I</a:t>
            </a:r>
            <a:r>
              <a:rPr lang="en-DE" i="1">
                <a:solidFill>
                  <a:srgbClr val="7030A0"/>
                </a:solidFill>
                <a:latin typeface="Georgia" panose="02040502050405020303" pitchFamily="18" charset="0"/>
              </a:rPr>
              <a:t>ntegrations</a:t>
            </a:r>
            <a:r>
              <a:rPr lang="de-DE" i="1">
                <a:solidFill>
                  <a:srgbClr val="7030A0"/>
                </a:solidFill>
                <a:latin typeface="Georgia" panose="02040502050405020303" pitchFamily="18" charset="0"/>
              </a:rPr>
              <a:t>-</a:t>
            </a:r>
            <a:r>
              <a:rPr lang="en-DE" i="1">
                <a:solidFill>
                  <a:srgbClr val="7030A0"/>
                </a:solidFill>
                <a:latin typeface="Georgia" panose="02040502050405020303" pitchFamily="18" charset="0"/>
              </a:rPr>
              <a:t>Test</a:t>
            </a:r>
          </a:p>
          <a:p>
            <a:r>
              <a:rPr lang="en-DE" b="1" i="1">
                <a:latin typeface="Georgia" panose="02040502050405020303" pitchFamily="18" charset="0"/>
              </a:rPr>
              <a:t>3-</a:t>
            </a:r>
            <a:r>
              <a:rPr lang="en-DE" i="1">
                <a:solidFill>
                  <a:srgbClr val="7030A0"/>
                </a:solidFill>
                <a:latin typeface="Georgia" panose="02040502050405020303" pitchFamily="18" charset="0"/>
              </a:rPr>
              <a:t>System</a:t>
            </a:r>
            <a:r>
              <a:rPr lang="de-DE" i="1">
                <a:solidFill>
                  <a:srgbClr val="7030A0"/>
                </a:solidFill>
                <a:latin typeface="Georgia" panose="02040502050405020303" pitchFamily="18" charset="0"/>
              </a:rPr>
              <a:t>-</a:t>
            </a:r>
            <a:r>
              <a:rPr lang="en-DE" i="1">
                <a:solidFill>
                  <a:srgbClr val="7030A0"/>
                </a:solidFill>
                <a:latin typeface="Georgia" panose="02040502050405020303" pitchFamily="18" charset="0"/>
              </a:rPr>
              <a:t>Test</a:t>
            </a:r>
          </a:p>
          <a:p>
            <a:r>
              <a:rPr lang="en-DE" b="1" i="1">
                <a:latin typeface="Georgia" panose="02040502050405020303" pitchFamily="18" charset="0"/>
              </a:rPr>
              <a:t>4-</a:t>
            </a:r>
            <a:r>
              <a:rPr lang="en-DE" i="1">
                <a:solidFill>
                  <a:srgbClr val="7030A0"/>
                </a:solidFill>
                <a:latin typeface="Georgia" panose="02040502050405020303" pitchFamily="18" charset="0"/>
              </a:rPr>
              <a:t>Abnahme</a:t>
            </a:r>
            <a:r>
              <a:rPr lang="de-DE" i="1">
                <a:solidFill>
                  <a:srgbClr val="7030A0"/>
                </a:solidFill>
                <a:latin typeface="Georgia" panose="02040502050405020303" pitchFamily="18" charset="0"/>
              </a:rPr>
              <a:t>-</a:t>
            </a:r>
            <a:r>
              <a:rPr lang="en-DE" i="1">
                <a:solidFill>
                  <a:srgbClr val="7030A0"/>
                </a:solidFill>
                <a:latin typeface="Georgia" panose="02040502050405020303" pitchFamily="18" charset="0"/>
              </a:rPr>
              <a:t>Test</a:t>
            </a:r>
          </a:p>
        </p:txBody>
      </p:sp>
      <p:sp>
        <p:nvSpPr>
          <p:cNvPr id="39" name="Left Brace 38">
            <a:extLst>
              <a:ext uri="{FF2B5EF4-FFF2-40B4-BE49-F238E27FC236}">
                <a16:creationId xmlns:a16="http://schemas.microsoft.com/office/drawing/2014/main" id="{1015933E-103F-4AC7-AFB2-D049FE4C191E}"/>
              </a:ext>
            </a:extLst>
          </p:cNvPr>
          <p:cNvSpPr/>
          <p:nvPr/>
        </p:nvSpPr>
        <p:spPr>
          <a:xfrm>
            <a:off x="7248538" y="3147950"/>
            <a:ext cx="180535" cy="1033409"/>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CA"/>
          </a:p>
        </p:txBody>
      </p:sp>
      <p:cxnSp>
        <p:nvCxnSpPr>
          <p:cNvPr id="41" name="Straight Connector 40">
            <a:extLst>
              <a:ext uri="{FF2B5EF4-FFF2-40B4-BE49-F238E27FC236}">
                <a16:creationId xmlns:a16="http://schemas.microsoft.com/office/drawing/2014/main" id="{D01FB055-9483-458B-8BF6-0A5B6076E6CC}"/>
              </a:ext>
            </a:extLst>
          </p:cNvPr>
          <p:cNvCxnSpPr>
            <a:cxnSpLocks/>
            <a:stCxn id="54" idx="3"/>
          </p:cNvCxnSpPr>
          <p:nvPr/>
        </p:nvCxnSpPr>
        <p:spPr>
          <a:xfrm>
            <a:off x="2484553" y="2104433"/>
            <a:ext cx="4611925" cy="1435778"/>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2" name="Straight Connector 41">
            <a:extLst>
              <a:ext uri="{FF2B5EF4-FFF2-40B4-BE49-F238E27FC236}">
                <a16:creationId xmlns:a16="http://schemas.microsoft.com/office/drawing/2014/main" id="{53246A74-1F0D-4172-8EF2-70296B1A78CD}"/>
              </a:ext>
            </a:extLst>
          </p:cNvPr>
          <p:cNvCxnSpPr>
            <a:cxnSpLocks/>
            <a:stCxn id="32" idx="3"/>
          </p:cNvCxnSpPr>
          <p:nvPr/>
        </p:nvCxnSpPr>
        <p:spPr>
          <a:xfrm>
            <a:off x="3893657" y="2837720"/>
            <a:ext cx="3194470" cy="774348"/>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4" name="Straight Connector 43">
            <a:extLst>
              <a:ext uri="{FF2B5EF4-FFF2-40B4-BE49-F238E27FC236}">
                <a16:creationId xmlns:a16="http://schemas.microsoft.com/office/drawing/2014/main" id="{9203CEDC-797E-41CA-BEA1-536B1DF72CE4}"/>
              </a:ext>
            </a:extLst>
          </p:cNvPr>
          <p:cNvCxnSpPr>
            <a:cxnSpLocks/>
            <a:stCxn id="33" idx="3"/>
          </p:cNvCxnSpPr>
          <p:nvPr/>
        </p:nvCxnSpPr>
        <p:spPr>
          <a:xfrm>
            <a:off x="5095524" y="3602360"/>
            <a:ext cx="1992603" cy="61418"/>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Straight Connector 45">
            <a:extLst>
              <a:ext uri="{FF2B5EF4-FFF2-40B4-BE49-F238E27FC236}">
                <a16:creationId xmlns:a16="http://schemas.microsoft.com/office/drawing/2014/main" id="{3D976A46-1696-4F90-825A-ED985CC2E290}"/>
              </a:ext>
            </a:extLst>
          </p:cNvPr>
          <p:cNvCxnSpPr>
            <a:cxnSpLocks/>
            <a:stCxn id="34" idx="3"/>
          </p:cNvCxnSpPr>
          <p:nvPr/>
        </p:nvCxnSpPr>
        <p:spPr>
          <a:xfrm flipV="1">
            <a:off x="4052482" y="3739699"/>
            <a:ext cx="3035645" cy="627301"/>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53" name="Picture 52">
            <a:extLst>
              <a:ext uri="{FF2B5EF4-FFF2-40B4-BE49-F238E27FC236}">
                <a16:creationId xmlns:a16="http://schemas.microsoft.com/office/drawing/2014/main" id="{28ABA5A2-7F12-4AFB-B852-961702E0C730}"/>
              </a:ext>
            </a:extLst>
          </p:cNvPr>
          <p:cNvPicPr>
            <a:picLocks noChangeAspect="1"/>
          </p:cNvPicPr>
          <p:nvPr/>
        </p:nvPicPr>
        <p:blipFill>
          <a:blip r:embed="rId3"/>
          <a:stretch>
            <a:fillRect/>
          </a:stretch>
        </p:blipFill>
        <p:spPr>
          <a:xfrm>
            <a:off x="7018039" y="4239993"/>
            <a:ext cx="3287403" cy="1817740"/>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
        <p:nvSpPr>
          <p:cNvPr id="54" name="TextBox 53">
            <a:extLst>
              <a:ext uri="{FF2B5EF4-FFF2-40B4-BE49-F238E27FC236}">
                <a16:creationId xmlns:a16="http://schemas.microsoft.com/office/drawing/2014/main" id="{3A16962C-D112-4225-AA44-66EA1D1C2A74}"/>
              </a:ext>
            </a:extLst>
          </p:cNvPr>
          <p:cNvSpPr txBox="1"/>
          <p:nvPr/>
        </p:nvSpPr>
        <p:spPr>
          <a:xfrm>
            <a:off x="732214" y="1904378"/>
            <a:ext cx="1752339" cy="400110"/>
          </a:xfrm>
          <a:prstGeom prst="rect">
            <a:avLst/>
          </a:prstGeom>
          <a:noFill/>
        </p:spPr>
        <p:txBody>
          <a:bodyPr wrap="none" rtlCol="0">
            <a:spAutoFit/>
          </a:bodyPr>
          <a:lstStyle/>
          <a:p>
            <a:pPr marL="285750" indent="-285750">
              <a:buFont typeface="Wingdings" panose="05000000000000000000" pitchFamily="2" charset="2"/>
              <a:buChar char="Ø"/>
            </a:pPr>
            <a:r>
              <a:rPr lang="en-DE" sz="2000" b="1"/>
              <a:t>Modularität</a:t>
            </a:r>
            <a:endParaRPr lang="en-CA" b="1"/>
          </a:p>
        </p:txBody>
      </p:sp>
      <p:sp>
        <p:nvSpPr>
          <p:cNvPr id="38" name="Textfeld 37">
            <a:extLst>
              <a:ext uri="{FF2B5EF4-FFF2-40B4-BE49-F238E27FC236}">
                <a16:creationId xmlns:a16="http://schemas.microsoft.com/office/drawing/2014/main" id="{3C5A21BF-E5E6-4C3A-8B7F-58546EB06FE9}"/>
              </a:ext>
            </a:extLst>
          </p:cNvPr>
          <p:cNvSpPr txBox="1"/>
          <p:nvPr/>
        </p:nvSpPr>
        <p:spPr>
          <a:xfrm>
            <a:off x="8142280" y="458660"/>
            <a:ext cx="2274784" cy="646331"/>
          </a:xfrm>
          <a:prstGeom prst="rect">
            <a:avLst/>
          </a:prstGeom>
          <a:noFill/>
        </p:spPr>
        <p:txBody>
          <a:bodyPr wrap="square" rtlCol="0">
            <a:spAutoFit/>
          </a:bodyPr>
          <a:lstStyle/>
          <a:p>
            <a:r>
              <a:rPr lang="de-DE" b="1">
                <a:ln w="13462">
                  <a:solidFill>
                    <a:schemeClr val="bg1"/>
                  </a:solidFill>
                  <a:prstDash val="solid"/>
                </a:ln>
                <a:solidFill>
                  <a:schemeClr val="tx1">
                    <a:lumMod val="85000"/>
                    <a:lumOff val="15000"/>
                  </a:schemeClr>
                </a:solidFill>
                <a:effectLst>
                  <a:outerShdw dist="38100" dir="2700000" algn="bl" rotWithShape="0">
                    <a:schemeClr val="accent5"/>
                  </a:outerShdw>
                </a:effectLst>
              </a:rPr>
              <a:t>Implementierungs-</a:t>
            </a:r>
          </a:p>
          <a:p>
            <a:r>
              <a:rPr lang="de-DE" b="1">
                <a:ln w="13462">
                  <a:solidFill>
                    <a:schemeClr val="bg1"/>
                  </a:solidFill>
                  <a:prstDash val="solid"/>
                </a:ln>
                <a:solidFill>
                  <a:schemeClr val="tx1">
                    <a:lumMod val="85000"/>
                    <a:lumOff val="15000"/>
                  </a:schemeClr>
                </a:solidFill>
                <a:effectLst>
                  <a:outerShdw dist="38100" dir="2700000" algn="bl" rotWithShape="0">
                    <a:schemeClr val="accent5"/>
                  </a:outerShdw>
                </a:effectLst>
              </a:rPr>
              <a:t>phase</a:t>
            </a:r>
            <a:endParaRPr lang="de-DE" sz="1600" b="1">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29" name="Textfeld 28">
            <a:extLst>
              <a:ext uri="{FF2B5EF4-FFF2-40B4-BE49-F238E27FC236}">
                <a16:creationId xmlns:a16="http://schemas.microsoft.com/office/drawing/2014/main" id="{2A570DD7-252A-4BD8-9871-779051169318}"/>
              </a:ext>
            </a:extLst>
          </p:cNvPr>
          <p:cNvSpPr txBox="1"/>
          <p:nvPr/>
        </p:nvSpPr>
        <p:spPr>
          <a:xfrm>
            <a:off x="2235510" y="307222"/>
            <a:ext cx="1762801" cy="369332"/>
          </a:xfrm>
          <a:prstGeom prst="rect">
            <a:avLst/>
          </a:prstGeom>
          <a:noFill/>
        </p:spPr>
        <p:txBody>
          <a:bodyPr wrap="square" rtlCol="0">
            <a:spAutoFit/>
          </a:bodyPr>
          <a:lstStyle/>
          <a:p>
            <a:r>
              <a:rPr lang="de-DE"/>
              <a:t>Projekt-Planung</a:t>
            </a:r>
            <a:endParaRPr lang="de-DE" sz="2000"/>
          </a:p>
        </p:txBody>
      </p:sp>
      <p:sp>
        <p:nvSpPr>
          <p:cNvPr id="30" name="Textfeld 13">
            <a:extLst>
              <a:ext uri="{FF2B5EF4-FFF2-40B4-BE49-F238E27FC236}">
                <a16:creationId xmlns:a16="http://schemas.microsoft.com/office/drawing/2014/main" id="{6A3A3ECE-7A1F-4085-8596-D533A5DE6297}"/>
              </a:ext>
            </a:extLst>
          </p:cNvPr>
          <p:cNvSpPr txBox="1"/>
          <p:nvPr/>
        </p:nvSpPr>
        <p:spPr>
          <a:xfrm>
            <a:off x="6222903" y="313448"/>
            <a:ext cx="1625829" cy="369332"/>
          </a:xfrm>
          <a:prstGeom prst="rect">
            <a:avLst/>
          </a:prstGeom>
          <a:noFill/>
        </p:spPr>
        <p:txBody>
          <a:bodyPr wrap="square" rtlCol="0">
            <a:spAutoFit/>
          </a:bodyPr>
          <a:lstStyle/>
          <a:p>
            <a:r>
              <a:rPr lang="de-DE"/>
              <a:t>Entwurf</a:t>
            </a:r>
            <a:r>
              <a:rPr lang="en-DE"/>
              <a:t>s</a:t>
            </a:r>
            <a:r>
              <a:rPr lang="de-DE"/>
              <a:t>phase</a:t>
            </a:r>
          </a:p>
        </p:txBody>
      </p:sp>
    </p:spTree>
    <p:extLst>
      <p:ext uri="{BB962C8B-B14F-4D97-AF65-F5344CB8AC3E}">
        <p14:creationId xmlns:p14="http://schemas.microsoft.com/office/powerpoint/2010/main" val="34638890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B91BA9A-5313-4299-BB49-75C24EE7E959}"/>
              </a:ext>
            </a:extLst>
          </p:cNvPr>
          <p:cNvSpPr>
            <a:spLocks noGrp="1"/>
          </p:cNvSpPr>
          <p:nvPr>
            <p:ph type="title"/>
          </p:nvPr>
        </p:nvSpPr>
        <p:spPr>
          <a:xfrm>
            <a:off x="283135" y="1142122"/>
            <a:ext cx="3151727" cy="635611"/>
          </a:xfrm>
        </p:spPr>
        <p:txBody>
          <a:bodyPr>
            <a:normAutofit/>
          </a:bodyPr>
          <a:lstStyle/>
          <a:p>
            <a:pPr marL="571500" indent="-571500">
              <a:buFont typeface="Wingdings" panose="05000000000000000000" pitchFamily="2" charset="2"/>
              <a:buChar char="Ø"/>
            </a:pPr>
            <a:r>
              <a:rPr lang="de-DE" sz="3600" b="1"/>
              <a:t>Gewichtung</a:t>
            </a:r>
            <a:endParaRPr lang="de-DE" sz="5400" b="1"/>
          </a:p>
        </p:txBody>
      </p:sp>
      <p:graphicFrame>
        <p:nvGraphicFramePr>
          <p:cNvPr id="6" name="Inhaltsplatzhalter 5">
            <a:extLst>
              <a:ext uri="{FF2B5EF4-FFF2-40B4-BE49-F238E27FC236}">
                <a16:creationId xmlns:a16="http://schemas.microsoft.com/office/drawing/2014/main" id="{DC41C202-434D-40BA-A96C-6F7D73179BE9}"/>
              </a:ext>
            </a:extLst>
          </p:cNvPr>
          <p:cNvGraphicFramePr>
            <a:graphicFrameLocks noGrp="1"/>
          </p:cNvGraphicFramePr>
          <p:nvPr>
            <p:ph idx="1"/>
            <p:extLst>
              <p:ext uri="{D42A27DB-BD31-4B8C-83A1-F6EECF244321}">
                <p14:modId xmlns:p14="http://schemas.microsoft.com/office/powerpoint/2010/main" val="3974512511"/>
              </p:ext>
            </p:extLst>
          </p:nvPr>
        </p:nvGraphicFramePr>
        <p:xfrm>
          <a:off x="858614" y="1978025"/>
          <a:ext cx="10515600" cy="4351338"/>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C95E30A0-A8BC-4AC6-9958-9D869035EDA8}"/>
              </a:ext>
            </a:extLst>
          </p:cNvPr>
          <p:cNvSpPr txBox="1"/>
          <p:nvPr/>
        </p:nvSpPr>
        <p:spPr>
          <a:xfrm>
            <a:off x="8833338" y="3698631"/>
            <a:ext cx="415948" cy="1345946"/>
          </a:xfrm>
          <a:prstGeom prst="rect">
            <a:avLst/>
          </a:prstGeom>
          <a:noFill/>
        </p:spPr>
        <p:txBody>
          <a:bodyPr wrap="none" rtlCol="0">
            <a:spAutoFit/>
          </a:bodyPr>
          <a:lstStyle/>
          <a:p>
            <a:pPr>
              <a:lnSpc>
                <a:spcPts val="2000"/>
              </a:lnSpc>
            </a:pPr>
            <a:r>
              <a:rPr lang="en-DE" sz="1200">
                <a:latin typeface="Franklin Gothic Demi Cond" panose="020B0706030402020204" pitchFamily="34" charset="0"/>
                <a:cs typeface="Arabic Typesetting" panose="03020402040406030203" pitchFamily="66" charset="-78"/>
              </a:rPr>
              <a:t>8h</a:t>
            </a:r>
          </a:p>
          <a:p>
            <a:pPr>
              <a:lnSpc>
                <a:spcPts val="2000"/>
              </a:lnSpc>
            </a:pPr>
            <a:r>
              <a:rPr lang="en-DE" sz="1200">
                <a:latin typeface="Franklin Gothic Demi Cond" panose="020B0706030402020204" pitchFamily="34" charset="0"/>
                <a:cs typeface="Arabic Typesetting" panose="03020402040406030203" pitchFamily="66" charset="-78"/>
              </a:rPr>
              <a:t>10h</a:t>
            </a:r>
          </a:p>
          <a:p>
            <a:pPr>
              <a:lnSpc>
                <a:spcPts val="2000"/>
              </a:lnSpc>
            </a:pPr>
            <a:r>
              <a:rPr lang="en-DE" sz="1200">
                <a:latin typeface="Franklin Gothic Demi Cond" panose="020B0706030402020204" pitchFamily="34" charset="0"/>
                <a:cs typeface="Arabic Typesetting" panose="03020402040406030203" pitchFamily="66" charset="-78"/>
              </a:rPr>
              <a:t>32h</a:t>
            </a:r>
          </a:p>
          <a:p>
            <a:pPr>
              <a:lnSpc>
                <a:spcPts val="2000"/>
              </a:lnSpc>
            </a:pPr>
            <a:r>
              <a:rPr lang="en-DE" sz="1200">
                <a:latin typeface="Franklin Gothic Demi Cond" panose="020B0706030402020204" pitchFamily="34" charset="0"/>
                <a:cs typeface="Arabic Typesetting" panose="03020402040406030203" pitchFamily="66" charset="-78"/>
              </a:rPr>
              <a:t>12h</a:t>
            </a:r>
          </a:p>
          <a:p>
            <a:pPr>
              <a:lnSpc>
                <a:spcPts val="2000"/>
              </a:lnSpc>
            </a:pPr>
            <a:r>
              <a:rPr lang="en-DE" sz="1200">
                <a:latin typeface="Franklin Gothic Demi Cond" panose="020B0706030402020204" pitchFamily="34" charset="0"/>
                <a:cs typeface="Arabic Typesetting" panose="03020402040406030203" pitchFamily="66" charset="-78"/>
              </a:rPr>
              <a:t>18h</a:t>
            </a:r>
          </a:p>
        </p:txBody>
      </p:sp>
      <p:sp>
        <p:nvSpPr>
          <p:cNvPr id="5" name="Rechteck 7">
            <a:extLst>
              <a:ext uri="{FF2B5EF4-FFF2-40B4-BE49-F238E27FC236}">
                <a16:creationId xmlns:a16="http://schemas.microsoft.com/office/drawing/2014/main" id="{66A5F708-810D-4FE6-AE88-0400878C7CFA}"/>
              </a:ext>
            </a:extLst>
          </p:cNvPr>
          <p:cNvSpPr/>
          <p:nvPr/>
        </p:nvSpPr>
        <p:spPr>
          <a:xfrm>
            <a:off x="6883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7" name="Rechteck 8">
            <a:extLst>
              <a:ext uri="{FF2B5EF4-FFF2-40B4-BE49-F238E27FC236}">
                <a16:creationId xmlns:a16="http://schemas.microsoft.com/office/drawing/2014/main" id="{E5C4DABA-1EC8-4C37-9488-43856B50DE49}"/>
              </a:ext>
            </a:extLst>
          </p:cNvPr>
          <p:cNvSpPr/>
          <p:nvPr/>
        </p:nvSpPr>
        <p:spPr>
          <a:xfrm>
            <a:off x="2078280"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8" name="Rechteck 9">
            <a:extLst>
              <a:ext uri="{FF2B5EF4-FFF2-40B4-BE49-F238E27FC236}">
                <a16:creationId xmlns:a16="http://schemas.microsoft.com/office/drawing/2014/main" id="{C9EC5D8E-5653-418D-9D04-1AC9F7FEFD4F}"/>
              </a:ext>
            </a:extLst>
          </p:cNvPr>
          <p:cNvSpPr/>
          <p:nvPr/>
        </p:nvSpPr>
        <p:spPr>
          <a:xfrm>
            <a:off x="4097347" y="130220"/>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9" name="Rechteck 10">
            <a:extLst>
              <a:ext uri="{FF2B5EF4-FFF2-40B4-BE49-F238E27FC236}">
                <a16:creationId xmlns:a16="http://schemas.microsoft.com/office/drawing/2014/main" id="{43BF71EB-EBA7-40D7-97B8-52D9B633EDD8}"/>
              </a:ext>
            </a:extLst>
          </p:cNvPr>
          <p:cNvSpPr/>
          <p:nvPr/>
        </p:nvSpPr>
        <p:spPr>
          <a:xfrm>
            <a:off x="6116414"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0" name="Rechteck 11">
            <a:extLst>
              <a:ext uri="{FF2B5EF4-FFF2-40B4-BE49-F238E27FC236}">
                <a16:creationId xmlns:a16="http://schemas.microsoft.com/office/drawing/2014/main" id="{43F9B7F7-3413-453A-BB11-16CAA2198B7E}"/>
              </a:ext>
            </a:extLst>
          </p:cNvPr>
          <p:cNvSpPr/>
          <p:nvPr/>
        </p:nvSpPr>
        <p:spPr>
          <a:xfrm>
            <a:off x="8135481"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1" name="Rechteck 12">
            <a:extLst>
              <a:ext uri="{FF2B5EF4-FFF2-40B4-BE49-F238E27FC236}">
                <a16:creationId xmlns:a16="http://schemas.microsoft.com/office/drawing/2014/main" id="{BF44D40B-EE6B-41EB-B5E0-04A34AB7816D}"/>
              </a:ext>
            </a:extLst>
          </p:cNvPr>
          <p:cNvSpPr/>
          <p:nvPr/>
        </p:nvSpPr>
        <p:spPr>
          <a:xfrm>
            <a:off x="2078279" y="129804"/>
            <a:ext cx="1943427" cy="124402"/>
          </a:xfrm>
          <a:prstGeom prst="rect">
            <a:avLst/>
          </a:prstGeom>
          <a:no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2" name="Textfeld 13">
            <a:extLst>
              <a:ext uri="{FF2B5EF4-FFF2-40B4-BE49-F238E27FC236}">
                <a16:creationId xmlns:a16="http://schemas.microsoft.com/office/drawing/2014/main" id="{1AF26D43-9813-44D4-9BA8-282429545D99}"/>
              </a:ext>
            </a:extLst>
          </p:cNvPr>
          <p:cNvSpPr txBox="1"/>
          <p:nvPr/>
        </p:nvSpPr>
        <p:spPr>
          <a:xfrm>
            <a:off x="10762134" y="450374"/>
            <a:ext cx="728254" cy="369332"/>
          </a:xfrm>
          <a:prstGeom prst="rect">
            <a:avLst/>
          </a:prstGeom>
          <a:noFill/>
        </p:spPr>
        <p:txBody>
          <a:bodyPr wrap="square" rtlCol="0">
            <a:spAutoFit/>
          </a:bodyPr>
          <a:lstStyle/>
          <a:p>
            <a:r>
              <a:rPr lang="de-DE" b="1">
                <a:ln w="13462">
                  <a:solidFill>
                    <a:schemeClr val="bg1"/>
                  </a:solidFill>
                  <a:prstDash val="solid"/>
                </a:ln>
                <a:solidFill>
                  <a:schemeClr val="tx1">
                    <a:lumMod val="85000"/>
                    <a:lumOff val="15000"/>
                  </a:schemeClr>
                </a:solidFill>
                <a:effectLst>
                  <a:outerShdw dist="38100" dir="2700000" algn="bl" rotWithShape="0">
                    <a:schemeClr val="accent5"/>
                  </a:outerShdw>
                </a:effectLst>
              </a:rPr>
              <a:t>Fazit</a:t>
            </a:r>
            <a:endParaRPr lang="de-DE" sz="1600"/>
          </a:p>
        </p:txBody>
      </p:sp>
      <p:sp>
        <p:nvSpPr>
          <p:cNvPr id="13" name="Textfeld 14">
            <a:extLst>
              <a:ext uri="{FF2B5EF4-FFF2-40B4-BE49-F238E27FC236}">
                <a16:creationId xmlns:a16="http://schemas.microsoft.com/office/drawing/2014/main" id="{03E8E9B0-EA34-443F-BF50-5F2ABE81666B}"/>
              </a:ext>
            </a:extLst>
          </p:cNvPr>
          <p:cNvSpPr txBox="1"/>
          <p:nvPr/>
        </p:nvSpPr>
        <p:spPr>
          <a:xfrm>
            <a:off x="283135" y="307222"/>
            <a:ext cx="1490433" cy="369332"/>
          </a:xfrm>
          <a:prstGeom prst="rect">
            <a:avLst/>
          </a:prstGeom>
          <a:noFill/>
        </p:spPr>
        <p:txBody>
          <a:bodyPr wrap="square" rtlCol="0">
            <a:spAutoFit/>
          </a:bodyPr>
          <a:lstStyle/>
          <a:p>
            <a:r>
              <a:rPr lang="de-DE"/>
              <a:t>Vorstellung</a:t>
            </a:r>
          </a:p>
        </p:txBody>
      </p:sp>
      <p:sp>
        <p:nvSpPr>
          <p:cNvPr id="14" name="Textfeld 15">
            <a:extLst>
              <a:ext uri="{FF2B5EF4-FFF2-40B4-BE49-F238E27FC236}">
                <a16:creationId xmlns:a16="http://schemas.microsoft.com/office/drawing/2014/main" id="{EF7B5DCC-D604-407E-B9FC-94A544FECC2B}"/>
              </a:ext>
            </a:extLst>
          </p:cNvPr>
          <p:cNvSpPr txBox="1"/>
          <p:nvPr/>
        </p:nvSpPr>
        <p:spPr>
          <a:xfrm>
            <a:off x="4297423" y="307222"/>
            <a:ext cx="1490433" cy="369332"/>
          </a:xfrm>
          <a:prstGeom prst="rect">
            <a:avLst/>
          </a:prstGeom>
          <a:noFill/>
        </p:spPr>
        <p:txBody>
          <a:bodyPr wrap="square" rtlCol="0">
            <a:spAutoFit/>
          </a:bodyPr>
          <a:lstStyle/>
          <a:p>
            <a:r>
              <a:rPr lang="de-DE"/>
              <a:t>Analysephase</a:t>
            </a:r>
          </a:p>
        </p:txBody>
      </p:sp>
      <p:sp>
        <p:nvSpPr>
          <p:cNvPr id="15" name="Rechteck 16">
            <a:extLst>
              <a:ext uri="{FF2B5EF4-FFF2-40B4-BE49-F238E27FC236}">
                <a16:creationId xmlns:a16="http://schemas.microsoft.com/office/drawing/2014/main" id="{64DA636C-471D-442E-B278-42C849F62133}"/>
              </a:ext>
            </a:extLst>
          </p:cNvPr>
          <p:cNvSpPr/>
          <p:nvPr/>
        </p:nvSpPr>
        <p:spPr>
          <a:xfrm>
            <a:off x="10154548" y="245021"/>
            <a:ext cx="1943427" cy="124402"/>
          </a:xfrm>
          <a:prstGeom prst="rect">
            <a:avLst/>
          </a:prstGeom>
          <a:gradFill>
            <a:gsLst>
              <a:gs pos="46000">
                <a:schemeClr val="accent1">
                  <a:lumMod val="12000"/>
                  <a:lumOff val="88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alpha val="0"/>
              </a:schemeClr>
            </a:solidFill>
          </a:ln>
          <a:effectLst>
            <a:glow rad="88900">
              <a:schemeClr val="accent1">
                <a:lumMod val="20000"/>
                <a:lumOff val="80000"/>
                <a:alpha val="99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9" name="Textfeld 18">
            <a:extLst>
              <a:ext uri="{FF2B5EF4-FFF2-40B4-BE49-F238E27FC236}">
                <a16:creationId xmlns:a16="http://schemas.microsoft.com/office/drawing/2014/main" id="{A2D110C1-130E-477F-83B1-00C2C6FB65F8}"/>
              </a:ext>
            </a:extLst>
          </p:cNvPr>
          <p:cNvSpPr txBox="1"/>
          <p:nvPr/>
        </p:nvSpPr>
        <p:spPr>
          <a:xfrm>
            <a:off x="2235510" y="307222"/>
            <a:ext cx="1762801" cy="369332"/>
          </a:xfrm>
          <a:prstGeom prst="rect">
            <a:avLst/>
          </a:prstGeom>
          <a:noFill/>
        </p:spPr>
        <p:txBody>
          <a:bodyPr wrap="square" rtlCol="0">
            <a:spAutoFit/>
          </a:bodyPr>
          <a:lstStyle/>
          <a:p>
            <a:r>
              <a:rPr lang="de-DE"/>
              <a:t>Projekt-Planung</a:t>
            </a:r>
            <a:endParaRPr lang="de-DE" sz="2000"/>
          </a:p>
        </p:txBody>
      </p:sp>
      <p:sp>
        <p:nvSpPr>
          <p:cNvPr id="20" name="Textfeld 19">
            <a:extLst>
              <a:ext uri="{FF2B5EF4-FFF2-40B4-BE49-F238E27FC236}">
                <a16:creationId xmlns:a16="http://schemas.microsoft.com/office/drawing/2014/main" id="{5805E6CB-3512-454B-BBF2-27B4DAB221C6}"/>
              </a:ext>
            </a:extLst>
          </p:cNvPr>
          <p:cNvSpPr txBox="1"/>
          <p:nvPr/>
        </p:nvSpPr>
        <p:spPr>
          <a:xfrm>
            <a:off x="8155565" y="302621"/>
            <a:ext cx="2208670" cy="646331"/>
          </a:xfrm>
          <a:prstGeom prst="rect">
            <a:avLst/>
          </a:prstGeom>
          <a:noFill/>
        </p:spPr>
        <p:txBody>
          <a:bodyPr wrap="square" rtlCol="0">
            <a:spAutoFit/>
          </a:bodyPr>
          <a:lstStyle/>
          <a:p>
            <a:r>
              <a:rPr lang="de-DE"/>
              <a:t>Implementierungs-</a:t>
            </a:r>
          </a:p>
          <a:p>
            <a:r>
              <a:rPr lang="de-DE"/>
              <a:t>phase</a:t>
            </a:r>
            <a:endParaRPr lang="de-DE" sz="1600"/>
          </a:p>
        </p:txBody>
      </p:sp>
      <p:sp>
        <p:nvSpPr>
          <p:cNvPr id="4" name="Textfeld 3">
            <a:extLst>
              <a:ext uri="{FF2B5EF4-FFF2-40B4-BE49-F238E27FC236}">
                <a16:creationId xmlns:a16="http://schemas.microsoft.com/office/drawing/2014/main" id="{8537E5B8-A93E-4382-A401-A7B9DF30E43E}"/>
              </a:ext>
            </a:extLst>
          </p:cNvPr>
          <p:cNvSpPr txBox="1"/>
          <p:nvPr/>
        </p:nvSpPr>
        <p:spPr>
          <a:xfrm>
            <a:off x="5688257" y="2417338"/>
            <a:ext cx="910314" cy="369332"/>
          </a:xfrm>
          <a:prstGeom prst="rect">
            <a:avLst/>
          </a:prstGeom>
          <a:noFill/>
        </p:spPr>
        <p:txBody>
          <a:bodyPr wrap="none" rtlCol="0">
            <a:spAutoFit/>
          </a:bodyPr>
          <a:lstStyle/>
          <a:p>
            <a:r>
              <a:rPr lang="de-DE"/>
              <a:t>Analyse</a:t>
            </a:r>
          </a:p>
        </p:txBody>
      </p:sp>
      <p:sp>
        <p:nvSpPr>
          <p:cNvPr id="23" name="Textfeld 22">
            <a:extLst>
              <a:ext uri="{FF2B5EF4-FFF2-40B4-BE49-F238E27FC236}">
                <a16:creationId xmlns:a16="http://schemas.microsoft.com/office/drawing/2014/main" id="{BAE43E82-692B-4E42-A905-8F335897C1E5}"/>
              </a:ext>
            </a:extLst>
          </p:cNvPr>
          <p:cNvSpPr txBox="1"/>
          <p:nvPr/>
        </p:nvSpPr>
        <p:spPr>
          <a:xfrm>
            <a:off x="2449524" y="2709872"/>
            <a:ext cx="1647823" cy="369332"/>
          </a:xfrm>
          <a:prstGeom prst="rect">
            <a:avLst/>
          </a:prstGeom>
          <a:noFill/>
        </p:spPr>
        <p:txBody>
          <a:bodyPr wrap="none" rtlCol="0">
            <a:spAutoFit/>
          </a:bodyPr>
          <a:lstStyle/>
          <a:p>
            <a:r>
              <a:rPr lang="de-DE"/>
              <a:t>Dokumentation</a:t>
            </a:r>
          </a:p>
        </p:txBody>
      </p:sp>
      <p:sp>
        <p:nvSpPr>
          <p:cNvPr id="24" name="Textfeld 23">
            <a:extLst>
              <a:ext uri="{FF2B5EF4-FFF2-40B4-BE49-F238E27FC236}">
                <a16:creationId xmlns:a16="http://schemas.microsoft.com/office/drawing/2014/main" id="{B31446E9-67CA-49AF-A4D1-65D25C4F45D8}"/>
              </a:ext>
            </a:extLst>
          </p:cNvPr>
          <p:cNvSpPr txBox="1"/>
          <p:nvPr/>
        </p:nvSpPr>
        <p:spPr>
          <a:xfrm>
            <a:off x="6694196" y="3307776"/>
            <a:ext cx="944489" cy="369332"/>
          </a:xfrm>
          <a:prstGeom prst="rect">
            <a:avLst/>
          </a:prstGeom>
          <a:noFill/>
        </p:spPr>
        <p:txBody>
          <a:bodyPr wrap="none" rtlCol="0">
            <a:spAutoFit/>
          </a:bodyPr>
          <a:lstStyle/>
          <a:p>
            <a:r>
              <a:rPr lang="de-DE"/>
              <a:t>Planung</a:t>
            </a:r>
          </a:p>
        </p:txBody>
      </p:sp>
      <p:sp>
        <p:nvSpPr>
          <p:cNvPr id="25" name="Textfeld 24">
            <a:extLst>
              <a:ext uri="{FF2B5EF4-FFF2-40B4-BE49-F238E27FC236}">
                <a16:creationId xmlns:a16="http://schemas.microsoft.com/office/drawing/2014/main" id="{2791AEF8-B4AD-43B9-BBCE-5823FC05FF62}"/>
              </a:ext>
            </a:extLst>
          </p:cNvPr>
          <p:cNvSpPr txBox="1"/>
          <p:nvPr/>
        </p:nvSpPr>
        <p:spPr>
          <a:xfrm>
            <a:off x="6127700" y="5746730"/>
            <a:ext cx="1926180" cy="369332"/>
          </a:xfrm>
          <a:prstGeom prst="rect">
            <a:avLst/>
          </a:prstGeom>
          <a:noFill/>
        </p:spPr>
        <p:txBody>
          <a:bodyPr wrap="square" rtlCol="0">
            <a:spAutoFit/>
          </a:bodyPr>
          <a:lstStyle/>
          <a:p>
            <a:r>
              <a:rPr lang="de-DE"/>
              <a:t>Implementierung</a:t>
            </a:r>
          </a:p>
        </p:txBody>
      </p:sp>
      <p:sp>
        <p:nvSpPr>
          <p:cNvPr id="22" name="Textfeld 13">
            <a:extLst>
              <a:ext uri="{FF2B5EF4-FFF2-40B4-BE49-F238E27FC236}">
                <a16:creationId xmlns:a16="http://schemas.microsoft.com/office/drawing/2014/main" id="{68AC61AB-6479-4B9A-97C6-9FA85696F318}"/>
              </a:ext>
            </a:extLst>
          </p:cNvPr>
          <p:cNvSpPr txBox="1"/>
          <p:nvPr/>
        </p:nvSpPr>
        <p:spPr>
          <a:xfrm>
            <a:off x="6222903" y="313448"/>
            <a:ext cx="1625829" cy="369332"/>
          </a:xfrm>
          <a:prstGeom prst="rect">
            <a:avLst/>
          </a:prstGeom>
          <a:noFill/>
        </p:spPr>
        <p:txBody>
          <a:bodyPr wrap="square" rtlCol="0">
            <a:spAutoFit/>
          </a:bodyPr>
          <a:lstStyle/>
          <a:p>
            <a:r>
              <a:rPr lang="de-DE"/>
              <a:t>Entwurf</a:t>
            </a:r>
            <a:r>
              <a:rPr lang="en-DE"/>
              <a:t>s</a:t>
            </a:r>
            <a:r>
              <a:rPr lang="de-DE"/>
              <a:t>phase</a:t>
            </a:r>
          </a:p>
        </p:txBody>
      </p:sp>
    </p:spTree>
    <p:extLst>
      <p:ext uri="{BB962C8B-B14F-4D97-AF65-F5344CB8AC3E}">
        <p14:creationId xmlns:p14="http://schemas.microsoft.com/office/powerpoint/2010/main" val="8654909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382587-0F5E-4D27-8A99-D7AD1BAD52EC}"/>
              </a:ext>
            </a:extLst>
          </p:cNvPr>
          <p:cNvSpPr>
            <a:spLocks noGrp="1"/>
          </p:cNvSpPr>
          <p:nvPr>
            <p:ph type="title"/>
          </p:nvPr>
        </p:nvSpPr>
        <p:spPr>
          <a:xfrm>
            <a:off x="308113" y="1078728"/>
            <a:ext cx="4578531" cy="924334"/>
          </a:xfrm>
        </p:spPr>
        <p:txBody>
          <a:bodyPr>
            <a:normAutofit/>
          </a:bodyPr>
          <a:lstStyle/>
          <a:p>
            <a:pPr marL="571500" indent="-571500">
              <a:buFont typeface="Wingdings" panose="05000000000000000000" pitchFamily="2" charset="2"/>
              <a:buChar char="Ø"/>
            </a:pPr>
            <a:r>
              <a:rPr lang="de-DE" sz="3600" b="1"/>
              <a:t>Qualitätssicherung</a:t>
            </a:r>
            <a:endParaRPr lang="de-DE" b="1"/>
          </a:p>
        </p:txBody>
      </p:sp>
      <p:sp>
        <p:nvSpPr>
          <p:cNvPr id="3" name="Inhaltsplatzhalter 2">
            <a:extLst>
              <a:ext uri="{FF2B5EF4-FFF2-40B4-BE49-F238E27FC236}">
                <a16:creationId xmlns:a16="http://schemas.microsoft.com/office/drawing/2014/main" id="{D105E00B-AD60-42E8-A60B-587BAF1C8D3E}"/>
              </a:ext>
            </a:extLst>
          </p:cNvPr>
          <p:cNvSpPr>
            <a:spLocks noGrp="1"/>
          </p:cNvSpPr>
          <p:nvPr>
            <p:ph idx="1"/>
          </p:nvPr>
        </p:nvSpPr>
        <p:spPr>
          <a:xfrm>
            <a:off x="868297" y="2405236"/>
            <a:ext cx="4909457" cy="2607038"/>
          </a:xfrm>
        </p:spPr>
        <p:txBody>
          <a:bodyPr/>
          <a:lstStyle/>
          <a:p>
            <a:pPr lvl="1">
              <a:buFont typeface="Wingdings" panose="05000000000000000000" pitchFamily="2" charset="2"/>
              <a:buChar char="ü"/>
            </a:pPr>
            <a:r>
              <a:rPr lang="de-DE" sz="2800" b="1">
                <a:solidFill>
                  <a:srgbClr val="7030A0"/>
                </a:solidFill>
              </a:rPr>
              <a:t>Abnahem des Projekt</a:t>
            </a:r>
          </a:p>
          <a:p>
            <a:pPr lvl="1">
              <a:buFont typeface="Wingdings" panose="05000000000000000000" pitchFamily="2" charset="2"/>
              <a:buChar char="ü"/>
            </a:pPr>
            <a:r>
              <a:rPr lang="en-DE" sz="2800" b="1"/>
              <a:t>Effektive </a:t>
            </a:r>
            <a:r>
              <a:rPr lang="de-DE" sz="2800" b="1"/>
              <a:t>Wirkung</a:t>
            </a:r>
            <a:endParaRPr lang="en-DE" sz="2800" b="1"/>
          </a:p>
          <a:p>
            <a:pPr lvl="1">
              <a:buFont typeface="Wingdings" panose="05000000000000000000" pitchFamily="2" charset="2"/>
              <a:buChar char="ü"/>
            </a:pPr>
            <a:r>
              <a:rPr lang="de-DE" sz="2800" b="1"/>
              <a:t>Sicherheit</a:t>
            </a:r>
          </a:p>
          <a:p>
            <a:pPr lvl="1">
              <a:buFont typeface="Wingdings" panose="05000000000000000000" pitchFamily="2" charset="2"/>
              <a:buChar char="ü"/>
            </a:pPr>
            <a:r>
              <a:rPr lang="de-DE" sz="2800" b="1"/>
              <a:t>Effizient</a:t>
            </a:r>
          </a:p>
          <a:p>
            <a:pPr lvl="1">
              <a:buFont typeface="Wingdings" panose="05000000000000000000" pitchFamily="2" charset="2"/>
              <a:buChar char="ü"/>
            </a:pPr>
            <a:r>
              <a:rPr lang="de-DE" sz="2800" b="1"/>
              <a:t>Erweiterbarkeit</a:t>
            </a:r>
          </a:p>
          <a:p>
            <a:pPr lvl="1"/>
            <a:endParaRPr lang="de-DE"/>
          </a:p>
        </p:txBody>
      </p:sp>
      <p:pic>
        <p:nvPicPr>
          <p:cNvPr id="19" name="Picture 18">
            <a:extLst>
              <a:ext uri="{FF2B5EF4-FFF2-40B4-BE49-F238E27FC236}">
                <a16:creationId xmlns:a16="http://schemas.microsoft.com/office/drawing/2014/main" id="{68043E75-2DD6-4499-A3AB-C15151E7A9E3}"/>
              </a:ext>
            </a:extLst>
          </p:cNvPr>
          <p:cNvPicPr>
            <a:picLocks noChangeAspect="1"/>
          </p:cNvPicPr>
          <p:nvPr/>
        </p:nvPicPr>
        <p:blipFill>
          <a:blip r:embed="rId3"/>
          <a:stretch>
            <a:fillRect/>
          </a:stretch>
        </p:blipFill>
        <p:spPr>
          <a:xfrm>
            <a:off x="6414247" y="1861930"/>
            <a:ext cx="5130135" cy="3361958"/>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
        <p:nvSpPr>
          <p:cNvPr id="20" name="Rechteck 7">
            <a:extLst>
              <a:ext uri="{FF2B5EF4-FFF2-40B4-BE49-F238E27FC236}">
                <a16:creationId xmlns:a16="http://schemas.microsoft.com/office/drawing/2014/main" id="{AF700C74-B0D4-48F1-879F-BE11F13093E6}"/>
              </a:ext>
            </a:extLst>
          </p:cNvPr>
          <p:cNvSpPr/>
          <p:nvPr/>
        </p:nvSpPr>
        <p:spPr>
          <a:xfrm>
            <a:off x="6883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1" name="Rechteck 8">
            <a:extLst>
              <a:ext uri="{FF2B5EF4-FFF2-40B4-BE49-F238E27FC236}">
                <a16:creationId xmlns:a16="http://schemas.microsoft.com/office/drawing/2014/main" id="{94F970A5-00F8-4C80-8FF4-8467A80BCBFA}"/>
              </a:ext>
            </a:extLst>
          </p:cNvPr>
          <p:cNvSpPr/>
          <p:nvPr/>
        </p:nvSpPr>
        <p:spPr>
          <a:xfrm>
            <a:off x="2078280"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2" name="Rechteck 9">
            <a:extLst>
              <a:ext uri="{FF2B5EF4-FFF2-40B4-BE49-F238E27FC236}">
                <a16:creationId xmlns:a16="http://schemas.microsoft.com/office/drawing/2014/main" id="{11A7D33D-5549-477B-9511-66CDE7E3263B}"/>
              </a:ext>
            </a:extLst>
          </p:cNvPr>
          <p:cNvSpPr/>
          <p:nvPr/>
        </p:nvSpPr>
        <p:spPr>
          <a:xfrm>
            <a:off x="4097347" y="130220"/>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23" name="Rechteck 10">
            <a:extLst>
              <a:ext uri="{FF2B5EF4-FFF2-40B4-BE49-F238E27FC236}">
                <a16:creationId xmlns:a16="http://schemas.microsoft.com/office/drawing/2014/main" id="{C3BAB8AD-E3E0-47FF-8D27-FEE424BFBEB0}"/>
              </a:ext>
            </a:extLst>
          </p:cNvPr>
          <p:cNvSpPr/>
          <p:nvPr/>
        </p:nvSpPr>
        <p:spPr>
          <a:xfrm>
            <a:off x="6116414"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4" name="Rechteck 11">
            <a:extLst>
              <a:ext uri="{FF2B5EF4-FFF2-40B4-BE49-F238E27FC236}">
                <a16:creationId xmlns:a16="http://schemas.microsoft.com/office/drawing/2014/main" id="{A598BF36-40C8-4FA8-BE7D-B1A4A5A401F2}"/>
              </a:ext>
            </a:extLst>
          </p:cNvPr>
          <p:cNvSpPr/>
          <p:nvPr/>
        </p:nvSpPr>
        <p:spPr>
          <a:xfrm>
            <a:off x="8135481"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5" name="Rechteck 12">
            <a:extLst>
              <a:ext uri="{FF2B5EF4-FFF2-40B4-BE49-F238E27FC236}">
                <a16:creationId xmlns:a16="http://schemas.microsoft.com/office/drawing/2014/main" id="{C8D5C4F2-5808-4BB0-9CD3-B092BE76BBF6}"/>
              </a:ext>
            </a:extLst>
          </p:cNvPr>
          <p:cNvSpPr/>
          <p:nvPr/>
        </p:nvSpPr>
        <p:spPr>
          <a:xfrm>
            <a:off x="2078279" y="129804"/>
            <a:ext cx="1943427" cy="124402"/>
          </a:xfrm>
          <a:prstGeom prst="rect">
            <a:avLst/>
          </a:prstGeom>
          <a:no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6" name="Textfeld 13">
            <a:extLst>
              <a:ext uri="{FF2B5EF4-FFF2-40B4-BE49-F238E27FC236}">
                <a16:creationId xmlns:a16="http://schemas.microsoft.com/office/drawing/2014/main" id="{F9CAF1B6-6E75-432F-82C3-94E9954B8444}"/>
              </a:ext>
            </a:extLst>
          </p:cNvPr>
          <p:cNvSpPr txBox="1"/>
          <p:nvPr/>
        </p:nvSpPr>
        <p:spPr>
          <a:xfrm>
            <a:off x="10762134" y="450374"/>
            <a:ext cx="728254" cy="369332"/>
          </a:xfrm>
          <a:prstGeom prst="rect">
            <a:avLst/>
          </a:prstGeom>
          <a:noFill/>
        </p:spPr>
        <p:txBody>
          <a:bodyPr wrap="square" rtlCol="0">
            <a:spAutoFit/>
          </a:bodyPr>
          <a:lstStyle/>
          <a:p>
            <a:r>
              <a:rPr lang="de-DE" b="1">
                <a:ln w="13462">
                  <a:solidFill>
                    <a:schemeClr val="bg1"/>
                  </a:solidFill>
                  <a:prstDash val="solid"/>
                </a:ln>
                <a:solidFill>
                  <a:schemeClr val="tx1">
                    <a:lumMod val="85000"/>
                    <a:lumOff val="15000"/>
                  </a:schemeClr>
                </a:solidFill>
                <a:effectLst>
                  <a:outerShdw dist="38100" dir="2700000" algn="bl" rotWithShape="0">
                    <a:schemeClr val="accent5"/>
                  </a:outerShdw>
                </a:effectLst>
              </a:rPr>
              <a:t>Fazit</a:t>
            </a:r>
            <a:endParaRPr lang="de-DE" sz="1600"/>
          </a:p>
        </p:txBody>
      </p:sp>
      <p:sp>
        <p:nvSpPr>
          <p:cNvPr id="27" name="Textfeld 14">
            <a:extLst>
              <a:ext uri="{FF2B5EF4-FFF2-40B4-BE49-F238E27FC236}">
                <a16:creationId xmlns:a16="http://schemas.microsoft.com/office/drawing/2014/main" id="{C9F925F6-57CF-4866-B867-755298BF7665}"/>
              </a:ext>
            </a:extLst>
          </p:cNvPr>
          <p:cNvSpPr txBox="1"/>
          <p:nvPr/>
        </p:nvSpPr>
        <p:spPr>
          <a:xfrm>
            <a:off x="283135" y="307222"/>
            <a:ext cx="1490433" cy="369332"/>
          </a:xfrm>
          <a:prstGeom prst="rect">
            <a:avLst/>
          </a:prstGeom>
          <a:noFill/>
        </p:spPr>
        <p:txBody>
          <a:bodyPr wrap="square" rtlCol="0">
            <a:spAutoFit/>
          </a:bodyPr>
          <a:lstStyle/>
          <a:p>
            <a:r>
              <a:rPr lang="de-DE"/>
              <a:t>Vorstellung</a:t>
            </a:r>
          </a:p>
        </p:txBody>
      </p:sp>
      <p:sp>
        <p:nvSpPr>
          <p:cNvPr id="28" name="Textfeld 15">
            <a:extLst>
              <a:ext uri="{FF2B5EF4-FFF2-40B4-BE49-F238E27FC236}">
                <a16:creationId xmlns:a16="http://schemas.microsoft.com/office/drawing/2014/main" id="{10758D05-220E-4D49-90F7-1FB3CCEE7A5D}"/>
              </a:ext>
            </a:extLst>
          </p:cNvPr>
          <p:cNvSpPr txBox="1"/>
          <p:nvPr/>
        </p:nvSpPr>
        <p:spPr>
          <a:xfrm>
            <a:off x="4297423" y="307222"/>
            <a:ext cx="1490433" cy="369332"/>
          </a:xfrm>
          <a:prstGeom prst="rect">
            <a:avLst/>
          </a:prstGeom>
          <a:noFill/>
        </p:spPr>
        <p:txBody>
          <a:bodyPr wrap="square" rtlCol="0">
            <a:spAutoFit/>
          </a:bodyPr>
          <a:lstStyle/>
          <a:p>
            <a:r>
              <a:rPr lang="de-DE"/>
              <a:t>Analysephase</a:t>
            </a:r>
          </a:p>
        </p:txBody>
      </p:sp>
      <p:sp>
        <p:nvSpPr>
          <p:cNvPr id="29" name="Rechteck 16">
            <a:extLst>
              <a:ext uri="{FF2B5EF4-FFF2-40B4-BE49-F238E27FC236}">
                <a16:creationId xmlns:a16="http://schemas.microsoft.com/office/drawing/2014/main" id="{B8E2AE7E-7595-45E8-AE41-26373C2065F0}"/>
              </a:ext>
            </a:extLst>
          </p:cNvPr>
          <p:cNvSpPr/>
          <p:nvPr/>
        </p:nvSpPr>
        <p:spPr>
          <a:xfrm>
            <a:off x="10154548" y="245021"/>
            <a:ext cx="1943427" cy="124402"/>
          </a:xfrm>
          <a:prstGeom prst="rect">
            <a:avLst/>
          </a:prstGeom>
          <a:gradFill>
            <a:gsLst>
              <a:gs pos="46000">
                <a:schemeClr val="accent1">
                  <a:lumMod val="12000"/>
                  <a:lumOff val="88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alpha val="0"/>
              </a:schemeClr>
            </a:solidFill>
          </a:ln>
          <a:effectLst>
            <a:glow rad="88900">
              <a:schemeClr val="accent1">
                <a:lumMod val="20000"/>
                <a:lumOff val="80000"/>
                <a:alpha val="99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8" name="Textfeld 17">
            <a:extLst>
              <a:ext uri="{FF2B5EF4-FFF2-40B4-BE49-F238E27FC236}">
                <a16:creationId xmlns:a16="http://schemas.microsoft.com/office/drawing/2014/main" id="{794DA1B1-8113-4962-A0C2-57B01E760CFC}"/>
              </a:ext>
            </a:extLst>
          </p:cNvPr>
          <p:cNvSpPr txBox="1"/>
          <p:nvPr/>
        </p:nvSpPr>
        <p:spPr>
          <a:xfrm>
            <a:off x="2235510" y="307222"/>
            <a:ext cx="1762801" cy="369332"/>
          </a:xfrm>
          <a:prstGeom prst="rect">
            <a:avLst/>
          </a:prstGeom>
          <a:noFill/>
        </p:spPr>
        <p:txBody>
          <a:bodyPr wrap="square" rtlCol="0">
            <a:spAutoFit/>
          </a:bodyPr>
          <a:lstStyle/>
          <a:p>
            <a:r>
              <a:rPr lang="de-DE"/>
              <a:t>Projekt-Planung</a:t>
            </a:r>
            <a:endParaRPr lang="de-DE" sz="2000"/>
          </a:p>
        </p:txBody>
      </p:sp>
      <p:sp>
        <p:nvSpPr>
          <p:cNvPr id="33" name="Textfeld 32">
            <a:extLst>
              <a:ext uri="{FF2B5EF4-FFF2-40B4-BE49-F238E27FC236}">
                <a16:creationId xmlns:a16="http://schemas.microsoft.com/office/drawing/2014/main" id="{E9079BC8-8521-4C5E-9CF2-418467F92657}"/>
              </a:ext>
            </a:extLst>
          </p:cNvPr>
          <p:cNvSpPr txBox="1"/>
          <p:nvPr/>
        </p:nvSpPr>
        <p:spPr>
          <a:xfrm>
            <a:off x="8155565" y="302621"/>
            <a:ext cx="2208670" cy="646331"/>
          </a:xfrm>
          <a:prstGeom prst="rect">
            <a:avLst/>
          </a:prstGeom>
          <a:noFill/>
        </p:spPr>
        <p:txBody>
          <a:bodyPr wrap="square" rtlCol="0">
            <a:spAutoFit/>
          </a:bodyPr>
          <a:lstStyle/>
          <a:p>
            <a:r>
              <a:rPr lang="de-DE"/>
              <a:t>Implementierungs-</a:t>
            </a:r>
          </a:p>
          <a:p>
            <a:r>
              <a:rPr lang="de-DE"/>
              <a:t>phase</a:t>
            </a:r>
            <a:endParaRPr lang="de-DE" sz="1600"/>
          </a:p>
        </p:txBody>
      </p:sp>
      <p:sp>
        <p:nvSpPr>
          <p:cNvPr id="30" name="Textfeld 13">
            <a:extLst>
              <a:ext uri="{FF2B5EF4-FFF2-40B4-BE49-F238E27FC236}">
                <a16:creationId xmlns:a16="http://schemas.microsoft.com/office/drawing/2014/main" id="{9893AEEE-8274-439B-B307-C2ED04F0B4CC}"/>
              </a:ext>
            </a:extLst>
          </p:cNvPr>
          <p:cNvSpPr txBox="1"/>
          <p:nvPr/>
        </p:nvSpPr>
        <p:spPr>
          <a:xfrm>
            <a:off x="6222903" y="313448"/>
            <a:ext cx="1625829" cy="369332"/>
          </a:xfrm>
          <a:prstGeom prst="rect">
            <a:avLst/>
          </a:prstGeom>
          <a:noFill/>
        </p:spPr>
        <p:txBody>
          <a:bodyPr wrap="square" rtlCol="0">
            <a:spAutoFit/>
          </a:bodyPr>
          <a:lstStyle/>
          <a:p>
            <a:r>
              <a:rPr lang="de-DE"/>
              <a:t>Entwurf</a:t>
            </a:r>
            <a:r>
              <a:rPr lang="en-DE"/>
              <a:t>s</a:t>
            </a:r>
            <a:r>
              <a:rPr lang="de-DE"/>
              <a:t>phase</a:t>
            </a:r>
          </a:p>
        </p:txBody>
      </p:sp>
    </p:spTree>
    <p:extLst>
      <p:ext uri="{BB962C8B-B14F-4D97-AF65-F5344CB8AC3E}">
        <p14:creationId xmlns:p14="http://schemas.microsoft.com/office/powerpoint/2010/main" val="2113662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59DBF-58BC-404C-953B-74E6C089B4C2}"/>
              </a:ext>
            </a:extLst>
          </p:cNvPr>
          <p:cNvSpPr>
            <a:spLocks noGrp="1"/>
          </p:cNvSpPr>
          <p:nvPr>
            <p:ph type="title"/>
          </p:nvPr>
        </p:nvSpPr>
        <p:spPr>
          <a:xfrm>
            <a:off x="579126" y="1209408"/>
            <a:ext cx="2998305" cy="869053"/>
          </a:xfrm>
        </p:spPr>
        <p:txBody>
          <a:bodyPr>
            <a:normAutofit/>
          </a:bodyPr>
          <a:lstStyle/>
          <a:p>
            <a:pPr marL="571500" indent="-571500">
              <a:buFont typeface="Wingdings" panose="05000000000000000000" pitchFamily="2" charset="2"/>
              <a:buChar char="Ø"/>
            </a:pPr>
            <a:r>
              <a:rPr lang="en-DE" sz="3600" i="1">
                <a:latin typeface="Georgia" panose="02040502050405020303" pitchFamily="18" charset="0"/>
              </a:rPr>
              <a:t>End...</a:t>
            </a:r>
            <a:endParaRPr lang="en-CA" i="1">
              <a:latin typeface="Georgia" panose="02040502050405020303" pitchFamily="18" charset="0"/>
            </a:endParaRPr>
          </a:p>
        </p:txBody>
      </p:sp>
      <p:sp>
        <p:nvSpPr>
          <p:cNvPr id="4" name="Rectangle 3">
            <a:extLst>
              <a:ext uri="{FF2B5EF4-FFF2-40B4-BE49-F238E27FC236}">
                <a16:creationId xmlns:a16="http://schemas.microsoft.com/office/drawing/2014/main" id="{ADE1A84B-2500-4ADC-ACF3-0AED7D50D039}"/>
              </a:ext>
            </a:extLst>
          </p:cNvPr>
          <p:cNvSpPr/>
          <p:nvPr/>
        </p:nvSpPr>
        <p:spPr>
          <a:xfrm>
            <a:off x="2709936" y="2611315"/>
            <a:ext cx="6772127" cy="1323439"/>
          </a:xfrm>
          <a:prstGeom prst="rect">
            <a:avLst/>
          </a:prstGeom>
          <a:noFill/>
        </p:spPr>
        <p:txBody>
          <a:bodyPr wrap="squar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CA" sz="4000" b="1" cap="none" spc="0">
                <a:ln/>
                <a:solidFill>
                  <a:srgbClr val="7030A0"/>
                </a:solidFill>
                <a:effectLst/>
                <a:latin typeface="18thCentury" pitchFamily="2" charset="0"/>
              </a:rPr>
              <a:t>I</a:t>
            </a:r>
            <a:r>
              <a:rPr lang="en-DE" sz="4000" b="1" cap="none" spc="0">
                <a:ln/>
                <a:solidFill>
                  <a:srgbClr val="7030A0"/>
                </a:solidFill>
                <a:effectLst/>
                <a:latin typeface="18thCentury" pitchFamily="2" charset="0"/>
              </a:rPr>
              <a:t>ch bedanke mich bei Ihnen</a:t>
            </a:r>
          </a:p>
          <a:p>
            <a:pPr algn="ctr"/>
            <a:r>
              <a:rPr lang="en-DE" sz="4000" b="1" cap="none" spc="0">
                <a:ln/>
                <a:solidFill>
                  <a:srgbClr val="7030A0"/>
                </a:solidFill>
                <a:effectLst/>
                <a:latin typeface="18thCentury" pitchFamily="2" charset="0"/>
              </a:rPr>
              <a:t> für Ihre </a:t>
            </a:r>
            <a:r>
              <a:rPr lang="de-DE" sz="4000" b="1" cap="none" spc="0">
                <a:ln/>
                <a:solidFill>
                  <a:srgbClr val="7030A0"/>
                </a:solidFill>
                <a:effectLst/>
                <a:latin typeface="18thCentury" pitchFamily="2" charset="0"/>
              </a:rPr>
              <a:t>A</a:t>
            </a:r>
            <a:r>
              <a:rPr lang="en-DE" sz="4000" b="1" cap="none" spc="0">
                <a:ln/>
                <a:solidFill>
                  <a:srgbClr val="7030A0"/>
                </a:solidFill>
                <a:effectLst/>
                <a:latin typeface="18thCentury" pitchFamily="2" charset="0"/>
              </a:rPr>
              <a:t>ufmerksamkeit.</a:t>
            </a:r>
            <a:r>
              <a:rPr lang="en-DE" sz="3600" b="1" cap="none" spc="0">
                <a:ln/>
                <a:solidFill>
                  <a:srgbClr val="7030A0"/>
                </a:solidFill>
                <a:effectLst/>
                <a:latin typeface="18thCentury" pitchFamily="2" charset="0"/>
              </a:rPr>
              <a:t> </a:t>
            </a:r>
            <a:endParaRPr lang="en-CA" sz="3600" b="1" cap="none" spc="0">
              <a:ln/>
              <a:solidFill>
                <a:srgbClr val="7030A0"/>
              </a:solidFill>
              <a:effectLst/>
              <a:latin typeface="18thCentury" pitchFamily="2" charset="0"/>
            </a:endParaRPr>
          </a:p>
        </p:txBody>
      </p:sp>
      <p:pic>
        <p:nvPicPr>
          <p:cNvPr id="10" name="Picture 9">
            <a:extLst>
              <a:ext uri="{FF2B5EF4-FFF2-40B4-BE49-F238E27FC236}">
                <a16:creationId xmlns:a16="http://schemas.microsoft.com/office/drawing/2014/main" id="{101646E3-0AFA-4BA0-9822-3FD7DE5B8742}"/>
              </a:ext>
            </a:extLst>
          </p:cNvPr>
          <p:cNvPicPr>
            <a:picLocks noChangeAspect="1"/>
          </p:cNvPicPr>
          <p:nvPr/>
        </p:nvPicPr>
        <p:blipFill>
          <a:blip r:embed="rId2"/>
          <a:stretch>
            <a:fillRect/>
          </a:stretch>
        </p:blipFill>
        <p:spPr>
          <a:xfrm>
            <a:off x="5028338" y="5235414"/>
            <a:ext cx="2176152" cy="1056033"/>
          </a:xfrm>
          <a:prstGeom prst="rect">
            <a:avLst/>
          </a:prstGeom>
          <a:ln>
            <a:noFill/>
          </a:ln>
          <a:effectLst>
            <a:softEdge rad="112500"/>
          </a:effectLst>
        </p:spPr>
      </p:pic>
      <p:sp>
        <p:nvSpPr>
          <p:cNvPr id="19" name="Rechteck 7">
            <a:extLst>
              <a:ext uri="{FF2B5EF4-FFF2-40B4-BE49-F238E27FC236}">
                <a16:creationId xmlns:a16="http://schemas.microsoft.com/office/drawing/2014/main" id="{A03518CC-F2F5-43FD-B500-09756F17B0C9}"/>
              </a:ext>
            </a:extLst>
          </p:cNvPr>
          <p:cNvSpPr/>
          <p:nvPr/>
        </p:nvSpPr>
        <p:spPr>
          <a:xfrm>
            <a:off x="68838"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0" name="Rechteck 8">
            <a:extLst>
              <a:ext uri="{FF2B5EF4-FFF2-40B4-BE49-F238E27FC236}">
                <a16:creationId xmlns:a16="http://schemas.microsoft.com/office/drawing/2014/main" id="{759040C9-6290-4B45-8AA3-638F21564E91}"/>
              </a:ext>
            </a:extLst>
          </p:cNvPr>
          <p:cNvSpPr/>
          <p:nvPr/>
        </p:nvSpPr>
        <p:spPr>
          <a:xfrm>
            <a:off x="2078280"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1" name="Rechteck 9">
            <a:extLst>
              <a:ext uri="{FF2B5EF4-FFF2-40B4-BE49-F238E27FC236}">
                <a16:creationId xmlns:a16="http://schemas.microsoft.com/office/drawing/2014/main" id="{2BFFCC05-FE30-4B53-A2CF-AAFEE6EECF97}"/>
              </a:ext>
            </a:extLst>
          </p:cNvPr>
          <p:cNvSpPr/>
          <p:nvPr/>
        </p:nvSpPr>
        <p:spPr>
          <a:xfrm>
            <a:off x="4097347" y="130220"/>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22" name="Rechteck 10">
            <a:extLst>
              <a:ext uri="{FF2B5EF4-FFF2-40B4-BE49-F238E27FC236}">
                <a16:creationId xmlns:a16="http://schemas.microsoft.com/office/drawing/2014/main" id="{3EF9B304-D2E0-47B4-95BA-01BA2BA1CE5E}"/>
              </a:ext>
            </a:extLst>
          </p:cNvPr>
          <p:cNvSpPr/>
          <p:nvPr/>
        </p:nvSpPr>
        <p:spPr>
          <a:xfrm>
            <a:off x="6116414"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23" name="Rechteck 11">
            <a:extLst>
              <a:ext uri="{FF2B5EF4-FFF2-40B4-BE49-F238E27FC236}">
                <a16:creationId xmlns:a16="http://schemas.microsoft.com/office/drawing/2014/main" id="{1A19C602-0E84-42AC-A2AB-D2D2824B8957}"/>
              </a:ext>
            </a:extLst>
          </p:cNvPr>
          <p:cNvSpPr/>
          <p:nvPr/>
        </p:nvSpPr>
        <p:spPr>
          <a:xfrm>
            <a:off x="8135481" y="129804"/>
            <a:ext cx="1943427" cy="124402"/>
          </a:xfrm>
          <a:prstGeom prst="rect">
            <a:avLst/>
          </a:prstGeom>
          <a:solidFill>
            <a:srgbClr val="C00000"/>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8" name="Rechteck 12">
            <a:extLst>
              <a:ext uri="{FF2B5EF4-FFF2-40B4-BE49-F238E27FC236}">
                <a16:creationId xmlns:a16="http://schemas.microsoft.com/office/drawing/2014/main" id="{08AA3243-235A-4C14-899C-7D80024C17A1}"/>
              </a:ext>
            </a:extLst>
          </p:cNvPr>
          <p:cNvSpPr/>
          <p:nvPr/>
        </p:nvSpPr>
        <p:spPr>
          <a:xfrm>
            <a:off x="2078279" y="129804"/>
            <a:ext cx="1943427" cy="124402"/>
          </a:xfrm>
          <a:prstGeom prst="rect">
            <a:avLst/>
          </a:prstGeom>
          <a:no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9" name="Textfeld 13">
            <a:extLst>
              <a:ext uri="{FF2B5EF4-FFF2-40B4-BE49-F238E27FC236}">
                <a16:creationId xmlns:a16="http://schemas.microsoft.com/office/drawing/2014/main" id="{7F4AC90A-C7E3-4C16-A868-3F698E97BEF3}"/>
              </a:ext>
            </a:extLst>
          </p:cNvPr>
          <p:cNvSpPr txBox="1"/>
          <p:nvPr/>
        </p:nvSpPr>
        <p:spPr>
          <a:xfrm>
            <a:off x="10762134" y="450374"/>
            <a:ext cx="728254" cy="369332"/>
          </a:xfrm>
          <a:prstGeom prst="rect">
            <a:avLst/>
          </a:prstGeom>
          <a:noFill/>
        </p:spPr>
        <p:txBody>
          <a:bodyPr wrap="square" rtlCol="0">
            <a:spAutoFit/>
          </a:bodyPr>
          <a:lstStyle/>
          <a:p>
            <a:r>
              <a:rPr lang="de-DE" b="1">
                <a:ln w="13462">
                  <a:solidFill>
                    <a:schemeClr val="bg1"/>
                  </a:solidFill>
                  <a:prstDash val="solid"/>
                </a:ln>
                <a:solidFill>
                  <a:schemeClr val="tx1">
                    <a:lumMod val="85000"/>
                    <a:lumOff val="15000"/>
                  </a:schemeClr>
                </a:solidFill>
                <a:effectLst>
                  <a:outerShdw dist="38100" dir="2700000" algn="bl" rotWithShape="0">
                    <a:schemeClr val="accent5"/>
                  </a:outerShdw>
                </a:effectLst>
              </a:rPr>
              <a:t>Fazit</a:t>
            </a:r>
            <a:endParaRPr lang="de-DE" sz="1600"/>
          </a:p>
        </p:txBody>
      </p:sp>
      <p:sp>
        <p:nvSpPr>
          <p:cNvPr id="40" name="Textfeld 14">
            <a:extLst>
              <a:ext uri="{FF2B5EF4-FFF2-40B4-BE49-F238E27FC236}">
                <a16:creationId xmlns:a16="http://schemas.microsoft.com/office/drawing/2014/main" id="{BA38A614-EBA3-43AE-BEA5-DB1D46FEC641}"/>
              </a:ext>
            </a:extLst>
          </p:cNvPr>
          <p:cNvSpPr txBox="1"/>
          <p:nvPr/>
        </p:nvSpPr>
        <p:spPr>
          <a:xfrm>
            <a:off x="283135" y="307222"/>
            <a:ext cx="1490433" cy="369332"/>
          </a:xfrm>
          <a:prstGeom prst="rect">
            <a:avLst/>
          </a:prstGeom>
          <a:noFill/>
        </p:spPr>
        <p:txBody>
          <a:bodyPr wrap="square" rtlCol="0">
            <a:spAutoFit/>
          </a:bodyPr>
          <a:lstStyle/>
          <a:p>
            <a:r>
              <a:rPr lang="de-DE"/>
              <a:t>Vorstellung</a:t>
            </a:r>
          </a:p>
        </p:txBody>
      </p:sp>
      <p:sp>
        <p:nvSpPr>
          <p:cNvPr id="41" name="Textfeld 15">
            <a:extLst>
              <a:ext uri="{FF2B5EF4-FFF2-40B4-BE49-F238E27FC236}">
                <a16:creationId xmlns:a16="http://schemas.microsoft.com/office/drawing/2014/main" id="{B6334250-D1D6-483F-A19D-18B6A5172718}"/>
              </a:ext>
            </a:extLst>
          </p:cNvPr>
          <p:cNvSpPr txBox="1"/>
          <p:nvPr/>
        </p:nvSpPr>
        <p:spPr>
          <a:xfrm>
            <a:off x="4297423" y="307222"/>
            <a:ext cx="1490433" cy="369332"/>
          </a:xfrm>
          <a:prstGeom prst="rect">
            <a:avLst/>
          </a:prstGeom>
          <a:noFill/>
        </p:spPr>
        <p:txBody>
          <a:bodyPr wrap="square" rtlCol="0">
            <a:spAutoFit/>
          </a:bodyPr>
          <a:lstStyle/>
          <a:p>
            <a:r>
              <a:rPr lang="de-DE"/>
              <a:t>Analysephase</a:t>
            </a:r>
          </a:p>
        </p:txBody>
      </p:sp>
      <p:sp>
        <p:nvSpPr>
          <p:cNvPr id="42" name="Rechteck 16">
            <a:extLst>
              <a:ext uri="{FF2B5EF4-FFF2-40B4-BE49-F238E27FC236}">
                <a16:creationId xmlns:a16="http://schemas.microsoft.com/office/drawing/2014/main" id="{EC7DD3F2-A0AF-4BA2-A695-3035E0B0F541}"/>
              </a:ext>
            </a:extLst>
          </p:cNvPr>
          <p:cNvSpPr/>
          <p:nvPr/>
        </p:nvSpPr>
        <p:spPr>
          <a:xfrm>
            <a:off x="10154548" y="245021"/>
            <a:ext cx="1943427" cy="124402"/>
          </a:xfrm>
          <a:prstGeom prst="rect">
            <a:avLst/>
          </a:prstGeom>
          <a:gradFill>
            <a:gsLst>
              <a:gs pos="46000">
                <a:schemeClr val="accent1">
                  <a:lumMod val="12000"/>
                  <a:lumOff val="88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hade val="50000"/>
                <a:alpha val="0"/>
              </a:schemeClr>
            </a:solidFill>
          </a:ln>
          <a:effectLst>
            <a:glow rad="88900">
              <a:schemeClr val="accent1">
                <a:lumMod val="20000"/>
                <a:lumOff val="80000"/>
                <a:alpha val="99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8" name="Textfeld 17">
            <a:extLst>
              <a:ext uri="{FF2B5EF4-FFF2-40B4-BE49-F238E27FC236}">
                <a16:creationId xmlns:a16="http://schemas.microsoft.com/office/drawing/2014/main" id="{0E3CF603-E53A-47B5-975D-417BC75ED9E2}"/>
              </a:ext>
            </a:extLst>
          </p:cNvPr>
          <p:cNvSpPr txBox="1"/>
          <p:nvPr/>
        </p:nvSpPr>
        <p:spPr>
          <a:xfrm>
            <a:off x="2235510" y="307222"/>
            <a:ext cx="1762801" cy="369332"/>
          </a:xfrm>
          <a:prstGeom prst="rect">
            <a:avLst/>
          </a:prstGeom>
          <a:noFill/>
        </p:spPr>
        <p:txBody>
          <a:bodyPr wrap="square" rtlCol="0">
            <a:spAutoFit/>
          </a:bodyPr>
          <a:lstStyle/>
          <a:p>
            <a:r>
              <a:rPr lang="de-DE"/>
              <a:t>Projekt-Planung</a:t>
            </a:r>
            <a:endParaRPr lang="de-DE" sz="2000"/>
          </a:p>
        </p:txBody>
      </p:sp>
      <p:sp>
        <p:nvSpPr>
          <p:cNvPr id="24" name="Textfeld 23">
            <a:extLst>
              <a:ext uri="{FF2B5EF4-FFF2-40B4-BE49-F238E27FC236}">
                <a16:creationId xmlns:a16="http://schemas.microsoft.com/office/drawing/2014/main" id="{9EB3F70F-6587-48A3-932D-4DCF37DBA78B}"/>
              </a:ext>
            </a:extLst>
          </p:cNvPr>
          <p:cNvSpPr txBox="1"/>
          <p:nvPr/>
        </p:nvSpPr>
        <p:spPr>
          <a:xfrm>
            <a:off x="8155565" y="302621"/>
            <a:ext cx="2208670" cy="646331"/>
          </a:xfrm>
          <a:prstGeom prst="rect">
            <a:avLst/>
          </a:prstGeom>
          <a:noFill/>
        </p:spPr>
        <p:txBody>
          <a:bodyPr wrap="square" rtlCol="0">
            <a:spAutoFit/>
          </a:bodyPr>
          <a:lstStyle/>
          <a:p>
            <a:r>
              <a:rPr lang="de-DE"/>
              <a:t>Implementierungs-</a:t>
            </a:r>
          </a:p>
          <a:p>
            <a:r>
              <a:rPr lang="de-DE"/>
              <a:t>phase</a:t>
            </a:r>
            <a:endParaRPr lang="de-DE" sz="1600"/>
          </a:p>
        </p:txBody>
      </p:sp>
      <p:sp>
        <p:nvSpPr>
          <p:cNvPr id="25" name="Textfeld 13">
            <a:extLst>
              <a:ext uri="{FF2B5EF4-FFF2-40B4-BE49-F238E27FC236}">
                <a16:creationId xmlns:a16="http://schemas.microsoft.com/office/drawing/2014/main" id="{AF9F35AF-0B5B-46C9-8E2F-374CD123FC4A}"/>
              </a:ext>
            </a:extLst>
          </p:cNvPr>
          <p:cNvSpPr txBox="1"/>
          <p:nvPr/>
        </p:nvSpPr>
        <p:spPr>
          <a:xfrm>
            <a:off x="6222903" y="313448"/>
            <a:ext cx="1625829" cy="369332"/>
          </a:xfrm>
          <a:prstGeom prst="rect">
            <a:avLst/>
          </a:prstGeom>
          <a:noFill/>
        </p:spPr>
        <p:txBody>
          <a:bodyPr wrap="square" rtlCol="0">
            <a:spAutoFit/>
          </a:bodyPr>
          <a:lstStyle/>
          <a:p>
            <a:r>
              <a:rPr lang="de-DE"/>
              <a:t>Entwurf</a:t>
            </a:r>
            <a:r>
              <a:rPr lang="en-DE"/>
              <a:t>s</a:t>
            </a:r>
            <a:r>
              <a:rPr lang="de-DE"/>
              <a:t>phase</a:t>
            </a:r>
          </a:p>
        </p:txBody>
      </p:sp>
    </p:spTree>
    <p:extLst>
      <p:ext uri="{BB962C8B-B14F-4D97-AF65-F5344CB8AC3E}">
        <p14:creationId xmlns:p14="http://schemas.microsoft.com/office/powerpoint/2010/main" val="2907576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1606</Words>
  <Application>Microsoft Office PowerPoint</Application>
  <PresentationFormat>Widescreen</PresentationFormat>
  <Paragraphs>298</Paragraphs>
  <Slides>22</Slides>
  <Notes>21</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22</vt:i4>
      </vt:variant>
    </vt:vector>
  </HeadingPairs>
  <TitlesOfParts>
    <vt:vector size="38" baseType="lpstr">
      <vt:lpstr>18thCentury</vt:lpstr>
      <vt:lpstr>Arial</vt:lpstr>
      <vt:lpstr>Arial Nova Cond</vt:lpstr>
      <vt:lpstr>Bahnschrift SemiCondensed</vt:lpstr>
      <vt:lpstr>Calibri</vt:lpstr>
      <vt:lpstr>Calibri Light</vt:lpstr>
      <vt:lpstr>Engravers MT</vt:lpstr>
      <vt:lpstr>Franklin Gothic Demi Cond</vt:lpstr>
      <vt:lpstr>Garamond</vt:lpstr>
      <vt:lpstr>Georgia</vt:lpstr>
      <vt:lpstr>JetBrains Mono</vt:lpstr>
      <vt:lpstr>Roboto</vt:lpstr>
      <vt:lpstr>ui-monospace</vt:lpstr>
      <vt:lpstr>ui-sans-serif</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Umfang(scop)</vt:lpstr>
      <vt:lpstr>PowerPoint Presentation</vt:lpstr>
      <vt:lpstr>Ist-Zustand</vt:lpstr>
      <vt:lpstr>PowerPoint Presentation</vt:lpstr>
      <vt:lpstr>PowerPoint Presentation</vt:lpstr>
      <vt:lpstr>API-Entwicklung in Python mit Flask  Swagger-restx und JWT für sicheren Datenaustausch via Odoo’s XML-RPC</vt:lpstr>
      <vt:lpstr>PowerPoint Presentation</vt:lpstr>
      <vt:lpstr>Projektkosten/Kalkulation</vt:lpstr>
      <vt:lpstr>PowerPoint Presentation</vt:lpstr>
      <vt:lpstr>PowerPoint Presentation</vt:lpstr>
      <vt:lpstr>PowerPoint Presentation</vt:lpstr>
      <vt:lpstr>PowerPoint Presentation</vt:lpstr>
      <vt:lpstr>PowerPoint Presentation</vt:lpstr>
      <vt:lpstr>Gewichtung</vt:lpstr>
      <vt:lpstr>Qualitätssicherung</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API-Entwicklung in Python mit Flask Swagger-restx und JWT fur sicheren Datenaustausch via Odoo’s XML-RPC</dc:title>
  <dc:creator>Feraidon Mohammadi</dc:creator>
  <cp:lastModifiedBy>feraidoun Mohammadi</cp:lastModifiedBy>
  <cp:revision>347</cp:revision>
  <cp:lastPrinted>2024-05-27T07:55:58Z</cp:lastPrinted>
  <dcterms:created xsi:type="dcterms:W3CDTF">2024-05-02T08:04:57Z</dcterms:created>
  <dcterms:modified xsi:type="dcterms:W3CDTF">2024-06-27T17:54:22Z</dcterms:modified>
</cp:coreProperties>
</file>